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3"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555"/>
    <p:restoredTop sz="71301"/>
  </p:normalViewPr>
  <p:slideViewPr>
    <p:cSldViewPr snapToGrid="0" snapToObjects="1">
      <p:cViewPr varScale="1">
        <p:scale>
          <a:sx n="84" d="100"/>
          <a:sy n="84" d="100"/>
        </p:scale>
        <p:origin x="1320" y="184"/>
      </p:cViewPr>
      <p:guideLst/>
    </p:cSldViewPr>
  </p:slideViewPr>
  <p:notesTextViewPr>
    <p:cViewPr>
      <p:scale>
        <a:sx n="1" d="1"/>
        <a:sy n="1" d="1"/>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414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NSF Award Search: https://www.nsf.gov/awardsearch/show-award/?AWD_ID=2519466</a:t>
            </a:r>
          </a:p>
          <a:p>
            <a:endParaRPr lang="en-US" dirty="0"/>
          </a:p>
          <a:p>
            <a:r>
              <a:rPr lang="en-US" b="1" dirty="0"/>
              <a:t>Slide 1 — </a:t>
            </a:r>
            <a:r>
              <a:rPr lang="en-US" b="1" i="1" dirty="0"/>
              <a:t>Foundations of TEM Data Management &amp; Analysis</a:t>
            </a:r>
            <a:endParaRPr lang="en-US" b="1" dirty="0"/>
          </a:p>
          <a:p>
            <a:r>
              <a:rPr lang="en-US" dirty="0"/>
              <a:t>Welcome—this is a short context talk to explain </a:t>
            </a:r>
            <a:r>
              <a:rPr lang="en-US" i="1" dirty="0"/>
              <a:t>why</a:t>
            </a:r>
            <a:r>
              <a:rPr lang="en-US" dirty="0"/>
              <a:t> this workshop exists. TEM today is as much about the data as the instrument: the files are large and varied, and analysis choices can change the scientific claim. The goal is to give you low-barrier, practical habits—workflow, minimal metadata, and transparent steps—so your results are easier to trust, reuse, and share.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 </a:t>
            </a:r>
            <a:r>
              <a:rPr lang="en-US" b="1" i="1" dirty="0"/>
              <a:t>Why this workshop exists: from instrument to insight</a:t>
            </a:r>
            <a:endParaRPr lang="en-US" b="1" dirty="0"/>
          </a:p>
          <a:p>
            <a:r>
              <a:rPr lang="en-US" dirty="0"/>
              <a:t>TEM isn’t “just imaging” anymore: you generate many files, make processing choices, and then need to store and publish responsibly. The workshop is organized around three ideas: </a:t>
            </a:r>
            <a:r>
              <a:rPr lang="en-US" b="1" dirty="0"/>
              <a:t>collect well</a:t>
            </a:r>
            <a:r>
              <a:rPr lang="en-US" dirty="0"/>
              <a:t> (good files + basic metadata), </a:t>
            </a:r>
            <a:r>
              <a:rPr lang="en-US" b="1" dirty="0"/>
              <a:t>analyze transparently</a:t>
            </a:r>
            <a:r>
              <a:rPr lang="en-US" dirty="0"/>
              <a:t> (repeatable steps + saved parameters), and </a:t>
            </a:r>
            <a:r>
              <a:rPr lang="en-US" b="1" dirty="0"/>
              <a:t>share responsibly</a:t>
            </a:r>
            <a:r>
              <a:rPr lang="en-US" dirty="0"/>
              <a:t> (reusable data + code + provenance). If you keep those three in mind, you’ll be able to scale from beginner tasks to real research workflows.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 </a:t>
            </a:r>
            <a:r>
              <a:rPr lang="en-US" b="1" i="1" dirty="0"/>
              <a:t>Open science in one minute</a:t>
            </a:r>
            <a:endParaRPr lang="en-US" b="1" dirty="0"/>
          </a:p>
          <a:p>
            <a:r>
              <a:rPr lang="en-US" dirty="0"/>
              <a:t>Open science here means four things in plain language: people can read the paper, find and reuse the data, see the code/steps used to produce results, and understand the methods well enough to repeat them. The shortcut concept underneath is FAIR: make research outputs </a:t>
            </a:r>
            <a:r>
              <a:rPr lang="en-US" b="1" dirty="0"/>
              <a:t>Findable, Accessible, Interoperable, and Reusable</a:t>
            </a:r>
            <a:r>
              <a:rPr lang="en-US" dirty="0"/>
              <a:t>—not perfect, just meaningfully reusable.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4 — </a:t>
            </a:r>
            <a:r>
              <a:rPr lang="en-US" b="1" i="1" dirty="0"/>
              <a:t>From individual files to a data ecosystem: why this matters now</a:t>
            </a:r>
            <a:endParaRPr lang="en-US" b="1" dirty="0"/>
          </a:p>
          <a:p>
            <a:r>
              <a:rPr lang="en-US" dirty="0"/>
              <a:t>Your work doesn’t live in isolation—labs, repositories, standards, and tools form an ecosystem that determines whether data can actually be discovered and reused. The “national data ecosystem” framing is basically: without coordinated infrastructure and shared practices, valuable research data stays fragmented and hard to connect. This workshop is a small, practical step toward making TEM data behave like a reusable scientific asset.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5 — </a:t>
            </a:r>
            <a:r>
              <a:rPr lang="en-US" b="1" i="1" dirty="0"/>
              <a:t>Why should you care? Three big wins</a:t>
            </a:r>
            <a:endParaRPr lang="en-US" b="1" dirty="0"/>
          </a:p>
          <a:p>
            <a:r>
              <a:rPr lang="en-US" dirty="0"/>
              <a:t>You get three concrete benefits. First, </a:t>
            </a:r>
            <a:r>
              <a:rPr lang="en-US" b="1" dirty="0"/>
              <a:t>replicability and trust</a:t>
            </a:r>
            <a:r>
              <a:rPr lang="en-US" dirty="0"/>
              <a:t>: you—or someone else—can re-run the path from raw data to figure. Second, </a:t>
            </a:r>
            <a:r>
              <a:rPr lang="en-US" b="1" dirty="0"/>
              <a:t>reuse</a:t>
            </a:r>
            <a:r>
              <a:rPr lang="en-US" dirty="0"/>
              <a:t>: good names, metadata, and saved steps turn one-off experiments into reusable building blocks. Third, </a:t>
            </a:r>
            <a:r>
              <a:rPr lang="en-US" b="1" dirty="0"/>
              <a:t>scale</a:t>
            </a:r>
            <a:r>
              <a:rPr lang="en-US" dirty="0"/>
              <a:t>: well-structured data is what lets teams collaborate and lets automation/AI work reliably.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6 — </a:t>
            </a:r>
            <a:r>
              <a:rPr lang="en-US" b="1" i="1" dirty="0"/>
              <a:t>Why TEM data needs context</a:t>
            </a:r>
            <a:endParaRPr lang="en-US" b="1" dirty="0"/>
          </a:p>
          <a:p>
            <a:r>
              <a:rPr lang="en-US" dirty="0"/>
              <a:t>An image alone is often not enough to interpret later—TEM data needs context: what sample it is, why you collected it, mode (TEM/STEM/HAADF/EDS), instrument settings and calibration, acquisition date, and what processing was applied. The key point is that </a:t>
            </a:r>
            <a:r>
              <a:rPr lang="en-US" i="1" dirty="0"/>
              <a:t>data without context becomes hard to trust or reuse</a:t>
            </a:r>
            <a:r>
              <a:rPr lang="en-US" dirty="0"/>
              <a:t>. A small amount of captured context can prevent “orphan 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7 — </a:t>
            </a:r>
            <a:r>
              <a:rPr lang="en-US" b="1" i="1" dirty="0"/>
              <a:t>Think in workflows, not “one and done”</a:t>
            </a:r>
            <a:endParaRPr lang="en-US" b="1" dirty="0"/>
          </a:p>
          <a:p>
            <a:r>
              <a:rPr lang="en-US" dirty="0"/>
              <a:t>A workflow is just a repeatable path from instrument to result. If you can name the steps, save parameters, and keep files linked, you’re already doing reproducible science—even before you feel “good at coding.” Today’s workshop is built around learning that repeatable path so you can apply it to your own projects.</a:t>
            </a:r>
          </a:p>
          <a:p>
            <a:endParaRPr lang="en-US" dirty="0"/>
          </a:p>
          <a:p>
            <a:r>
              <a:rPr lang="en-US" dirty="0"/>
              <a:t>The “data trail” idea is: keep a link between sample → experiment → settings → files → processing steps,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8 — </a:t>
            </a:r>
            <a:r>
              <a:rPr lang="en-US" b="1" i="1" dirty="0"/>
              <a:t>Open code: own your analysis</a:t>
            </a:r>
            <a:endParaRPr lang="en-US" b="1" dirty="0"/>
          </a:p>
          <a:p>
            <a:r>
              <a:rPr lang="en-US" dirty="0"/>
              <a:t>Even a simple notebook helps because it automatically records what file you opened, what parameter you changed, what outputs you saved, and what someone else would need to repeat it. You can think of “open code” as transparent lab notes you can rerun. The objective isn’t to turn everyone into a software engineer—it’s to keep your analysis legible and repeatable.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9 — </a:t>
            </a:r>
            <a:r>
              <a:rPr lang="en-US" b="1" i="1" dirty="0"/>
              <a:t>What is metadata? plain-language version</a:t>
            </a:r>
            <a:endParaRPr lang="en-US" b="1" dirty="0"/>
          </a:p>
          <a:p>
            <a:r>
              <a:rPr lang="en-US" dirty="0"/>
              <a:t>Metadata is the information that makes a file understandable: what sample it is, how the data was acquired, what the units/scale are, what processing already happened, and what terms/identifiers you used. In microscopy, the same data type—image, stack, spectrum—can mean different things depending on settings and calibration. Metadata is what prevents ambiguity.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10 — </a:t>
            </a:r>
            <a:r>
              <a:rPr lang="en-US" b="1" i="1" dirty="0"/>
              <a:t>Minimum viable metadata for TEM</a:t>
            </a:r>
            <a:endParaRPr lang="en-US" b="1" dirty="0"/>
          </a:p>
          <a:p>
            <a:r>
              <a:rPr lang="en-US" dirty="0"/>
              <a:t>Start small, be consistent. You don’t need every possible field on day one, but you do need enough for another person to understand the file: sample ID, technique, voltage, magnification/pixel size, detector, acquisition date, and a brief note if needed. A short template beats no template, and it supports everything that comes after—analysis, collaboration, and eventual sharing.</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11 — </a:t>
            </a:r>
            <a:r>
              <a:rPr lang="en-US" b="1" i="1" dirty="0"/>
              <a:t>Standard terms and “data trails”</a:t>
            </a:r>
            <a:endParaRPr lang="en-US" b="1" dirty="0"/>
          </a:p>
          <a:p>
            <a:r>
              <a:rPr lang="en-US" dirty="0"/>
              <a:t>Messy labels are a silent productivity killer—“bf1_final_reallyfinal” is funny until you’re trying to compare datasets across months or across people. Standard terms—plus units—make data searchable and comparable.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12 — </a:t>
            </a:r>
            <a:r>
              <a:rPr lang="en-US" b="1" i="1" dirty="0"/>
              <a:t>Where do data and code go? a simple repository map</a:t>
            </a:r>
            <a:endParaRPr lang="en-US" b="1" dirty="0"/>
          </a:p>
          <a:p>
            <a:r>
              <a:rPr lang="en-US" dirty="0"/>
              <a:t>Think in layers: working storage (active project), group/institutional storage (shared, backed-up access), and publication repositories (DOI + citation + long-term sharing). A strong habit is to publish </a:t>
            </a:r>
            <a:r>
              <a:rPr lang="en-US" b="1" dirty="0"/>
              <a:t>data and analysis code together</a:t>
            </a:r>
            <a:r>
              <a:rPr lang="en-US" dirty="0"/>
              <a:t> when possible, because it’s the combination that enables others to verify and reuse the result.</a:t>
            </a:r>
          </a:p>
          <a:p>
            <a:endParaRPr lang="en-US" dirty="0"/>
          </a:p>
          <a:p>
            <a:r>
              <a:rPr lang="en-US" dirty="0"/>
              <a:t>Digital Object Identifier—a global, unique, persistent identifier— unlike a </a:t>
            </a:r>
            <a:r>
              <a:rPr lang="en-US" dirty="0" err="1"/>
              <a:t>url</a:t>
            </a:r>
            <a:r>
              <a:rPr lang="en-US" dirty="0"/>
              <a:t> that can break, DOIs should resolve for ever to the data set that they identify.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13 — </a:t>
            </a:r>
            <a:r>
              <a:rPr lang="en-US" b="1" i="1" dirty="0"/>
              <a:t>Example repository: EMPIAR</a:t>
            </a:r>
            <a:endParaRPr lang="en-US" b="1" dirty="0"/>
          </a:p>
          <a:p>
            <a:r>
              <a:rPr lang="en-US" dirty="0"/>
              <a:t>EMPIAR is a concrete example of what “sharing” looks like for electron microscopy: it’s not just dumping files—it’s metadata + upload + publication so datasets become discoverable and citable. The lesson isn’t that everyone must deposit everything; it’s that repositories define expectations for reuse: clarity, context, and a stable landing place for the data.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Slide 14 — </a:t>
            </a:r>
            <a:r>
              <a:rPr lang="en-US" b="1" i="1" dirty="0"/>
              <a:t>Materials data in the bigger picture</a:t>
            </a:r>
            <a:endParaRPr lang="en-US" b="1" dirty="0"/>
          </a:p>
          <a:p>
            <a:r>
              <a:rPr lang="en-US" dirty="0"/>
              <a:t>The Materials Data Facility is an example of a broader materials-data infrastructure where datasets connect to code, publications, and schemas. The “bring it home for TEM” message is that microscopy benefits from the same ecosystem logic: repositories, standards, metadata, and tools reinforce one another. We all gain from learning practices that plug into that ecosystem.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15 — </a:t>
            </a:r>
            <a:r>
              <a:rPr lang="en-US" b="1" i="1" dirty="0"/>
              <a:t>What you should leave with today</a:t>
            </a:r>
            <a:endParaRPr lang="en-US" b="1" dirty="0"/>
          </a:p>
          <a:p>
            <a:r>
              <a:rPr lang="en-US" dirty="0"/>
              <a:t>You should leave with four takeaways: a practical TEM workflow you can repeat, a minimum metadata template, beginner-friendly notebooks you can run and modify, and a clearer path to sharing data and code responsibly. The punchline is that good workflows and well-managed data reduce cognitive load—so you spend less time reconstructing what happened and more time doing science.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hyperlink" Target="https://nvlpubs.nist.gov/nistpubs/SpecialPublications/NIST.SP.1500-18r1.pdf" TargetMode="External"/><Relationship Id="rId4" Type="http://schemas.openxmlformats.org/officeDocument/2006/relationships/hyperlink" Target="https://doi.org/10.6028/NIST.SP.1500-18r1"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bipm.org/en/measurement-unit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A6B"/>
        </a:solidFill>
        <a:effectLst/>
      </p:bgPr>
    </p:bg>
    <p:spTree>
      <p:nvGrpSpPr>
        <p:cNvPr id="1" name=""/>
        <p:cNvGrpSpPr/>
        <p:nvPr/>
      </p:nvGrpSpPr>
      <p:grpSpPr>
        <a:xfrm>
          <a:off x="0" y="0"/>
          <a:ext cx="0" cy="0"/>
          <a:chOff x="0" y="0"/>
          <a:chExt cx="0" cy="0"/>
        </a:xfrm>
      </p:grpSpPr>
      <p:sp>
        <p:nvSpPr>
          <p:cNvPr id="2" name="Shape 0"/>
          <p:cNvSpPr/>
          <p:nvPr/>
        </p:nvSpPr>
        <p:spPr>
          <a:xfrm>
            <a:off x="0" y="5120640"/>
            <a:ext cx="5852160" cy="1371600"/>
          </a:xfrm>
          <a:prstGeom prst="arc">
            <a:avLst/>
          </a:prstGeom>
          <a:solidFill>
            <a:srgbClr val="4B76B2">
              <a:alpha val="75000"/>
            </a:srgbClr>
          </a:solidFill>
          <a:ln w="12700">
            <a:solidFill>
              <a:srgbClr val="5B88BD"/>
            </a:solidFill>
            <a:prstDash val="solid"/>
          </a:ln>
        </p:spPr>
        <p:txBody>
          <a:bodyPr/>
          <a:lstStyle/>
          <a:p>
            <a:endParaRPr lang="en-US"/>
          </a:p>
        </p:txBody>
      </p:sp>
      <p:sp>
        <p:nvSpPr>
          <p:cNvPr id="3" name="Shape 1"/>
          <p:cNvSpPr/>
          <p:nvPr/>
        </p:nvSpPr>
        <p:spPr>
          <a:xfrm>
            <a:off x="5577840" y="5166360"/>
            <a:ext cx="6583680" cy="1325880"/>
          </a:xfrm>
          <a:prstGeom prst="arc">
            <a:avLst/>
          </a:prstGeom>
          <a:solidFill>
            <a:srgbClr val="91B2D6">
              <a:alpha val="58000"/>
            </a:srgbClr>
          </a:solidFill>
          <a:ln w="12700">
            <a:solidFill>
              <a:srgbClr val="7EA1CA"/>
            </a:solidFill>
            <a:prstDash val="solid"/>
          </a:ln>
        </p:spPr>
        <p:txBody>
          <a:bodyPr/>
          <a:lstStyle/>
          <a:p>
            <a:endParaRPr lang="en-US"/>
          </a:p>
        </p:txBody>
      </p:sp>
      <p:sp>
        <p:nvSpPr>
          <p:cNvPr id="4" name="Text 2"/>
          <p:cNvSpPr/>
          <p:nvPr/>
        </p:nvSpPr>
        <p:spPr>
          <a:xfrm>
            <a:off x="777240" y="1005840"/>
            <a:ext cx="6858000" cy="1051560"/>
          </a:xfrm>
          <a:prstGeom prst="rect">
            <a:avLst/>
          </a:prstGeom>
          <a:noFill/>
          <a:ln/>
        </p:spPr>
        <p:txBody>
          <a:bodyPr wrap="square"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Foundations of TEM Data Management &amp; Analysis</a:t>
            </a:r>
            <a:endParaRPr lang="en-US" sz="2800" dirty="0"/>
          </a:p>
        </p:txBody>
      </p:sp>
      <p:sp>
        <p:nvSpPr>
          <p:cNvPr id="5" name="Text 3"/>
          <p:cNvSpPr/>
          <p:nvPr/>
        </p:nvSpPr>
        <p:spPr>
          <a:xfrm>
            <a:off x="822960" y="2240280"/>
            <a:ext cx="6217920" cy="320040"/>
          </a:xfrm>
          <a:prstGeom prst="rect">
            <a:avLst/>
          </a:prstGeom>
          <a:noFill/>
          <a:ln/>
        </p:spPr>
        <p:txBody>
          <a:bodyPr wrap="square" rtlCol="0" anchor="ctr"/>
          <a:lstStyle/>
          <a:p>
            <a:pPr marL="0" indent="0">
              <a:buNone/>
            </a:pPr>
            <a:r>
              <a:rPr lang="en-US" sz="1800" dirty="0">
                <a:solidFill>
                  <a:srgbClr val="D7E7FA"/>
                </a:solidFill>
              </a:rPr>
              <a:t>Why open science and reproducible workflows matter</a:t>
            </a:r>
            <a:endParaRPr lang="en-US" sz="1800" dirty="0"/>
          </a:p>
        </p:txBody>
      </p:sp>
      <p:sp>
        <p:nvSpPr>
          <p:cNvPr id="6" name="Text 4"/>
          <p:cNvSpPr/>
          <p:nvPr/>
        </p:nvSpPr>
        <p:spPr>
          <a:xfrm>
            <a:off x="671549" y="5937781"/>
            <a:ext cx="5059780" cy="536171"/>
          </a:xfrm>
          <a:prstGeom prst="rect">
            <a:avLst/>
          </a:prstGeom>
          <a:noFill/>
          <a:ln/>
        </p:spPr>
        <p:txBody>
          <a:bodyPr wrap="square" rtlCol="0" anchor="ctr"/>
          <a:lstStyle/>
          <a:p>
            <a:pPr marL="0" indent="0">
              <a:buNone/>
            </a:pPr>
            <a:r>
              <a:rPr lang="en-US" sz="1200" dirty="0">
                <a:solidFill>
                  <a:srgbClr val="D7E7FA"/>
                </a:solidFill>
              </a:rPr>
              <a:t>CITEAM Workshop  |  May 20, 2026</a:t>
            </a:r>
            <a:endParaRPr lang="en-US" sz="1200" dirty="0"/>
          </a:p>
          <a:p>
            <a:pPr marL="0" indent="0">
              <a:buNone/>
            </a:pPr>
            <a:r>
              <a:rPr lang="en-US" sz="1200" dirty="0">
                <a:solidFill>
                  <a:srgbClr val="D7E7FA"/>
                </a:solidFill>
              </a:rPr>
              <a:t>University of Maryland  |  NSF Award #2519465, 2519466, and 2519467.</a:t>
            </a:r>
            <a:endParaRPr lang="en-US" sz="1200" dirty="0"/>
          </a:p>
        </p:txBody>
      </p:sp>
      <p:sp>
        <p:nvSpPr>
          <p:cNvPr id="7" name="Shape 5"/>
          <p:cNvSpPr/>
          <p:nvPr/>
        </p:nvSpPr>
        <p:spPr>
          <a:xfrm>
            <a:off x="8641080" y="960120"/>
            <a:ext cx="2011680" cy="2011680"/>
          </a:xfrm>
          <a:prstGeom prst="ellipse">
            <a:avLst/>
          </a:prstGeom>
          <a:solidFill>
            <a:srgbClr val="244F84"/>
          </a:solidFill>
          <a:ln w="12700">
            <a:solidFill>
              <a:srgbClr val="244F84"/>
            </a:solidFill>
            <a:prstDash val="solid"/>
          </a:ln>
        </p:spPr>
        <p:txBody>
          <a:bodyPr/>
          <a:lstStyle/>
          <a:p>
            <a:endParaRPr lang="en-US"/>
          </a:p>
        </p:txBody>
      </p:sp>
      <p:sp>
        <p:nvSpPr>
          <p:cNvPr id="8" name="Shape 6"/>
          <p:cNvSpPr/>
          <p:nvPr/>
        </p:nvSpPr>
        <p:spPr>
          <a:xfrm>
            <a:off x="8961120" y="1280160"/>
            <a:ext cx="1371600" cy="1371600"/>
          </a:xfrm>
          <a:prstGeom prst="ellipse">
            <a:avLst/>
          </a:prstGeom>
          <a:solidFill>
            <a:srgbClr val="355F95"/>
          </a:solidFill>
          <a:ln w="12700">
            <a:solidFill>
              <a:srgbClr val="355F95"/>
            </a:solidFill>
            <a:prstDash val="solid"/>
          </a:ln>
        </p:spPr>
        <p:txBody>
          <a:bodyPr/>
          <a:lstStyle/>
          <a:p>
            <a:endParaRPr lang="en-US"/>
          </a:p>
        </p:txBody>
      </p:sp>
      <p:sp>
        <p:nvSpPr>
          <p:cNvPr id="9" name="Shape 7"/>
          <p:cNvSpPr/>
          <p:nvPr/>
        </p:nvSpPr>
        <p:spPr>
          <a:xfrm>
            <a:off x="9400032" y="1719072"/>
            <a:ext cx="530352" cy="530352"/>
          </a:xfrm>
          <a:prstGeom prst="ellipse">
            <a:avLst/>
          </a:prstGeom>
          <a:solidFill>
            <a:srgbClr val="DDE8F5"/>
          </a:solidFill>
          <a:ln w="12700">
            <a:solidFill>
              <a:srgbClr val="DDE8F5"/>
            </a:solidFill>
            <a:prstDash val="solid"/>
          </a:ln>
        </p:spPr>
        <p:txBody>
          <a:bodyPr/>
          <a:lstStyle/>
          <a:p>
            <a:endParaRPr lang="en-US"/>
          </a:p>
        </p:txBody>
      </p:sp>
      <p:sp>
        <p:nvSpPr>
          <p:cNvPr id="10" name="Shape 8"/>
          <p:cNvSpPr/>
          <p:nvPr/>
        </p:nvSpPr>
        <p:spPr>
          <a:xfrm>
            <a:off x="9674352" y="2240280"/>
            <a:ext cx="0" cy="1463040"/>
          </a:xfrm>
          <a:prstGeom prst="line">
            <a:avLst/>
          </a:prstGeom>
          <a:noFill/>
          <a:ln w="12700">
            <a:solidFill>
              <a:srgbClr val="DDE8F5"/>
            </a:solidFill>
            <a:prstDash val="solid"/>
          </a:ln>
        </p:spPr>
        <p:txBody>
          <a:bodyPr/>
          <a:lstStyle/>
          <a:p>
            <a:endParaRPr lang="en-US"/>
          </a:p>
        </p:txBody>
      </p:sp>
      <p:sp>
        <p:nvSpPr>
          <p:cNvPr id="11" name="Shape 9"/>
          <p:cNvSpPr/>
          <p:nvPr/>
        </p:nvSpPr>
        <p:spPr>
          <a:xfrm>
            <a:off x="9326880" y="2743200"/>
            <a:ext cx="685800" cy="0"/>
          </a:xfrm>
          <a:prstGeom prst="line">
            <a:avLst/>
          </a:prstGeom>
          <a:noFill/>
          <a:ln w="12700">
            <a:solidFill>
              <a:srgbClr val="DDE8F5"/>
            </a:solidFill>
            <a:prstDash val="solid"/>
          </a:ln>
        </p:spPr>
        <p:txBody>
          <a:bodyPr/>
          <a:lstStyle/>
          <a:p>
            <a:endParaRPr lang="en-US"/>
          </a:p>
        </p:txBody>
      </p:sp>
      <p:sp>
        <p:nvSpPr>
          <p:cNvPr id="12" name="Shape 10"/>
          <p:cNvSpPr/>
          <p:nvPr/>
        </p:nvSpPr>
        <p:spPr>
          <a:xfrm>
            <a:off x="9326880" y="3063240"/>
            <a:ext cx="502920" cy="0"/>
          </a:xfrm>
          <a:prstGeom prst="line">
            <a:avLst/>
          </a:prstGeom>
          <a:noFill/>
          <a:ln w="12700">
            <a:solidFill>
              <a:srgbClr val="DDE8F5"/>
            </a:solidFill>
            <a:prstDash val="solid"/>
          </a:ln>
        </p:spPr>
        <p:txBody>
          <a:bodyPr/>
          <a:lstStyle/>
          <a:p>
            <a:endParaRPr lang="en-US"/>
          </a:p>
        </p:txBody>
      </p:sp>
      <p:sp>
        <p:nvSpPr>
          <p:cNvPr id="13" name="Shape 11"/>
          <p:cNvSpPr/>
          <p:nvPr/>
        </p:nvSpPr>
        <p:spPr>
          <a:xfrm>
            <a:off x="8549640" y="3794760"/>
            <a:ext cx="2194560" cy="1005840"/>
          </a:xfrm>
          <a:prstGeom prst="roundRect">
            <a:avLst>
              <a:gd name="adj" fmla="val 10909"/>
            </a:avLst>
          </a:prstGeom>
          <a:solidFill>
            <a:srgbClr val="21486F"/>
          </a:solidFill>
          <a:ln w="12700">
            <a:solidFill>
              <a:srgbClr val="21486F"/>
            </a:solidFill>
            <a:prstDash val="solid"/>
          </a:ln>
        </p:spPr>
        <p:txBody>
          <a:bodyPr/>
          <a:lstStyle/>
          <a:p>
            <a:endParaRPr lang="en-US"/>
          </a:p>
        </p:txBody>
      </p:sp>
      <p:sp>
        <p:nvSpPr>
          <p:cNvPr id="14" name="Shape 12"/>
          <p:cNvSpPr/>
          <p:nvPr/>
        </p:nvSpPr>
        <p:spPr>
          <a:xfrm>
            <a:off x="8705088" y="3968496"/>
            <a:ext cx="109728" cy="109728"/>
          </a:xfrm>
          <a:prstGeom prst="rect">
            <a:avLst/>
          </a:prstGeom>
          <a:solidFill>
            <a:srgbClr val="98C1E3"/>
          </a:solidFill>
          <a:ln w="12700">
            <a:solidFill>
              <a:srgbClr val="21486F"/>
            </a:solidFill>
            <a:prstDash val="solid"/>
          </a:ln>
        </p:spPr>
        <p:txBody>
          <a:bodyPr/>
          <a:lstStyle/>
          <a:p>
            <a:endParaRPr lang="en-US"/>
          </a:p>
        </p:txBody>
      </p:sp>
      <p:sp>
        <p:nvSpPr>
          <p:cNvPr id="15" name="Shape 13"/>
          <p:cNvSpPr/>
          <p:nvPr/>
        </p:nvSpPr>
        <p:spPr>
          <a:xfrm>
            <a:off x="8705088" y="4133088"/>
            <a:ext cx="109728" cy="109728"/>
          </a:xfrm>
          <a:prstGeom prst="rect">
            <a:avLst/>
          </a:prstGeom>
          <a:solidFill>
            <a:srgbClr val="DDE8F5"/>
          </a:solidFill>
          <a:ln w="12700">
            <a:solidFill>
              <a:srgbClr val="21486F"/>
            </a:solidFill>
            <a:prstDash val="solid"/>
          </a:ln>
        </p:spPr>
        <p:txBody>
          <a:bodyPr/>
          <a:lstStyle/>
          <a:p>
            <a:endParaRPr lang="en-US"/>
          </a:p>
        </p:txBody>
      </p:sp>
      <p:sp>
        <p:nvSpPr>
          <p:cNvPr id="16" name="Shape 14"/>
          <p:cNvSpPr/>
          <p:nvPr/>
        </p:nvSpPr>
        <p:spPr>
          <a:xfrm>
            <a:off x="8705088" y="4297680"/>
            <a:ext cx="109728" cy="109728"/>
          </a:xfrm>
          <a:prstGeom prst="rect">
            <a:avLst/>
          </a:prstGeom>
          <a:solidFill>
            <a:srgbClr val="98C1E3"/>
          </a:solidFill>
          <a:ln w="12700">
            <a:solidFill>
              <a:srgbClr val="21486F"/>
            </a:solidFill>
            <a:prstDash val="solid"/>
          </a:ln>
        </p:spPr>
        <p:txBody>
          <a:bodyPr/>
          <a:lstStyle/>
          <a:p>
            <a:endParaRPr lang="en-US"/>
          </a:p>
        </p:txBody>
      </p:sp>
      <p:sp>
        <p:nvSpPr>
          <p:cNvPr id="17" name="Shape 15"/>
          <p:cNvSpPr/>
          <p:nvPr/>
        </p:nvSpPr>
        <p:spPr>
          <a:xfrm>
            <a:off x="8705088" y="4462272"/>
            <a:ext cx="109728" cy="109728"/>
          </a:xfrm>
          <a:prstGeom prst="rect">
            <a:avLst/>
          </a:prstGeom>
          <a:solidFill>
            <a:srgbClr val="DDE8F5"/>
          </a:solidFill>
          <a:ln w="12700">
            <a:solidFill>
              <a:srgbClr val="21486F"/>
            </a:solidFill>
            <a:prstDash val="solid"/>
          </a:ln>
        </p:spPr>
        <p:txBody>
          <a:bodyPr/>
          <a:lstStyle/>
          <a:p>
            <a:endParaRPr lang="en-US"/>
          </a:p>
        </p:txBody>
      </p:sp>
      <p:sp>
        <p:nvSpPr>
          <p:cNvPr id="18" name="Shape 16"/>
          <p:cNvSpPr/>
          <p:nvPr/>
        </p:nvSpPr>
        <p:spPr>
          <a:xfrm>
            <a:off x="9144000" y="3968496"/>
            <a:ext cx="109728" cy="109728"/>
          </a:xfrm>
          <a:prstGeom prst="rect">
            <a:avLst/>
          </a:prstGeom>
          <a:solidFill>
            <a:srgbClr val="DDE8F5"/>
          </a:solidFill>
          <a:ln w="12700">
            <a:solidFill>
              <a:srgbClr val="21486F"/>
            </a:solidFill>
            <a:prstDash val="solid"/>
          </a:ln>
        </p:spPr>
        <p:txBody>
          <a:bodyPr/>
          <a:lstStyle/>
          <a:p>
            <a:endParaRPr lang="en-US"/>
          </a:p>
        </p:txBody>
      </p:sp>
      <p:sp>
        <p:nvSpPr>
          <p:cNvPr id="19" name="Shape 17"/>
          <p:cNvSpPr/>
          <p:nvPr/>
        </p:nvSpPr>
        <p:spPr>
          <a:xfrm>
            <a:off x="9144000" y="4133088"/>
            <a:ext cx="109728" cy="109728"/>
          </a:xfrm>
          <a:prstGeom prst="rect">
            <a:avLst/>
          </a:prstGeom>
          <a:solidFill>
            <a:srgbClr val="98C1E3"/>
          </a:solidFill>
          <a:ln w="12700">
            <a:solidFill>
              <a:srgbClr val="21486F"/>
            </a:solidFill>
            <a:prstDash val="solid"/>
          </a:ln>
        </p:spPr>
        <p:txBody>
          <a:bodyPr/>
          <a:lstStyle/>
          <a:p>
            <a:endParaRPr lang="en-US"/>
          </a:p>
        </p:txBody>
      </p:sp>
      <p:sp>
        <p:nvSpPr>
          <p:cNvPr id="20" name="Shape 18"/>
          <p:cNvSpPr/>
          <p:nvPr/>
        </p:nvSpPr>
        <p:spPr>
          <a:xfrm>
            <a:off x="9144000" y="4297680"/>
            <a:ext cx="109728" cy="109728"/>
          </a:xfrm>
          <a:prstGeom prst="rect">
            <a:avLst/>
          </a:prstGeom>
          <a:solidFill>
            <a:srgbClr val="DDE8F5"/>
          </a:solidFill>
          <a:ln w="12700">
            <a:solidFill>
              <a:srgbClr val="21486F"/>
            </a:solidFill>
            <a:prstDash val="solid"/>
          </a:ln>
        </p:spPr>
        <p:txBody>
          <a:bodyPr/>
          <a:lstStyle/>
          <a:p>
            <a:endParaRPr lang="en-US"/>
          </a:p>
        </p:txBody>
      </p:sp>
      <p:sp>
        <p:nvSpPr>
          <p:cNvPr id="21" name="Shape 19"/>
          <p:cNvSpPr/>
          <p:nvPr/>
        </p:nvSpPr>
        <p:spPr>
          <a:xfrm>
            <a:off x="9144000" y="4462272"/>
            <a:ext cx="109728" cy="109728"/>
          </a:xfrm>
          <a:prstGeom prst="rect">
            <a:avLst/>
          </a:prstGeom>
          <a:solidFill>
            <a:srgbClr val="98C1E3"/>
          </a:solidFill>
          <a:ln w="12700">
            <a:solidFill>
              <a:srgbClr val="21486F"/>
            </a:solidFill>
            <a:prstDash val="solid"/>
          </a:ln>
        </p:spPr>
        <p:txBody>
          <a:bodyPr/>
          <a:lstStyle/>
          <a:p>
            <a:endParaRPr lang="en-US"/>
          </a:p>
        </p:txBody>
      </p:sp>
      <p:sp>
        <p:nvSpPr>
          <p:cNvPr id="22" name="Shape 20"/>
          <p:cNvSpPr/>
          <p:nvPr/>
        </p:nvSpPr>
        <p:spPr>
          <a:xfrm>
            <a:off x="9582912" y="3968496"/>
            <a:ext cx="109728" cy="109728"/>
          </a:xfrm>
          <a:prstGeom prst="rect">
            <a:avLst/>
          </a:prstGeom>
          <a:solidFill>
            <a:srgbClr val="98C1E3"/>
          </a:solidFill>
          <a:ln w="12700">
            <a:solidFill>
              <a:srgbClr val="21486F"/>
            </a:solidFill>
            <a:prstDash val="solid"/>
          </a:ln>
        </p:spPr>
        <p:txBody>
          <a:bodyPr/>
          <a:lstStyle/>
          <a:p>
            <a:endParaRPr lang="en-US"/>
          </a:p>
        </p:txBody>
      </p:sp>
      <p:sp>
        <p:nvSpPr>
          <p:cNvPr id="23" name="Shape 21"/>
          <p:cNvSpPr/>
          <p:nvPr/>
        </p:nvSpPr>
        <p:spPr>
          <a:xfrm>
            <a:off x="9582912" y="4133088"/>
            <a:ext cx="109728" cy="109728"/>
          </a:xfrm>
          <a:prstGeom prst="rect">
            <a:avLst/>
          </a:prstGeom>
          <a:solidFill>
            <a:srgbClr val="DDE8F5"/>
          </a:solidFill>
          <a:ln w="12700">
            <a:solidFill>
              <a:srgbClr val="21486F"/>
            </a:solidFill>
            <a:prstDash val="solid"/>
          </a:ln>
        </p:spPr>
        <p:txBody>
          <a:bodyPr/>
          <a:lstStyle/>
          <a:p>
            <a:endParaRPr lang="en-US"/>
          </a:p>
        </p:txBody>
      </p:sp>
      <p:sp>
        <p:nvSpPr>
          <p:cNvPr id="24" name="Shape 22"/>
          <p:cNvSpPr/>
          <p:nvPr/>
        </p:nvSpPr>
        <p:spPr>
          <a:xfrm>
            <a:off x="9582912" y="4297680"/>
            <a:ext cx="109728" cy="109728"/>
          </a:xfrm>
          <a:prstGeom prst="rect">
            <a:avLst/>
          </a:prstGeom>
          <a:solidFill>
            <a:srgbClr val="98C1E3"/>
          </a:solidFill>
          <a:ln w="12700">
            <a:solidFill>
              <a:srgbClr val="21486F"/>
            </a:solidFill>
            <a:prstDash val="solid"/>
          </a:ln>
        </p:spPr>
        <p:txBody>
          <a:bodyPr/>
          <a:lstStyle/>
          <a:p>
            <a:endParaRPr lang="en-US"/>
          </a:p>
        </p:txBody>
      </p:sp>
      <p:sp>
        <p:nvSpPr>
          <p:cNvPr id="25" name="Shape 23"/>
          <p:cNvSpPr/>
          <p:nvPr/>
        </p:nvSpPr>
        <p:spPr>
          <a:xfrm>
            <a:off x="9582912" y="4462272"/>
            <a:ext cx="109728" cy="109728"/>
          </a:xfrm>
          <a:prstGeom prst="rect">
            <a:avLst/>
          </a:prstGeom>
          <a:solidFill>
            <a:srgbClr val="DDE8F5"/>
          </a:solidFill>
          <a:ln w="12700">
            <a:solidFill>
              <a:srgbClr val="21486F"/>
            </a:solidFill>
            <a:prstDash val="solid"/>
          </a:ln>
        </p:spPr>
        <p:txBody>
          <a:bodyPr/>
          <a:lstStyle/>
          <a:p>
            <a:endParaRPr lang="en-US"/>
          </a:p>
        </p:txBody>
      </p:sp>
      <p:sp>
        <p:nvSpPr>
          <p:cNvPr id="26" name="Shape 24"/>
          <p:cNvSpPr/>
          <p:nvPr/>
        </p:nvSpPr>
        <p:spPr>
          <a:xfrm>
            <a:off x="10021824" y="3968496"/>
            <a:ext cx="109728" cy="109728"/>
          </a:xfrm>
          <a:prstGeom prst="rect">
            <a:avLst/>
          </a:prstGeom>
          <a:solidFill>
            <a:srgbClr val="DDE8F5"/>
          </a:solidFill>
          <a:ln w="12700">
            <a:solidFill>
              <a:srgbClr val="21486F"/>
            </a:solidFill>
            <a:prstDash val="solid"/>
          </a:ln>
        </p:spPr>
        <p:txBody>
          <a:bodyPr/>
          <a:lstStyle/>
          <a:p>
            <a:endParaRPr lang="en-US"/>
          </a:p>
        </p:txBody>
      </p:sp>
      <p:sp>
        <p:nvSpPr>
          <p:cNvPr id="27" name="Shape 25"/>
          <p:cNvSpPr/>
          <p:nvPr/>
        </p:nvSpPr>
        <p:spPr>
          <a:xfrm>
            <a:off x="10021824" y="4133088"/>
            <a:ext cx="109728" cy="109728"/>
          </a:xfrm>
          <a:prstGeom prst="rect">
            <a:avLst/>
          </a:prstGeom>
          <a:solidFill>
            <a:srgbClr val="98C1E3"/>
          </a:solidFill>
          <a:ln w="12700">
            <a:solidFill>
              <a:srgbClr val="21486F"/>
            </a:solidFill>
            <a:prstDash val="solid"/>
          </a:ln>
        </p:spPr>
        <p:txBody>
          <a:bodyPr/>
          <a:lstStyle/>
          <a:p>
            <a:endParaRPr lang="en-US"/>
          </a:p>
        </p:txBody>
      </p:sp>
      <p:sp>
        <p:nvSpPr>
          <p:cNvPr id="28" name="Shape 26"/>
          <p:cNvSpPr/>
          <p:nvPr/>
        </p:nvSpPr>
        <p:spPr>
          <a:xfrm>
            <a:off x="10021824" y="4297680"/>
            <a:ext cx="109728" cy="109728"/>
          </a:xfrm>
          <a:prstGeom prst="rect">
            <a:avLst/>
          </a:prstGeom>
          <a:solidFill>
            <a:srgbClr val="DDE8F5"/>
          </a:solidFill>
          <a:ln w="12700">
            <a:solidFill>
              <a:srgbClr val="21486F"/>
            </a:solidFill>
            <a:prstDash val="solid"/>
          </a:ln>
        </p:spPr>
        <p:txBody>
          <a:bodyPr/>
          <a:lstStyle/>
          <a:p>
            <a:endParaRPr lang="en-US"/>
          </a:p>
        </p:txBody>
      </p:sp>
      <p:sp>
        <p:nvSpPr>
          <p:cNvPr id="29" name="Shape 27"/>
          <p:cNvSpPr/>
          <p:nvPr/>
        </p:nvSpPr>
        <p:spPr>
          <a:xfrm>
            <a:off x="10021824" y="4462272"/>
            <a:ext cx="109728" cy="109728"/>
          </a:xfrm>
          <a:prstGeom prst="rect">
            <a:avLst/>
          </a:prstGeom>
          <a:solidFill>
            <a:srgbClr val="98C1E3"/>
          </a:solidFill>
          <a:ln w="12700">
            <a:solidFill>
              <a:srgbClr val="21486F"/>
            </a:solidFill>
            <a:prstDash val="solid"/>
          </a:ln>
        </p:spPr>
        <p:txBody>
          <a:bodyPr/>
          <a:lstStyle/>
          <a:p>
            <a:endParaRPr lang="en-US"/>
          </a:p>
        </p:txBody>
      </p:sp>
      <p:sp>
        <p:nvSpPr>
          <p:cNvPr id="31" name="Text 29"/>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Why this workshop exists</a:t>
            </a:r>
            <a:endParaRPr lang="en-US" sz="2400" dirty="0"/>
          </a:p>
        </p:txBody>
      </p:sp>
      <p:sp>
        <p:nvSpPr>
          <p:cNvPr id="3" name="Text 1"/>
          <p:cNvSpPr/>
          <p:nvPr/>
        </p:nvSpPr>
        <p:spPr>
          <a:xfrm>
            <a:off x="8823960" y="365760"/>
            <a:ext cx="2743200" cy="219456"/>
          </a:xfrm>
          <a:prstGeom prst="rect">
            <a:avLst/>
          </a:prstGeom>
          <a:noFill/>
          <a:ln/>
        </p:spPr>
        <p:txBody>
          <a:bodyPr wrap="square" rtlCol="0" anchor="ctr"/>
          <a:lstStyle/>
          <a:p>
            <a:pPr marL="0" indent="0" algn="r">
              <a:buNone/>
            </a:pPr>
            <a:r>
              <a:rPr lang="en-US" sz="1000" i="1" dirty="0">
                <a:solidFill>
                  <a:srgbClr val="6B7280"/>
                </a:solidFill>
              </a:rPr>
              <a:t>from instrument to insight</a:t>
            </a:r>
            <a:endParaRPr lang="en-US" sz="1000" dirty="0"/>
          </a:p>
        </p:txBody>
      </p:sp>
      <p:sp>
        <p:nvSpPr>
          <p:cNvPr id="4" name="Shape 2"/>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5" name="Shape 3"/>
          <p:cNvSpPr/>
          <p:nvPr/>
        </p:nvSpPr>
        <p:spPr>
          <a:xfrm>
            <a:off x="731520" y="1234440"/>
            <a:ext cx="3840480" cy="4297680"/>
          </a:xfrm>
          <a:prstGeom prst="roundRect">
            <a:avLst>
              <a:gd name="adj" fmla="val 2857"/>
            </a:avLst>
          </a:prstGeom>
          <a:solidFill>
            <a:srgbClr val="EAF3FB"/>
          </a:solidFill>
          <a:ln w="12700">
            <a:solidFill>
              <a:srgbClr val="D7E0EA"/>
            </a:solidFill>
            <a:prstDash val="solid"/>
          </a:ln>
        </p:spPr>
        <p:txBody>
          <a:bodyPr/>
          <a:lstStyle/>
          <a:p>
            <a:endParaRPr lang="en-US"/>
          </a:p>
        </p:txBody>
      </p:sp>
      <p:sp>
        <p:nvSpPr>
          <p:cNvPr id="6" name="Text 4"/>
          <p:cNvSpPr/>
          <p:nvPr/>
        </p:nvSpPr>
        <p:spPr>
          <a:xfrm>
            <a:off x="960120" y="1572768"/>
            <a:ext cx="3246120" cy="457200"/>
          </a:xfrm>
          <a:prstGeom prst="rect">
            <a:avLst/>
          </a:prstGeom>
          <a:noFill/>
          <a:ln/>
        </p:spPr>
        <p:txBody>
          <a:bodyPr wrap="square" rtlCol="0" anchor="ctr"/>
          <a:lstStyle/>
          <a:p>
            <a:pPr marL="0" indent="0">
              <a:buNone/>
            </a:pPr>
            <a:r>
              <a:rPr lang="en-US" sz="2300" b="1" dirty="0">
                <a:solidFill>
                  <a:srgbClr val="163A6B"/>
                </a:solidFill>
              </a:rPr>
              <a:t>Modern TEM work is not only imaging.</a:t>
            </a:r>
            <a:endParaRPr lang="en-US" sz="2300" dirty="0"/>
          </a:p>
        </p:txBody>
      </p:sp>
      <p:sp>
        <p:nvSpPr>
          <p:cNvPr id="7" name="Text 5"/>
          <p:cNvSpPr/>
          <p:nvPr/>
        </p:nvSpPr>
        <p:spPr>
          <a:xfrm>
            <a:off x="1205344" y="2240279"/>
            <a:ext cx="2936887" cy="2664229"/>
          </a:xfrm>
          <a:prstGeom prst="rect">
            <a:avLst/>
          </a:prstGeom>
          <a:solidFill>
            <a:schemeClr val="bg1"/>
          </a:solidFill>
          <a:ln/>
        </p:spPr>
        <p:txBody>
          <a:bodyPr wrap="square" lIns="254" tIns="254" rIns="254" bIns="254" rtlCol="0" anchor="ctr"/>
          <a:lstStyle/>
          <a:p>
            <a:pPr marL="285750" indent="-285750">
              <a:buClr>
                <a:schemeClr val="accent2"/>
              </a:buClr>
              <a:buFont typeface="Arial" panose="020B0604020202020204" pitchFamily="34" charset="0"/>
              <a:buChar char="•"/>
            </a:pPr>
            <a:r>
              <a:rPr lang="en-US" sz="1800" dirty="0">
                <a:solidFill>
                  <a:srgbClr val="1E293B"/>
                </a:solidFill>
              </a:rPr>
              <a:t>files are larger and more varied than before
analysis choices affect the final scientific claim
data without context becomes hard to trust or reuse</a:t>
            </a:r>
            <a:endParaRPr lang="en-US" sz="1800" dirty="0"/>
          </a:p>
        </p:txBody>
      </p:sp>
      <p:sp>
        <p:nvSpPr>
          <p:cNvPr id="8" name="Shape 6"/>
          <p:cNvSpPr/>
          <p:nvPr/>
        </p:nvSpPr>
        <p:spPr>
          <a:xfrm>
            <a:off x="4875711" y="1936575"/>
            <a:ext cx="6355080" cy="960120"/>
          </a:xfrm>
          <a:prstGeom prst="roundRect">
            <a:avLst>
              <a:gd name="adj" fmla="val 11429"/>
            </a:avLst>
          </a:prstGeom>
          <a:solidFill>
            <a:srgbClr val="FDFDFD"/>
          </a:solidFill>
          <a:ln w="12700">
            <a:solidFill>
              <a:srgbClr val="D7E0EA"/>
            </a:solidFill>
            <a:prstDash val="solid"/>
          </a:ln>
        </p:spPr>
        <p:txBody>
          <a:bodyPr/>
          <a:lstStyle/>
          <a:p>
            <a:endParaRPr lang="en-US"/>
          </a:p>
        </p:txBody>
      </p:sp>
      <p:sp>
        <p:nvSpPr>
          <p:cNvPr id="9" name="Text 7"/>
          <p:cNvSpPr/>
          <p:nvPr/>
        </p:nvSpPr>
        <p:spPr>
          <a:xfrm>
            <a:off x="5058591" y="2238327"/>
            <a:ext cx="1234440" cy="201168"/>
          </a:xfrm>
          <a:prstGeom prst="rect">
            <a:avLst/>
          </a:prstGeom>
          <a:noFill/>
          <a:ln/>
        </p:spPr>
        <p:txBody>
          <a:bodyPr wrap="square" rtlCol="0" anchor="ctr"/>
          <a:lstStyle/>
          <a:p>
            <a:pPr marL="0" indent="0" algn="ctr">
              <a:buNone/>
            </a:pPr>
            <a:r>
              <a:rPr lang="en-US" sz="1900" b="1" dirty="0">
                <a:solidFill>
                  <a:srgbClr val="163A6B"/>
                </a:solidFill>
              </a:rPr>
              <a:t>Collect well</a:t>
            </a:r>
            <a:endParaRPr lang="en-US" sz="1900" dirty="0"/>
          </a:p>
        </p:txBody>
      </p:sp>
      <p:sp>
        <p:nvSpPr>
          <p:cNvPr id="10" name="Text 8"/>
          <p:cNvSpPr/>
          <p:nvPr/>
        </p:nvSpPr>
        <p:spPr>
          <a:xfrm>
            <a:off x="6658791" y="2293191"/>
            <a:ext cx="3931920" cy="146304"/>
          </a:xfrm>
          <a:prstGeom prst="rect">
            <a:avLst/>
          </a:prstGeom>
          <a:noFill/>
          <a:ln/>
        </p:spPr>
        <p:txBody>
          <a:bodyPr wrap="square" rtlCol="0" anchor="ctr"/>
          <a:lstStyle/>
          <a:p>
            <a:pPr marL="0" indent="0">
              <a:buNone/>
            </a:pPr>
            <a:r>
              <a:rPr lang="en-US" sz="1400" dirty="0">
                <a:solidFill>
                  <a:srgbClr val="1E293B"/>
                </a:solidFill>
              </a:rPr>
              <a:t>good files + basic metadata</a:t>
            </a:r>
            <a:endParaRPr lang="en-US" sz="1400" dirty="0"/>
          </a:p>
        </p:txBody>
      </p:sp>
      <p:sp>
        <p:nvSpPr>
          <p:cNvPr id="11" name="Shape 9"/>
          <p:cNvSpPr/>
          <p:nvPr/>
        </p:nvSpPr>
        <p:spPr>
          <a:xfrm>
            <a:off x="4875711" y="3216735"/>
            <a:ext cx="6355080" cy="960120"/>
          </a:xfrm>
          <a:prstGeom prst="roundRect">
            <a:avLst>
              <a:gd name="adj" fmla="val 11429"/>
            </a:avLst>
          </a:prstGeom>
          <a:solidFill>
            <a:srgbClr val="FDFDFD"/>
          </a:solidFill>
          <a:ln w="12700">
            <a:solidFill>
              <a:srgbClr val="D7E0EA"/>
            </a:solidFill>
            <a:prstDash val="solid"/>
          </a:ln>
        </p:spPr>
        <p:txBody>
          <a:bodyPr/>
          <a:lstStyle/>
          <a:p>
            <a:endParaRPr lang="en-US"/>
          </a:p>
        </p:txBody>
      </p:sp>
      <p:sp>
        <p:nvSpPr>
          <p:cNvPr id="12" name="Text 10"/>
          <p:cNvSpPr/>
          <p:nvPr/>
        </p:nvSpPr>
        <p:spPr>
          <a:xfrm>
            <a:off x="4967151" y="3518487"/>
            <a:ext cx="2011680" cy="201168"/>
          </a:xfrm>
          <a:prstGeom prst="rect">
            <a:avLst/>
          </a:prstGeom>
          <a:noFill/>
          <a:ln/>
        </p:spPr>
        <p:txBody>
          <a:bodyPr wrap="square" rtlCol="0" anchor="ctr"/>
          <a:lstStyle/>
          <a:p>
            <a:pPr marL="0" indent="0" algn="ctr">
              <a:buNone/>
            </a:pPr>
            <a:r>
              <a:rPr lang="en-US" sz="1800" b="1" dirty="0">
                <a:solidFill>
                  <a:srgbClr val="163A6B"/>
                </a:solidFill>
              </a:rPr>
              <a:t>Analyze transparently</a:t>
            </a:r>
            <a:endParaRPr lang="en-US" sz="1800" dirty="0"/>
          </a:p>
        </p:txBody>
      </p:sp>
      <p:sp>
        <p:nvSpPr>
          <p:cNvPr id="13" name="Text 11"/>
          <p:cNvSpPr/>
          <p:nvPr/>
        </p:nvSpPr>
        <p:spPr>
          <a:xfrm>
            <a:off x="7253151" y="3573351"/>
            <a:ext cx="3383280" cy="146304"/>
          </a:xfrm>
          <a:prstGeom prst="rect">
            <a:avLst/>
          </a:prstGeom>
          <a:noFill/>
          <a:ln/>
        </p:spPr>
        <p:txBody>
          <a:bodyPr wrap="square" rtlCol="0" anchor="ctr"/>
          <a:lstStyle/>
          <a:p>
            <a:pPr marL="0" indent="0">
              <a:buNone/>
            </a:pPr>
            <a:r>
              <a:rPr lang="en-US" sz="1400" dirty="0">
                <a:solidFill>
                  <a:srgbClr val="1E293B"/>
                </a:solidFill>
              </a:rPr>
              <a:t>repeatable steps + saved parameters</a:t>
            </a:r>
            <a:endParaRPr lang="en-US" sz="1400" dirty="0"/>
          </a:p>
        </p:txBody>
      </p:sp>
      <p:sp>
        <p:nvSpPr>
          <p:cNvPr id="14" name="Shape 12"/>
          <p:cNvSpPr/>
          <p:nvPr/>
        </p:nvSpPr>
        <p:spPr>
          <a:xfrm>
            <a:off x="4875711" y="4496895"/>
            <a:ext cx="6355080" cy="960120"/>
          </a:xfrm>
          <a:prstGeom prst="roundRect">
            <a:avLst>
              <a:gd name="adj" fmla="val 11429"/>
            </a:avLst>
          </a:prstGeom>
          <a:solidFill>
            <a:srgbClr val="FDFDFD"/>
          </a:solidFill>
          <a:ln w="12700">
            <a:solidFill>
              <a:srgbClr val="D7E0EA"/>
            </a:solidFill>
            <a:prstDash val="solid"/>
          </a:ln>
        </p:spPr>
        <p:txBody>
          <a:bodyPr/>
          <a:lstStyle/>
          <a:p>
            <a:endParaRPr lang="en-US"/>
          </a:p>
        </p:txBody>
      </p:sp>
      <p:sp>
        <p:nvSpPr>
          <p:cNvPr id="15" name="Text 13"/>
          <p:cNvSpPr/>
          <p:nvPr/>
        </p:nvSpPr>
        <p:spPr>
          <a:xfrm>
            <a:off x="5058591" y="4798647"/>
            <a:ext cx="1783080" cy="201168"/>
          </a:xfrm>
          <a:prstGeom prst="rect">
            <a:avLst/>
          </a:prstGeom>
          <a:noFill/>
          <a:ln/>
        </p:spPr>
        <p:txBody>
          <a:bodyPr wrap="square" rtlCol="0" anchor="ctr"/>
          <a:lstStyle/>
          <a:p>
            <a:pPr marL="0" indent="0" algn="ctr">
              <a:buNone/>
            </a:pPr>
            <a:r>
              <a:rPr lang="en-US" sz="1800" b="1" dirty="0">
                <a:solidFill>
                  <a:srgbClr val="163A6B"/>
                </a:solidFill>
              </a:rPr>
              <a:t>Share responsibly</a:t>
            </a:r>
            <a:endParaRPr lang="en-US" sz="1800" dirty="0"/>
          </a:p>
        </p:txBody>
      </p:sp>
      <p:sp>
        <p:nvSpPr>
          <p:cNvPr id="16" name="Text 14"/>
          <p:cNvSpPr/>
          <p:nvPr/>
        </p:nvSpPr>
        <p:spPr>
          <a:xfrm>
            <a:off x="7115991" y="4853511"/>
            <a:ext cx="3520440" cy="146304"/>
          </a:xfrm>
          <a:prstGeom prst="rect">
            <a:avLst/>
          </a:prstGeom>
          <a:noFill/>
          <a:ln/>
        </p:spPr>
        <p:txBody>
          <a:bodyPr wrap="square" rtlCol="0" anchor="ctr"/>
          <a:lstStyle/>
          <a:p>
            <a:pPr marL="0" indent="0">
              <a:buNone/>
            </a:pPr>
            <a:r>
              <a:rPr lang="en-US" sz="1400" dirty="0">
                <a:solidFill>
                  <a:srgbClr val="1E293B"/>
                </a:solidFill>
              </a:rPr>
              <a:t>reusable data + code + provenance</a:t>
            </a:r>
            <a:endParaRPr lang="en-US" sz="1400" dirty="0"/>
          </a:p>
        </p:txBody>
      </p:sp>
      <p:sp>
        <p:nvSpPr>
          <p:cNvPr id="17" name="Shape 15"/>
          <p:cNvSpPr/>
          <p:nvPr/>
        </p:nvSpPr>
        <p:spPr>
          <a:xfrm>
            <a:off x="5287191" y="5868495"/>
            <a:ext cx="5394960" cy="502920"/>
          </a:xfrm>
          <a:prstGeom prst="roundRect">
            <a:avLst>
              <a:gd name="adj" fmla="val 21818"/>
            </a:avLst>
          </a:prstGeom>
          <a:solidFill>
            <a:srgbClr val="F7F2E6"/>
          </a:solidFill>
          <a:ln w="12700">
            <a:solidFill>
              <a:srgbClr val="F7F2E6"/>
            </a:solidFill>
            <a:prstDash val="solid"/>
          </a:ln>
        </p:spPr>
        <p:txBody>
          <a:bodyPr/>
          <a:lstStyle/>
          <a:p>
            <a:endParaRPr lang="en-US"/>
          </a:p>
        </p:txBody>
      </p:sp>
      <p:sp>
        <p:nvSpPr>
          <p:cNvPr id="18" name="Text 16"/>
          <p:cNvSpPr/>
          <p:nvPr/>
        </p:nvSpPr>
        <p:spPr>
          <a:xfrm>
            <a:off x="4980213" y="5959940"/>
            <a:ext cx="6080760" cy="320029"/>
          </a:xfrm>
          <a:prstGeom prst="rect">
            <a:avLst/>
          </a:prstGeom>
          <a:noFill/>
          <a:ln/>
        </p:spPr>
        <p:txBody>
          <a:bodyPr wrap="square" rtlCol="0" anchor="ctr"/>
          <a:lstStyle/>
          <a:p>
            <a:pPr algn="ctr"/>
            <a:r>
              <a:rPr lang="en-US" sz="1600" i="1" dirty="0">
                <a:solidFill>
                  <a:srgbClr val="1E293B"/>
                </a:solidFill>
              </a:rPr>
              <a:t>Goal: </a:t>
            </a:r>
            <a:r>
              <a:rPr lang="en-US" sz="1600" dirty="0"/>
              <a:t>to scale from individual tasks to real research workflows</a:t>
            </a:r>
          </a:p>
        </p:txBody>
      </p:sp>
      <p:sp>
        <p:nvSpPr>
          <p:cNvPr id="19" name="Text 17"/>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2</a:t>
            </a:r>
            <a:endParaRPr lang="en-US" sz="900" dirty="0"/>
          </a:p>
        </p:txBody>
      </p:sp>
      <p:sp>
        <p:nvSpPr>
          <p:cNvPr id="21" name="TextBox 20">
            <a:extLst>
              <a:ext uri="{FF2B5EF4-FFF2-40B4-BE49-F238E27FC236}">
                <a16:creationId xmlns:a16="http://schemas.microsoft.com/office/drawing/2014/main" id="{3D0BA26A-6609-6A63-31B6-1BBEF7FB0A99}"/>
              </a:ext>
            </a:extLst>
          </p:cNvPr>
          <p:cNvSpPr txBox="1"/>
          <p:nvPr/>
        </p:nvSpPr>
        <p:spPr>
          <a:xfrm>
            <a:off x="4921431" y="1294709"/>
            <a:ext cx="6098720" cy="369332"/>
          </a:xfrm>
          <a:prstGeom prst="rect">
            <a:avLst/>
          </a:prstGeom>
          <a:noFill/>
        </p:spPr>
        <p:txBody>
          <a:bodyPr wrap="square">
            <a:spAutoFit/>
          </a:bodyPr>
          <a:lstStyle/>
          <a:p>
            <a:r>
              <a:rPr lang="en-US" dirty="0"/>
              <a:t>The workshop is organized around three ideas: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Open science in one minute</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822960" y="1508760"/>
            <a:ext cx="2240280" cy="2286000"/>
          </a:xfrm>
          <a:prstGeom prst="roundRect">
            <a:avLst>
              <a:gd name="adj" fmla="val 4898"/>
            </a:avLst>
          </a:prstGeom>
          <a:solidFill>
            <a:srgbClr val="FDFDFD"/>
          </a:solidFill>
          <a:ln w="12700">
            <a:solidFill>
              <a:srgbClr val="D7E0EA"/>
            </a:solidFill>
            <a:prstDash val="solid"/>
          </a:ln>
        </p:spPr>
        <p:txBody>
          <a:bodyPr/>
          <a:lstStyle/>
          <a:p>
            <a:endParaRPr lang="en-US"/>
          </a:p>
        </p:txBody>
      </p:sp>
      <p:sp>
        <p:nvSpPr>
          <p:cNvPr id="5" name="Shape 3"/>
          <p:cNvSpPr/>
          <p:nvPr/>
        </p:nvSpPr>
        <p:spPr>
          <a:xfrm>
            <a:off x="1618488" y="1783080"/>
            <a:ext cx="640080" cy="640080"/>
          </a:xfrm>
          <a:prstGeom prst="ellipse">
            <a:avLst/>
          </a:prstGeom>
          <a:solidFill>
            <a:srgbClr val="2E6AA6"/>
          </a:solidFill>
          <a:ln w="12700">
            <a:solidFill>
              <a:srgbClr val="2E6AA6"/>
            </a:solidFill>
            <a:prstDash val="solid"/>
          </a:ln>
        </p:spPr>
        <p:txBody>
          <a:bodyPr/>
          <a:lstStyle/>
          <a:p>
            <a:endParaRPr lang="en-US"/>
          </a:p>
        </p:txBody>
      </p:sp>
      <p:sp>
        <p:nvSpPr>
          <p:cNvPr id="6" name="Text 4"/>
          <p:cNvSpPr/>
          <p:nvPr/>
        </p:nvSpPr>
        <p:spPr>
          <a:xfrm>
            <a:off x="1764792" y="1938528"/>
            <a:ext cx="320040" cy="182880"/>
          </a:xfrm>
          <a:prstGeom prst="rect">
            <a:avLst/>
          </a:prstGeom>
          <a:noFill/>
          <a:ln/>
        </p:spPr>
        <p:txBody>
          <a:bodyPr wrap="square" rtlCol="0" anchor="ctr"/>
          <a:lstStyle/>
          <a:p>
            <a:pPr marL="0" indent="0" algn="ctr">
              <a:buNone/>
            </a:pPr>
            <a:r>
              <a:rPr lang="en-US" sz="1900" dirty="0">
                <a:solidFill>
                  <a:srgbClr val="000000"/>
                </a:solidFill>
              </a:rPr>
              <a:t>📄</a:t>
            </a:r>
            <a:endParaRPr lang="en-US" sz="1900" dirty="0"/>
          </a:p>
        </p:txBody>
      </p:sp>
      <p:sp>
        <p:nvSpPr>
          <p:cNvPr id="7" name="Text 5"/>
          <p:cNvSpPr/>
          <p:nvPr/>
        </p:nvSpPr>
        <p:spPr>
          <a:xfrm>
            <a:off x="1005840" y="2651760"/>
            <a:ext cx="1874520" cy="228600"/>
          </a:xfrm>
          <a:prstGeom prst="rect">
            <a:avLst/>
          </a:prstGeom>
          <a:noFill/>
          <a:ln/>
        </p:spPr>
        <p:txBody>
          <a:bodyPr wrap="square" rtlCol="0" anchor="ctr"/>
          <a:lstStyle/>
          <a:p>
            <a:pPr marL="0" indent="0" algn="ctr">
              <a:buNone/>
            </a:pPr>
            <a:r>
              <a:rPr lang="en-US" sz="1900" b="1" dirty="0">
                <a:solidFill>
                  <a:srgbClr val="163A6B"/>
                </a:solidFill>
              </a:rPr>
              <a:t>Open papers</a:t>
            </a:r>
            <a:endParaRPr lang="en-US" sz="1900" dirty="0"/>
          </a:p>
        </p:txBody>
      </p:sp>
      <p:sp>
        <p:nvSpPr>
          <p:cNvPr id="8" name="Text 6"/>
          <p:cNvSpPr/>
          <p:nvPr/>
        </p:nvSpPr>
        <p:spPr>
          <a:xfrm>
            <a:off x="987552" y="3017520"/>
            <a:ext cx="1920240" cy="457200"/>
          </a:xfrm>
          <a:prstGeom prst="rect">
            <a:avLst/>
          </a:prstGeom>
          <a:noFill/>
          <a:ln/>
        </p:spPr>
        <p:txBody>
          <a:bodyPr wrap="square" rtlCol="0" anchor="ctr"/>
          <a:lstStyle/>
          <a:p>
            <a:pPr marL="0" indent="0" algn="ctr">
              <a:buNone/>
            </a:pPr>
            <a:r>
              <a:rPr lang="en-US" sz="1300" dirty="0">
                <a:solidFill>
                  <a:srgbClr val="1E293B"/>
                </a:solidFill>
              </a:rPr>
              <a:t>publish so others can read</a:t>
            </a:r>
            <a:endParaRPr lang="en-US" sz="1300" dirty="0"/>
          </a:p>
        </p:txBody>
      </p:sp>
      <p:sp>
        <p:nvSpPr>
          <p:cNvPr id="9" name="Shape 7"/>
          <p:cNvSpPr/>
          <p:nvPr/>
        </p:nvSpPr>
        <p:spPr>
          <a:xfrm>
            <a:off x="3611880" y="1508760"/>
            <a:ext cx="2240280" cy="2286000"/>
          </a:xfrm>
          <a:prstGeom prst="roundRect">
            <a:avLst>
              <a:gd name="adj" fmla="val 4898"/>
            </a:avLst>
          </a:prstGeom>
          <a:solidFill>
            <a:srgbClr val="FDFDFD"/>
          </a:solidFill>
          <a:ln w="12700">
            <a:solidFill>
              <a:srgbClr val="D7E0EA"/>
            </a:solidFill>
            <a:prstDash val="solid"/>
          </a:ln>
        </p:spPr>
        <p:txBody>
          <a:bodyPr/>
          <a:lstStyle/>
          <a:p>
            <a:endParaRPr lang="en-US"/>
          </a:p>
        </p:txBody>
      </p:sp>
      <p:sp>
        <p:nvSpPr>
          <p:cNvPr id="10" name="Shape 8"/>
          <p:cNvSpPr/>
          <p:nvPr/>
        </p:nvSpPr>
        <p:spPr>
          <a:xfrm>
            <a:off x="4407408" y="1783080"/>
            <a:ext cx="640080" cy="640080"/>
          </a:xfrm>
          <a:prstGeom prst="ellipse">
            <a:avLst/>
          </a:prstGeom>
          <a:solidFill>
            <a:srgbClr val="70A95B"/>
          </a:solidFill>
          <a:ln w="12700">
            <a:solidFill>
              <a:srgbClr val="70A95B"/>
            </a:solidFill>
            <a:prstDash val="solid"/>
          </a:ln>
        </p:spPr>
        <p:txBody>
          <a:bodyPr/>
          <a:lstStyle/>
          <a:p>
            <a:endParaRPr lang="en-US"/>
          </a:p>
        </p:txBody>
      </p:sp>
      <p:sp>
        <p:nvSpPr>
          <p:cNvPr id="11" name="Text 9"/>
          <p:cNvSpPr/>
          <p:nvPr/>
        </p:nvSpPr>
        <p:spPr>
          <a:xfrm>
            <a:off x="4553712" y="1938528"/>
            <a:ext cx="320040" cy="182880"/>
          </a:xfrm>
          <a:prstGeom prst="rect">
            <a:avLst/>
          </a:prstGeom>
          <a:noFill/>
          <a:ln/>
        </p:spPr>
        <p:txBody>
          <a:bodyPr wrap="square" rtlCol="0" anchor="ctr"/>
          <a:lstStyle/>
          <a:p>
            <a:pPr marL="0" indent="0" algn="ctr">
              <a:buNone/>
            </a:pPr>
            <a:r>
              <a:rPr lang="en-US" sz="1900" dirty="0">
                <a:solidFill>
                  <a:srgbClr val="000000"/>
                </a:solidFill>
              </a:rPr>
              <a:t>🗂</a:t>
            </a:r>
            <a:endParaRPr lang="en-US" sz="1900" dirty="0"/>
          </a:p>
        </p:txBody>
      </p:sp>
      <p:sp>
        <p:nvSpPr>
          <p:cNvPr id="12" name="Text 10"/>
          <p:cNvSpPr/>
          <p:nvPr/>
        </p:nvSpPr>
        <p:spPr>
          <a:xfrm>
            <a:off x="3794760" y="2651760"/>
            <a:ext cx="1874520" cy="228600"/>
          </a:xfrm>
          <a:prstGeom prst="rect">
            <a:avLst/>
          </a:prstGeom>
          <a:noFill/>
          <a:ln/>
        </p:spPr>
        <p:txBody>
          <a:bodyPr wrap="square" rtlCol="0" anchor="ctr"/>
          <a:lstStyle/>
          <a:p>
            <a:pPr marL="0" indent="0" algn="ctr">
              <a:buNone/>
            </a:pPr>
            <a:r>
              <a:rPr lang="en-US" sz="1900" b="1" dirty="0">
                <a:solidFill>
                  <a:srgbClr val="163A6B"/>
                </a:solidFill>
              </a:rPr>
              <a:t>Open data</a:t>
            </a:r>
            <a:endParaRPr lang="en-US" sz="1900" dirty="0"/>
          </a:p>
        </p:txBody>
      </p:sp>
      <p:sp>
        <p:nvSpPr>
          <p:cNvPr id="13" name="Text 11"/>
          <p:cNvSpPr/>
          <p:nvPr/>
        </p:nvSpPr>
        <p:spPr>
          <a:xfrm>
            <a:off x="3776472" y="3017520"/>
            <a:ext cx="1920240" cy="457200"/>
          </a:xfrm>
          <a:prstGeom prst="rect">
            <a:avLst/>
          </a:prstGeom>
          <a:noFill/>
          <a:ln/>
        </p:spPr>
        <p:txBody>
          <a:bodyPr wrap="square" rtlCol="0" anchor="ctr"/>
          <a:lstStyle/>
          <a:p>
            <a:pPr marL="0" indent="0" algn="ctr">
              <a:buNone/>
            </a:pPr>
            <a:r>
              <a:rPr lang="en-US" sz="1300" dirty="0">
                <a:solidFill>
                  <a:srgbClr val="1E293B"/>
                </a:solidFill>
              </a:rPr>
              <a:t>make datasets findable and reusable</a:t>
            </a:r>
            <a:endParaRPr lang="en-US" sz="1300" dirty="0"/>
          </a:p>
        </p:txBody>
      </p:sp>
      <p:sp>
        <p:nvSpPr>
          <p:cNvPr id="14" name="Shape 12"/>
          <p:cNvSpPr/>
          <p:nvPr/>
        </p:nvSpPr>
        <p:spPr>
          <a:xfrm>
            <a:off x="6400800" y="1508760"/>
            <a:ext cx="2240280" cy="2286000"/>
          </a:xfrm>
          <a:prstGeom prst="roundRect">
            <a:avLst>
              <a:gd name="adj" fmla="val 4898"/>
            </a:avLst>
          </a:prstGeom>
          <a:solidFill>
            <a:srgbClr val="FDFDFD"/>
          </a:solidFill>
          <a:ln w="12700">
            <a:solidFill>
              <a:srgbClr val="D7E0EA"/>
            </a:solidFill>
            <a:prstDash val="solid"/>
          </a:ln>
        </p:spPr>
        <p:txBody>
          <a:bodyPr/>
          <a:lstStyle/>
          <a:p>
            <a:endParaRPr lang="en-US"/>
          </a:p>
        </p:txBody>
      </p:sp>
      <p:sp>
        <p:nvSpPr>
          <p:cNvPr id="15" name="Shape 13"/>
          <p:cNvSpPr/>
          <p:nvPr/>
        </p:nvSpPr>
        <p:spPr>
          <a:xfrm>
            <a:off x="7196328" y="1783080"/>
            <a:ext cx="640080" cy="640080"/>
          </a:xfrm>
          <a:prstGeom prst="ellipse">
            <a:avLst/>
          </a:prstGeom>
          <a:solidFill>
            <a:srgbClr val="D97706"/>
          </a:solidFill>
          <a:ln w="12700">
            <a:solidFill>
              <a:srgbClr val="D97706"/>
            </a:solidFill>
            <a:prstDash val="solid"/>
          </a:ln>
        </p:spPr>
        <p:txBody>
          <a:bodyPr/>
          <a:lstStyle/>
          <a:p>
            <a:endParaRPr lang="en-US"/>
          </a:p>
        </p:txBody>
      </p:sp>
      <p:sp>
        <p:nvSpPr>
          <p:cNvPr id="16" name="Text 14"/>
          <p:cNvSpPr/>
          <p:nvPr/>
        </p:nvSpPr>
        <p:spPr>
          <a:xfrm>
            <a:off x="7342632" y="1938528"/>
            <a:ext cx="320040" cy="182880"/>
          </a:xfrm>
          <a:prstGeom prst="rect">
            <a:avLst/>
          </a:prstGeom>
          <a:noFill/>
          <a:ln/>
        </p:spPr>
        <p:txBody>
          <a:bodyPr wrap="square" rtlCol="0" anchor="ctr"/>
          <a:lstStyle/>
          <a:p>
            <a:pPr marL="0" indent="0" algn="ctr">
              <a:buNone/>
            </a:pPr>
            <a:r>
              <a:rPr lang="en-US" sz="1900" dirty="0">
                <a:solidFill>
                  <a:srgbClr val="000000"/>
                </a:solidFill>
              </a:rPr>
              <a:t>&lt;/&gt;</a:t>
            </a:r>
            <a:endParaRPr lang="en-US" sz="1900" dirty="0"/>
          </a:p>
        </p:txBody>
      </p:sp>
      <p:sp>
        <p:nvSpPr>
          <p:cNvPr id="17" name="Text 15"/>
          <p:cNvSpPr/>
          <p:nvPr/>
        </p:nvSpPr>
        <p:spPr>
          <a:xfrm>
            <a:off x="6583680" y="2651760"/>
            <a:ext cx="1874520" cy="228600"/>
          </a:xfrm>
          <a:prstGeom prst="rect">
            <a:avLst/>
          </a:prstGeom>
          <a:noFill/>
          <a:ln/>
        </p:spPr>
        <p:txBody>
          <a:bodyPr wrap="square" rtlCol="0" anchor="ctr"/>
          <a:lstStyle/>
          <a:p>
            <a:pPr marL="0" indent="0" algn="ctr">
              <a:buNone/>
            </a:pPr>
            <a:r>
              <a:rPr lang="en-US" sz="1900" b="1" dirty="0">
                <a:solidFill>
                  <a:srgbClr val="163A6B"/>
                </a:solidFill>
              </a:rPr>
              <a:t>Open code</a:t>
            </a:r>
            <a:endParaRPr lang="en-US" sz="1900" dirty="0"/>
          </a:p>
        </p:txBody>
      </p:sp>
      <p:sp>
        <p:nvSpPr>
          <p:cNvPr id="18" name="Text 16"/>
          <p:cNvSpPr/>
          <p:nvPr/>
        </p:nvSpPr>
        <p:spPr>
          <a:xfrm>
            <a:off x="6565392" y="3017520"/>
            <a:ext cx="1920240" cy="457200"/>
          </a:xfrm>
          <a:prstGeom prst="rect">
            <a:avLst/>
          </a:prstGeom>
          <a:noFill/>
          <a:ln/>
        </p:spPr>
        <p:txBody>
          <a:bodyPr wrap="square" rtlCol="0" anchor="ctr"/>
          <a:lstStyle/>
          <a:p>
            <a:pPr marL="0" indent="0" algn="ctr">
              <a:buNone/>
            </a:pPr>
            <a:r>
              <a:rPr lang="en-US" sz="1300" dirty="0">
                <a:solidFill>
                  <a:srgbClr val="1E293B"/>
                </a:solidFill>
              </a:rPr>
              <a:t>save the exact steps you took</a:t>
            </a:r>
            <a:endParaRPr lang="en-US" sz="1300" dirty="0"/>
          </a:p>
        </p:txBody>
      </p:sp>
      <p:sp>
        <p:nvSpPr>
          <p:cNvPr id="19" name="Shape 17"/>
          <p:cNvSpPr/>
          <p:nvPr/>
        </p:nvSpPr>
        <p:spPr>
          <a:xfrm>
            <a:off x="9189720" y="1508760"/>
            <a:ext cx="2240280" cy="2286000"/>
          </a:xfrm>
          <a:prstGeom prst="roundRect">
            <a:avLst>
              <a:gd name="adj" fmla="val 4898"/>
            </a:avLst>
          </a:prstGeom>
          <a:solidFill>
            <a:srgbClr val="FDFDFD"/>
          </a:solidFill>
          <a:ln w="12700">
            <a:solidFill>
              <a:srgbClr val="D7E0EA"/>
            </a:solidFill>
            <a:prstDash val="solid"/>
          </a:ln>
        </p:spPr>
        <p:txBody>
          <a:bodyPr/>
          <a:lstStyle/>
          <a:p>
            <a:endParaRPr lang="en-US"/>
          </a:p>
        </p:txBody>
      </p:sp>
      <p:sp>
        <p:nvSpPr>
          <p:cNvPr id="20" name="Shape 18"/>
          <p:cNvSpPr/>
          <p:nvPr/>
        </p:nvSpPr>
        <p:spPr>
          <a:xfrm>
            <a:off x="9985248" y="1783080"/>
            <a:ext cx="640080" cy="640080"/>
          </a:xfrm>
          <a:prstGeom prst="ellipse">
            <a:avLst/>
          </a:prstGeom>
          <a:solidFill>
            <a:srgbClr val="163A6B"/>
          </a:solidFill>
          <a:ln w="12700">
            <a:solidFill>
              <a:srgbClr val="163A6B"/>
            </a:solidFill>
            <a:prstDash val="solid"/>
          </a:ln>
        </p:spPr>
        <p:txBody>
          <a:bodyPr/>
          <a:lstStyle/>
          <a:p>
            <a:endParaRPr lang="en-US"/>
          </a:p>
        </p:txBody>
      </p:sp>
      <p:sp>
        <p:nvSpPr>
          <p:cNvPr id="21" name="Text 19"/>
          <p:cNvSpPr/>
          <p:nvPr/>
        </p:nvSpPr>
        <p:spPr>
          <a:xfrm>
            <a:off x="10131552" y="1938528"/>
            <a:ext cx="320040" cy="182880"/>
          </a:xfrm>
          <a:prstGeom prst="rect">
            <a:avLst/>
          </a:prstGeom>
          <a:noFill/>
          <a:ln/>
        </p:spPr>
        <p:txBody>
          <a:bodyPr wrap="square" rtlCol="0" anchor="ctr"/>
          <a:lstStyle/>
          <a:p>
            <a:pPr marL="0" indent="0" algn="ctr">
              <a:buNone/>
            </a:pPr>
            <a:r>
              <a:rPr lang="en-US" sz="1900" dirty="0">
                <a:solidFill>
                  <a:srgbClr val="000000"/>
                </a:solidFill>
              </a:rPr>
              <a:t>☰</a:t>
            </a:r>
            <a:endParaRPr lang="en-US" sz="1900" dirty="0"/>
          </a:p>
        </p:txBody>
      </p:sp>
      <p:sp>
        <p:nvSpPr>
          <p:cNvPr id="22" name="Text 20"/>
          <p:cNvSpPr/>
          <p:nvPr/>
        </p:nvSpPr>
        <p:spPr>
          <a:xfrm>
            <a:off x="9372600" y="2651760"/>
            <a:ext cx="1874520" cy="228600"/>
          </a:xfrm>
          <a:prstGeom prst="rect">
            <a:avLst/>
          </a:prstGeom>
          <a:noFill/>
          <a:ln/>
        </p:spPr>
        <p:txBody>
          <a:bodyPr wrap="square" rtlCol="0" anchor="ctr"/>
          <a:lstStyle/>
          <a:p>
            <a:pPr marL="0" indent="0" algn="ctr">
              <a:buNone/>
            </a:pPr>
            <a:r>
              <a:rPr lang="en-US" sz="1900" b="1" dirty="0">
                <a:solidFill>
                  <a:srgbClr val="163A6B"/>
                </a:solidFill>
              </a:rPr>
              <a:t>Open methods</a:t>
            </a:r>
            <a:endParaRPr lang="en-US" sz="1900" dirty="0"/>
          </a:p>
        </p:txBody>
      </p:sp>
      <p:sp>
        <p:nvSpPr>
          <p:cNvPr id="23" name="Text 21"/>
          <p:cNvSpPr/>
          <p:nvPr/>
        </p:nvSpPr>
        <p:spPr>
          <a:xfrm>
            <a:off x="9354312" y="3017520"/>
            <a:ext cx="1920240" cy="457200"/>
          </a:xfrm>
          <a:prstGeom prst="rect">
            <a:avLst/>
          </a:prstGeom>
          <a:noFill/>
          <a:ln/>
        </p:spPr>
        <p:txBody>
          <a:bodyPr wrap="square" rtlCol="0" anchor="ctr"/>
          <a:lstStyle/>
          <a:p>
            <a:pPr marL="0" indent="0" algn="ctr">
              <a:buNone/>
            </a:pPr>
            <a:r>
              <a:rPr lang="en-US" sz="1300" dirty="0">
                <a:solidFill>
                  <a:srgbClr val="1E293B"/>
                </a:solidFill>
              </a:rPr>
              <a:t>record enough detail to repeat the work</a:t>
            </a:r>
            <a:endParaRPr lang="en-US" sz="1300" dirty="0"/>
          </a:p>
        </p:txBody>
      </p:sp>
      <p:sp>
        <p:nvSpPr>
          <p:cNvPr id="24" name="Shape 22"/>
          <p:cNvSpPr/>
          <p:nvPr/>
        </p:nvSpPr>
        <p:spPr>
          <a:xfrm>
            <a:off x="1097280" y="4709160"/>
            <a:ext cx="9966960" cy="868680"/>
          </a:xfrm>
          <a:prstGeom prst="roundRect">
            <a:avLst>
              <a:gd name="adj" fmla="val 12632"/>
            </a:avLst>
          </a:prstGeom>
          <a:solidFill>
            <a:srgbClr val="EEF6EC"/>
          </a:solidFill>
          <a:ln w="12700">
            <a:solidFill>
              <a:srgbClr val="EEF6EC"/>
            </a:solidFill>
            <a:prstDash val="solid"/>
          </a:ln>
        </p:spPr>
        <p:txBody>
          <a:bodyPr/>
          <a:lstStyle/>
          <a:p>
            <a:endParaRPr lang="en-US"/>
          </a:p>
        </p:txBody>
      </p:sp>
      <p:sp>
        <p:nvSpPr>
          <p:cNvPr id="25" name="Text 23"/>
          <p:cNvSpPr/>
          <p:nvPr/>
        </p:nvSpPr>
        <p:spPr>
          <a:xfrm>
            <a:off x="1417320" y="4965192"/>
            <a:ext cx="9326880" cy="256032"/>
          </a:xfrm>
          <a:prstGeom prst="rect">
            <a:avLst/>
          </a:prstGeom>
          <a:noFill/>
          <a:ln/>
        </p:spPr>
        <p:txBody>
          <a:bodyPr wrap="square" rtlCol="0" anchor="ctr"/>
          <a:lstStyle/>
          <a:p>
            <a:pPr marL="0" indent="0" algn="ctr">
              <a:buNone/>
            </a:pPr>
            <a:r>
              <a:rPr lang="en-US" sz="2000" dirty="0">
                <a:solidFill>
                  <a:srgbClr val="1E293B"/>
                </a:solidFill>
              </a:rPr>
              <a:t>FAIR is the simple idea underneath this: make research outputs Findable, Accessible, Interoperable, and Reusable.</a:t>
            </a:r>
            <a:endParaRPr lang="en-US" sz="2000" dirty="0"/>
          </a:p>
        </p:txBody>
      </p:sp>
      <p:sp>
        <p:nvSpPr>
          <p:cNvPr id="26" name="Text 24"/>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3</a:t>
            </a:r>
            <a:endParaRPr lang="en-US" sz="900" dirty="0"/>
          </a:p>
        </p:txBody>
      </p:sp>
      <p:sp>
        <p:nvSpPr>
          <p:cNvPr id="28" name="TextBox 27">
            <a:extLst>
              <a:ext uri="{FF2B5EF4-FFF2-40B4-BE49-F238E27FC236}">
                <a16:creationId xmlns:a16="http://schemas.microsoft.com/office/drawing/2014/main" id="{230095C8-C67E-C6D5-2F9F-86496185F12A}"/>
              </a:ext>
            </a:extLst>
          </p:cNvPr>
          <p:cNvSpPr txBox="1"/>
          <p:nvPr/>
        </p:nvSpPr>
        <p:spPr>
          <a:xfrm>
            <a:off x="4936461" y="6258508"/>
            <a:ext cx="6264946" cy="430887"/>
          </a:xfrm>
          <a:prstGeom prst="rect">
            <a:avLst/>
          </a:prstGeom>
          <a:noFill/>
        </p:spPr>
        <p:txBody>
          <a:bodyPr wrap="square">
            <a:spAutoFit/>
          </a:bodyPr>
          <a:lstStyle/>
          <a:p>
            <a:r>
              <a:rPr lang="en-US" sz="1100" dirty="0"/>
              <a:t>Wilkinson et al., “The FAIR Guiding Principles for scientific data management and stewardship,” Scientific Data (2016): https://</a:t>
            </a:r>
            <a:r>
              <a:rPr lang="en-US" sz="1100" dirty="0" err="1"/>
              <a:t>www.nature.com</a:t>
            </a:r>
            <a:r>
              <a:rPr lang="en-US" sz="1100" dirty="0"/>
              <a:t>/articles/sdata201618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From individual files to a data ecosystem</a:t>
            </a:r>
            <a:endParaRPr lang="en-US" sz="2400" dirty="0"/>
          </a:p>
        </p:txBody>
      </p:sp>
      <p:sp>
        <p:nvSpPr>
          <p:cNvPr id="3" name="Text 1"/>
          <p:cNvSpPr/>
          <p:nvPr/>
        </p:nvSpPr>
        <p:spPr>
          <a:xfrm>
            <a:off x="8823960" y="365760"/>
            <a:ext cx="2743200" cy="219456"/>
          </a:xfrm>
          <a:prstGeom prst="rect">
            <a:avLst/>
          </a:prstGeom>
          <a:noFill/>
          <a:ln/>
        </p:spPr>
        <p:txBody>
          <a:bodyPr wrap="square" rtlCol="0" anchor="ctr"/>
          <a:lstStyle/>
          <a:p>
            <a:pPr marL="0" indent="0" algn="r">
              <a:buNone/>
            </a:pPr>
            <a:r>
              <a:rPr lang="en-US" sz="1000" i="1" dirty="0">
                <a:solidFill>
                  <a:srgbClr val="6B7280"/>
                </a:solidFill>
              </a:rPr>
              <a:t>why this matters now</a:t>
            </a:r>
            <a:endParaRPr lang="en-US" sz="1000" dirty="0"/>
          </a:p>
        </p:txBody>
      </p:sp>
      <p:sp>
        <p:nvSpPr>
          <p:cNvPr id="4" name="Shape 2"/>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5" name="Shape 3"/>
          <p:cNvSpPr/>
          <p:nvPr/>
        </p:nvSpPr>
        <p:spPr>
          <a:xfrm>
            <a:off x="731520" y="1325880"/>
            <a:ext cx="10972800" cy="4480560"/>
          </a:xfrm>
          <a:prstGeom prst="roundRect">
            <a:avLst>
              <a:gd name="adj" fmla="val 2449"/>
            </a:avLst>
          </a:prstGeom>
          <a:solidFill>
            <a:srgbClr val="EAF3FB"/>
          </a:solidFill>
          <a:ln w="12700">
            <a:solidFill>
              <a:srgbClr val="D7E0EA"/>
            </a:solidFill>
            <a:prstDash val="solid"/>
          </a:ln>
        </p:spPr>
        <p:txBody>
          <a:bodyPr/>
          <a:lstStyle/>
          <a:p>
            <a:endParaRPr lang="en-US"/>
          </a:p>
        </p:txBody>
      </p:sp>
      <p:sp>
        <p:nvSpPr>
          <p:cNvPr id="6" name="Shape 4"/>
          <p:cNvSpPr/>
          <p:nvPr/>
        </p:nvSpPr>
        <p:spPr>
          <a:xfrm>
            <a:off x="1143000" y="2743200"/>
            <a:ext cx="1920240" cy="868680"/>
          </a:xfrm>
          <a:prstGeom prst="roundRect">
            <a:avLst>
              <a:gd name="adj" fmla="val 12632"/>
            </a:avLst>
          </a:prstGeom>
          <a:solidFill>
            <a:srgbClr val="7BA7D9"/>
          </a:solidFill>
          <a:ln w="12700">
            <a:solidFill>
              <a:srgbClr val="7BA7D9"/>
            </a:solidFill>
            <a:prstDash val="solid"/>
          </a:ln>
        </p:spPr>
        <p:txBody>
          <a:bodyPr/>
          <a:lstStyle/>
          <a:p>
            <a:endParaRPr lang="en-US"/>
          </a:p>
        </p:txBody>
      </p:sp>
      <p:sp>
        <p:nvSpPr>
          <p:cNvPr id="7" name="Text 5"/>
          <p:cNvSpPr/>
          <p:nvPr/>
        </p:nvSpPr>
        <p:spPr>
          <a:xfrm>
            <a:off x="1280160" y="2971800"/>
            <a:ext cx="1645920" cy="320040"/>
          </a:xfrm>
          <a:prstGeom prst="rect">
            <a:avLst/>
          </a:prstGeom>
          <a:noFill/>
          <a:ln/>
        </p:spPr>
        <p:txBody>
          <a:bodyPr wrap="square" rtlCol="0" anchor="ctr"/>
          <a:lstStyle/>
          <a:p>
            <a:pPr marL="0" indent="0" algn="ctr">
              <a:buNone/>
            </a:pPr>
            <a:r>
              <a:rPr lang="en-US" sz="1800" b="1" dirty="0">
                <a:solidFill>
                  <a:srgbClr val="FFFFFF"/>
                </a:solidFill>
              </a:rPr>
              <a:t>Labs</a:t>
            </a:r>
            <a:endParaRPr lang="en-US" sz="1800" dirty="0"/>
          </a:p>
        </p:txBody>
      </p:sp>
      <p:sp>
        <p:nvSpPr>
          <p:cNvPr id="8" name="Shape 6"/>
          <p:cNvSpPr/>
          <p:nvPr/>
        </p:nvSpPr>
        <p:spPr>
          <a:xfrm>
            <a:off x="3840480" y="2011680"/>
            <a:ext cx="1920240" cy="868680"/>
          </a:xfrm>
          <a:prstGeom prst="roundRect">
            <a:avLst>
              <a:gd name="adj" fmla="val 12632"/>
            </a:avLst>
          </a:prstGeom>
          <a:solidFill>
            <a:srgbClr val="5D90C6"/>
          </a:solidFill>
          <a:ln w="12700">
            <a:solidFill>
              <a:srgbClr val="5D90C6"/>
            </a:solidFill>
            <a:prstDash val="solid"/>
          </a:ln>
        </p:spPr>
        <p:txBody>
          <a:bodyPr/>
          <a:lstStyle/>
          <a:p>
            <a:endParaRPr lang="en-US"/>
          </a:p>
        </p:txBody>
      </p:sp>
      <p:sp>
        <p:nvSpPr>
          <p:cNvPr id="9" name="Text 7"/>
          <p:cNvSpPr/>
          <p:nvPr/>
        </p:nvSpPr>
        <p:spPr>
          <a:xfrm>
            <a:off x="3977640" y="2240280"/>
            <a:ext cx="1645920" cy="320040"/>
          </a:xfrm>
          <a:prstGeom prst="rect">
            <a:avLst/>
          </a:prstGeom>
          <a:noFill/>
          <a:ln/>
        </p:spPr>
        <p:txBody>
          <a:bodyPr wrap="square" rtlCol="0" anchor="ctr"/>
          <a:lstStyle/>
          <a:p>
            <a:pPr marL="0" indent="0" algn="ctr">
              <a:buNone/>
            </a:pPr>
            <a:r>
              <a:rPr lang="en-US" sz="1800" b="1" dirty="0">
                <a:solidFill>
                  <a:srgbClr val="FFFFFF"/>
                </a:solidFill>
              </a:rPr>
              <a:t>Repositories</a:t>
            </a:r>
            <a:endParaRPr lang="en-US" sz="1800" dirty="0"/>
          </a:p>
        </p:txBody>
      </p:sp>
      <p:sp>
        <p:nvSpPr>
          <p:cNvPr id="10" name="Shape 8"/>
          <p:cNvSpPr/>
          <p:nvPr/>
        </p:nvSpPr>
        <p:spPr>
          <a:xfrm>
            <a:off x="6400800" y="2011680"/>
            <a:ext cx="1920240" cy="868680"/>
          </a:xfrm>
          <a:prstGeom prst="roundRect">
            <a:avLst>
              <a:gd name="adj" fmla="val 12632"/>
            </a:avLst>
          </a:prstGeom>
          <a:solidFill>
            <a:srgbClr val="DCA64D"/>
          </a:solidFill>
          <a:ln w="12700">
            <a:solidFill>
              <a:srgbClr val="DCA64D"/>
            </a:solidFill>
            <a:prstDash val="solid"/>
          </a:ln>
        </p:spPr>
        <p:txBody>
          <a:bodyPr/>
          <a:lstStyle/>
          <a:p>
            <a:endParaRPr lang="en-US"/>
          </a:p>
        </p:txBody>
      </p:sp>
      <p:sp>
        <p:nvSpPr>
          <p:cNvPr id="11" name="Text 9"/>
          <p:cNvSpPr/>
          <p:nvPr/>
        </p:nvSpPr>
        <p:spPr>
          <a:xfrm>
            <a:off x="6537960" y="2240280"/>
            <a:ext cx="1645920" cy="320040"/>
          </a:xfrm>
          <a:prstGeom prst="rect">
            <a:avLst/>
          </a:prstGeom>
          <a:noFill/>
          <a:ln/>
        </p:spPr>
        <p:txBody>
          <a:bodyPr wrap="square" rtlCol="0" anchor="ctr"/>
          <a:lstStyle/>
          <a:p>
            <a:pPr marL="0" indent="0" algn="ctr">
              <a:buNone/>
            </a:pPr>
            <a:r>
              <a:rPr lang="en-US" sz="1800" b="1" dirty="0">
                <a:solidFill>
                  <a:srgbClr val="FFFFFF"/>
                </a:solidFill>
              </a:rPr>
              <a:t>Standards</a:t>
            </a:r>
            <a:endParaRPr lang="en-US" sz="1800" dirty="0"/>
          </a:p>
        </p:txBody>
      </p:sp>
      <p:sp>
        <p:nvSpPr>
          <p:cNvPr id="12" name="Shape 10"/>
          <p:cNvSpPr/>
          <p:nvPr/>
        </p:nvSpPr>
        <p:spPr>
          <a:xfrm>
            <a:off x="8869680" y="2743200"/>
            <a:ext cx="1920240" cy="868680"/>
          </a:xfrm>
          <a:prstGeom prst="roundRect">
            <a:avLst>
              <a:gd name="adj" fmla="val 12632"/>
            </a:avLst>
          </a:prstGeom>
          <a:solidFill>
            <a:srgbClr val="6BA874"/>
          </a:solidFill>
          <a:ln w="12700">
            <a:solidFill>
              <a:srgbClr val="6BA874"/>
            </a:solidFill>
            <a:prstDash val="solid"/>
          </a:ln>
        </p:spPr>
        <p:txBody>
          <a:bodyPr/>
          <a:lstStyle/>
          <a:p>
            <a:endParaRPr lang="en-US"/>
          </a:p>
        </p:txBody>
      </p:sp>
      <p:sp>
        <p:nvSpPr>
          <p:cNvPr id="13" name="Text 11"/>
          <p:cNvSpPr/>
          <p:nvPr/>
        </p:nvSpPr>
        <p:spPr>
          <a:xfrm>
            <a:off x="9006840" y="2971800"/>
            <a:ext cx="1645920" cy="320040"/>
          </a:xfrm>
          <a:prstGeom prst="rect">
            <a:avLst/>
          </a:prstGeom>
          <a:noFill/>
          <a:ln/>
        </p:spPr>
        <p:txBody>
          <a:bodyPr wrap="square" rtlCol="0" anchor="ctr"/>
          <a:lstStyle/>
          <a:p>
            <a:pPr marL="0" indent="0" algn="ctr">
              <a:buNone/>
            </a:pPr>
            <a:r>
              <a:rPr lang="en-US" sz="1800" b="1" dirty="0">
                <a:solidFill>
                  <a:srgbClr val="FFFFFF"/>
                </a:solidFill>
              </a:rPr>
              <a:t>Tools &amp; open</a:t>
            </a:r>
            <a:endParaRPr lang="en-US" sz="1800" dirty="0"/>
          </a:p>
          <a:p>
            <a:pPr marL="0" indent="0" algn="ctr">
              <a:buNone/>
            </a:pPr>
            <a:r>
              <a:rPr lang="en-US" sz="1800" b="1" dirty="0">
                <a:solidFill>
                  <a:srgbClr val="FFFFFF"/>
                </a:solidFill>
              </a:rPr>
              <a:t>infrastructure</a:t>
            </a:r>
            <a:endParaRPr lang="en-US" sz="1800" dirty="0"/>
          </a:p>
        </p:txBody>
      </p:sp>
      <p:sp>
        <p:nvSpPr>
          <p:cNvPr id="19" name="Shape 17"/>
          <p:cNvSpPr/>
          <p:nvPr/>
        </p:nvSpPr>
        <p:spPr>
          <a:xfrm>
            <a:off x="3938454" y="3775163"/>
            <a:ext cx="3977640" cy="868680"/>
          </a:xfrm>
          <a:prstGeom prst="roundRect">
            <a:avLst>
              <a:gd name="adj" fmla="val 12632"/>
            </a:avLst>
          </a:prstGeom>
          <a:solidFill>
            <a:srgbClr val="163A6B"/>
          </a:solidFill>
          <a:ln w="12700">
            <a:solidFill>
              <a:srgbClr val="163A6B"/>
            </a:solidFill>
            <a:prstDash val="solid"/>
          </a:ln>
        </p:spPr>
        <p:txBody>
          <a:bodyPr/>
          <a:lstStyle/>
          <a:p>
            <a:endParaRPr lang="en-US"/>
          </a:p>
        </p:txBody>
      </p:sp>
      <p:sp>
        <p:nvSpPr>
          <p:cNvPr id="20" name="Text 18"/>
          <p:cNvSpPr/>
          <p:nvPr/>
        </p:nvSpPr>
        <p:spPr>
          <a:xfrm>
            <a:off x="4167054" y="4022051"/>
            <a:ext cx="3520440" cy="219456"/>
          </a:xfrm>
          <a:prstGeom prst="rect">
            <a:avLst/>
          </a:prstGeom>
          <a:noFill/>
          <a:ln/>
        </p:spPr>
        <p:txBody>
          <a:bodyPr wrap="square" rtlCol="0" anchor="ctr"/>
          <a:lstStyle/>
          <a:p>
            <a:pPr marL="0" indent="0" algn="ctr">
              <a:buNone/>
            </a:pPr>
            <a:r>
              <a:rPr lang="en-US" sz="2200" b="1" dirty="0">
                <a:solidFill>
                  <a:srgbClr val="FFFFFF"/>
                </a:solidFill>
              </a:rPr>
              <a:t>National data ecosystem</a:t>
            </a:r>
            <a:endParaRPr lang="en-US" sz="2200" dirty="0"/>
          </a:p>
        </p:txBody>
      </p:sp>
      <p:sp>
        <p:nvSpPr>
          <p:cNvPr id="21" name="Text 19"/>
          <p:cNvSpPr/>
          <p:nvPr/>
        </p:nvSpPr>
        <p:spPr>
          <a:xfrm>
            <a:off x="1711778" y="5146762"/>
            <a:ext cx="9378043" cy="418006"/>
          </a:xfrm>
          <a:prstGeom prst="rect">
            <a:avLst/>
          </a:prstGeom>
          <a:noFill/>
          <a:ln/>
        </p:spPr>
        <p:txBody>
          <a:bodyPr wrap="square" rtlCol="0" anchor="ctr"/>
          <a:lstStyle/>
          <a:p>
            <a:pPr marL="0" indent="0" algn="ctr">
              <a:buNone/>
            </a:pPr>
            <a:r>
              <a:rPr lang="en-US" sz="1700" dirty="0">
                <a:solidFill>
                  <a:srgbClr val="1E293B"/>
                </a:solidFill>
              </a:rPr>
              <a:t>Coordinated infrastructure across government, academia, and industry is needed so research data can actually be found, connected, and reused.</a:t>
            </a:r>
            <a:endParaRPr lang="en-US" sz="1700" dirty="0"/>
          </a:p>
        </p:txBody>
      </p:sp>
      <p:sp>
        <p:nvSpPr>
          <p:cNvPr id="22" name="Text 20"/>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4</a:t>
            </a:r>
            <a:endParaRPr lang="en-US" sz="900" dirty="0"/>
          </a:p>
        </p:txBody>
      </p:sp>
      <p:sp>
        <p:nvSpPr>
          <p:cNvPr id="24" name="TextBox 23">
            <a:extLst>
              <a:ext uri="{FF2B5EF4-FFF2-40B4-BE49-F238E27FC236}">
                <a16:creationId xmlns:a16="http://schemas.microsoft.com/office/drawing/2014/main" id="{750A1257-EC94-1729-1890-31EADDBC3A77}"/>
              </a:ext>
            </a:extLst>
          </p:cNvPr>
          <p:cNvSpPr txBox="1"/>
          <p:nvPr/>
        </p:nvSpPr>
        <p:spPr>
          <a:xfrm>
            <a:off x="4193181" y="6276796"/>
            <a:ext cx="7445826" cy="430887"/>
          </a:xfrm>
          <a:prstGeom prst="rect">
            <a:avLst/>
          </a:prstGeom>
          <a:noFill/>
        </p:spPr>
        <p:txBody>
          <a:bodyPr wrap="square">
            <a:spAutoFit/>
          </a:bodyPr>
          <a:lstStyle/>
          <a:p>
            <a:r>
              <a:rPr lang="en-US" sz="1100" dirty="0"/>
              <a:t>Campo et al., “Now Is the Time to Build a National Data Ecosystem for Materials Science and Chemistry Research Data,” ACS Omega (2022): https://</a:t>
            </a:r>
            <a:r>
              <a:rPr lang="en-US" sz="1100" dirty="0" err="1"/>
              <a:t>pubs.acs.org</a:t>
            </a:r>
            <a:r>
              <a:rPr lang="en-US" sz="1100" dirty="0"/>
              <a:t>/</a:t>
            </a:r>
            <a:r>
              <a:rPr lang="en-US" sz="1100" dirty="0" err="1"/>
              <a:t>doi</a:t>
            </a:r>
            <a:r>
              <a:rPr lang="en-US" sz="1100" dirty="0"/>
              <a:t>/10.1021/acsomega.2c00905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Why should you care? Three big wins</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777240" y="1417320"/>
            <a:ext cx="3383280" cy="4389120"/>
          </a:xfrm>
          <a:prstGeom prst="roundRect">
            <a:avLst>
              <a:gd name="adj" fmla="val 3243"/>
            </a:avLst>
          </a:prstGeom>
          <a:solidFill>
            <a:srgbClr val="FDFDFD"/>
          </a:solidFill>
          <a:ln w="12700">
            <a:solidFill>
              <a:srgbClr val="D7E0EA"/>
            </a:solidFill>
            <a:prstDash val="solid"/>
          </a:ln>
        </p:spPr>
        <p:txBody>
          <a:bodyPr/>
          <a:lstStyle/>
          <a:p>
            <a:endParaRPr lang="en-US"/>
          </a:p>
        </p:txBody>
      </p:sp>
      <p:sp>
        <p:nvSpPr>
          <p:cNvPr id="5" name="Shape 3"/>
          <p:cNvSpPr/>
          <p:nvPr/>
        </p:nvSpPr>
        <p:spPr>
          <a:xfrm>
            <a:off x="2103120" y="1783080"/>
            <a:ext cx="713232" cy="713232"/>
          </a:xfrm>
          <a:prstGeom prst="ellipse">
            <a:avLst/>
          </a:prstGeom>
          <a:solidFill>
            <a:srgbClr val="2E6AA6"/>
          </a:solidFill>
          <a:ln w="12700">
            <a:solidFill>
              <a:srgbClr val="2E6AA6"/>
            </a:solidFill>
            <a:prstDash val="solid"/>
          </a:ln>
        </p:spPr>
        <p:txBody>
          <a:bodyPr/>
          <a:lstStyle/>
          <a:p>
            <a:endParaRPr lang="en-US"/>
          </a:p>
        </p:txBody>
      </p:sp>
      <p:sp>
        <p:nvSpPr>
          <p:cNvPr id="6" name="Text 4"/>
          <p:cNvSpPr/>
          <p:nvPr/>
        </p:nvSpPr>
        <p:spPr>
          <a:xfrm>
            <a:off x="2267712" y="1929384"/>
            <a:ext cx="347472" cy="164592"/>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7" name="Text 5"/>
          <p:cNvSpPr/>
          <p:nvPr/>
        </p:nvSpPr>
        <p:spPr>
          <a:xfrm>
            <a:off x="996696" y="2651760"/>
            <a:ext cx="2944368" cy="502920"/>
          </a:xfrm>
          <a:prstGeom prst="rect">
            <a:avLst/>
          </a:prstGeom>
          <a:noFill/>
          <a:ln/>
        </p:spPr>
        <p:txBody>
          <a:bodyPr wrap="square" rtlCol="0" anchor="ctr"/>
          <a:lstStyle/>
          <a:p>
            <a:pPr marL="0" indent="0" algn="ctr">
              <a:buNone/>
            </a:pPr>
            <a:r>
              <a:rPr lang="en-US" sz="2200" b="1" dirty="0">
                <a:solidFill>
                  <a:srgbClr val="163A6B"/>
                </a:solidFill>
              </a:rPr>
              <a:t>Replicability &amp; trust</a:t>
            </a:r>
            <a:endParaRPr lang="en-US" sz="2200" dirty="0"/>
          </a:p>
        </p:txBody>
      </p:sp>
      <p:sp>
        <p:nvSpPr>
          <p:cNvPr id="8" name="Text 6"/>
          <p:cNvSpPr/>
          <p:nvPr/>
        </p:nvSpPr>
        <p:spPr>
          <a:xfrm>
            <a:off x="996696" y="3328416"/>
            <a:ext cx="2880360" cy="1371600"/>
          </a:xfrm>
          <a:prstGeom prst="rect">
            <a:avLst/>
          </a:prstGeom>
          <a:noFill/>
          <a:ln/>
        </p:spPr>
        <p:txBody>
          <a:bodyPr wrap="square" rtlCol="0" anchor="ctr"/>
          <a:lstStyle/>
          <a:p>
            <a:pPr algn="ctr"/>
            <a:r>
              <a:rPr lang="en-US" sz="1600" dirty="0">
                <a:solidFill>
                  <a:srgbClr val="1E293B"/>
                </a:solidFill>
              </a:rPr>
              <a:t>Sharing both data and analysis methods enables replicability (others can re-run the path from raw data to figure) and trust in your methods</a:t>
            </a:r>
            <a:endParaRPr lang="en-US" sz="1600" dirty="0"/>
          </a:p>
        </p:txBody>
      </p:sp>
      <p:sp>
        <p:nvSpPr>
          <p:cNvPr id="9" name="Shape 7"/>
          <p:cNvSpPr/>
          <p:nvPr/>
        </p:nvSpPr>
        <p:spPr>
          <a:xfrm>
            <a:off x="4526280" y="1417320"/>
            <a:ext cx="3383280" cy="4389120"/>
          </a:xfrm>
          <a:prstGeom prst="roundRect">
            <a:avLst>
              <a:gd name="adj" fmla="val 3243"/>
            </a:avLst>
          </a:prstGeom>
          <a:solidFill>
            <a:srgbClr val="FDFDFD"/>
          </a:solidFill>
          <a:ln w="12700">
            <a:solidFill>
              <a:srgbClr val="D7E0EA"/>
            </a:solidFill>
            <a:prstDash val="solid"/>
          </a:ln>
        </p:spPr>
        <p:txBody>
          <a:bodyPr/>
          <a:lstStyle/>
          <a:p>
            <a:endParaRPr lang="en-US"/>
          </a:p>
        </p:txBody>
      </p:sp>
      <p:sp>
        <p:nvSpPr>
          <p:cNvPr id="10" name="Shape 8"/>
          <p:cNvSpPr/>
          <p:nvPr/>
        </p:nvSpPr>
        <p:spPr>
          <a:xfrm>
            <a:off x="5852160" y="1783080"/>
            <a:ext cx="713232" cy="713232"/>
          </a:xfrm>
          <a:prstGeom prst="ellipse">
            <a:avLst/>
          </a:prstGeom>
          <a:solidFill>
            <a:srgbClr val="4D8C57"/>
          </a:solidFill>
          <a:ln w="12700">
            <a:solidFill>
              <a:srgbClr val="4D8C57"/>
            </a:solidFill>
            <a:prstDash val="solid"/>
          </a:ln>
        </p:spPr>
        <p:txBody>
          <a:bodyPr/>
          <a:lstStyle/>
          <a:p>
            <a:endParaRPr lang="en-US"/>
          </a:p>
        </p:txBody>
      </p:sp>
      <p:sp>
        <p:nvSpPr>
          <p:cNvPr id="11" name="Text 9"/>
          <p:cNvSpPr/>
          <p:nvPr/>
        </p:nvSpPr>
        <p:spPr>
          <a:xfrm>
            <a:off x="6016752" y="1929384"/>
            <a:ext cx="347472" cy="164592"/>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12" name="Text 10"/>
          <p:cNvSpPr/>
          <p:nvPr/>
        </p:nvSpPr>
        <p:spPr>
          <a:xfrm>
            <a:off x="4745736" y="2651760"/>
            <a:ext cx="2944368" cy="502920"/>
          </a:xfrm>
          <a:prstGeom prst="rect">
            <a:avLst/>
          </a:prstGeom>
          <a:noFill/>
          <a:ln/>
        </p:spPr>
        <p:txBody>
          <a:bodyPr wrap="square" rtlCol="0" anchor="ctr"/>
          <a:lstStyle/>
          <a:p>
            <a:pPr marL="0" indent="0" algn="ctr">
              <a:buNone/>
            </a:pPr>
            <a:r>
              <a:rPr lang="en-US" sz="2200" b="1" dirty="0">
                <a:solidFill>
                  <a:srgbClr val="163A6B"/>
                </a:solidFill>
              </a:rPr>
              <a:t>Reuse by others (and future you)</a:t>
            </a:r>
            <a:endParaRPr lang="en-US" sz="2200" dirty="0"/>
          </a:p>
        </p:txBody>
      </p:sp>
      <p:sp>
        <p:nvSpPr>
          <p:cNvPr id="13" name="Text 11"/>
          <p:cNvSpPr/>
          <p:nvPr/>
        </p:nvSpPr>
        <p:spPr>
          <a:xfrm>
            <a:off x="4655820" y="3429871"/>
            <a:ext cx="2880360" cy="1371600"/>
          </a:xfrm>
          <a:prstGeom prst="rect">
            <a:avLst/>
          </a:prstGeom>
          <a:noFill/>
          <a:ln/>
        </p:spPr>
        <p:txBody>
          <a:bodyPr wrap="square" rtlCol="0" anchor="ctr"/>
          <a:lstStyle/>
          <a:p>
            <a:pPr marL="0" indent="0" algn="ctr">
              <a:buNone/>
            </a:pPr>
            <a:r>
              <a:rPr lang="en-US" sz="1600" dirty="0">
                <a:solidFill>
                  <a:srgbClr val="1E293B"/>
                </a:solidFill>
              </a:rPr>
              <a:t>Well-structured data; consistent file names, metadata, and code turn a one-off experiment into a reusable asset.</a:t>
            </a:r>
            <a:endParaRPr lang="en-US" sz="1600" dirty="0"/>
          </a:p>
        </p:txBody>
      </p:sp>
      <p:sp>
        <p:nvSpPr>
          <p:cNvPr id="14" name="Shape 12"/>
          <p:cNvSpPr/>
          <p:nvPr/>
        </p:nvSpPr>
        <p:spPr>
          <a:xfrm>
            <a:off x="8275320" y="1417320"/>
            <a:ext cx="3383280" cy="4389120"/>
          </a:xfrm>
          <a:prstGeom prst="roundRect">
            <a:avLst>
              <a:gd name="adj" fmla="val 3243"/>
            </a:avLst>
          </a:prstGeom>
          <a:solidFill>
            <a:srgbClr val="FDFDFD"/>
          </a:solidFill>
          <a:ln w="12700">
            <a:solidFill>
              <a:srgbClr val="D7E0EA"/>
            </a:solidFill>
            <a:prstDash val="solid"/>
          </a:ln>
        </p:spPr>
        <p:txBody>
          <a:bodyPr/>
          <a:lstStyle/>
          <a:p>
            <a:endParaRPr lang="en-US"/>
          </a:p>
        </p:txBody>
      </p:sp>
      <p:sp>
        <p:nvSpPr>
          <p:cNvPr id="15" name="Shape 13"/>
          <p:cNvSpPr/>
          <p:nvPr/>
        </p:nvSpPr>
        <p:spPr>
          <a:xfrm>
            <a:off x="9601200" y="1783080"/>
            <a:ext cx="713232" cy="713232"/>
          </a:xfrm>
          <a:prstGeom prst="ellipse">
            <a:avLst/>
          </a:prstGeom>
          <a:solidFill>
            <a:srgbClr val="D97706"/>
          </a:solidFill>
          <a:ln w="12700">
            <a:solidFill>
              <a:srgbClr val="D97706"/>
            </a:solidFill>
            <a:prstDash val="solid"/>
          </a:ln>
        </p:spPr>
        <p:txBody>
          <a:bodyPr/>
          <a:lstStyle/>
          <a:p>
            <a:endParaRPr lang="en-US"/>
          </a:p>
        </p:txBody>
      </p:sp>
      <p:sp>
        <p:nvSpPr>
          <p:cNvPr id="16" name="Text 14"/>
          <p:cNvSpPr/>
          <p:nvPr/>
        </p:nvSpPr>
        <p:spPr>
          <a:xfrm>
            <a:off x="9765792" y="1929384"/>
            <a:ext cx="347472" cy="164592"/>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17" name="Text 15"/>
          <p:cNvSpPr/>
          <p:nvPr/>
        </p:nvSpPr>
        <p:spPr>
          <a:xfrm>
            <a:off x="8494776" y="2651760"/>
            <a:ext cx="2944368" cy="502920"/>
          </a:xfrm>
          <a:prstGeom prst="rect">
            <a:avLst/>
          </a:prstGeom>
          <a:noFill/>
          <a:ln/>
        </p:spPr>
        <p:txBody>
          <a:bodyPr wrap="square" rtlCol="0" anchor="ctr"/>
          <a:lstStyle/>
          <a:p>
            <a:pPr marL="0" indent="0" algn="ctr">
              <a:buNone/>
            </a:pPr>
            <a:r>
              <a:rPr lang="en-US" sz="2200" b="1" dirty="0">
                <a:solidFill>
                  <a:srgbClr val="163A6B"/>
                </a:solidFill>
              </a:rPr>
              <a:t>Scales to teams &amp; AI</a:t>
            </a:r>
            <a:endParaRPr lang="en-US" sz="2200" dirty="0"/>
          </a:p>
        </p:txBody>
      </p:sp>
      <p:sp>
        <p:nvSpPr>
          <p:cNvPr id="18" name="Text 16"/>
          <p:cNvSpPr/>
          <p:nvPr/>
        </p:nvSpPr>
        <p:spPr>
          <a:xfrm>
            <a:off x="8522208" y="3310128"/>
            <a:ext cx="2880360" cy="1371600"/>
          </a:xfrm>
          <a:prstGeom prst="rect">
            <a:avLst/>
          </a:prstGeom>
          <a:noFill/>
          <a:ln/>
        </p:spPr>
        <p:txBody>
          <a:bodyPr wrap="square" rtlCol="0" anchor="ctr"/>
          <a:lstStyle/>
          <a:p>
            <a:pPr marL="0" indent="0" algn="ctr">
              <a:buNone/>
            </a:pPr>
            <a:r>
              <a:rPr lang="en-US" sz="1600" dirty="0">
                <a:solidFill>
                  <a:srgbClr val="1E293B"/>
                </a:solidFill>
              </a:rPr>
              <a:t>Well-structured data is what lets labs collaborate, automate, and learn faster. </a:t>
            </a:r>
          </a:p>
          <a:p>
            <a:pPr marL="0" indent="0" algn="ctr">
              <a:buNone/>
            </a:pPr>
            <a:r>
              <a:rPr lang="en-US" sz="1600" dirty="0">
                <a:solidFill>
                  <a:srgbClr val="1E293B"/>
                </a:solidFill>
              </a:rPr>
              <a:t>It enables AI.</a:t>
            </a:r>
            <a:endParaRPr lang="en-US" sz="1600" dirty="0"/>
          </a:p>
        </p:txBody>
      </p:sp>
      <p:sp>
        <p:nvSpPr>
          <p:cNvPr id="19" name="Text 17"/>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Why TEM data need context</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822960" y="1531254"/>
            <a:ext cx="2880360" cy="4206240"/>
          </a:xfrm>
          <a:prstGeom prst="roundRect">
            <a:avLst>
              <a:gd name="adj" fmla="val 3810"/>
            </a:avLst>
          </a:prstGeom>
          <a:solidFill>
            <a:srgbClr val="F7F7F7"/>
          </a:solidFill>
          <a:ln w="12700">
            <a:solidFill>
              <a:srgbClr val="D7E0EA"/>
            </a:solidFill>
            <a:prstDash val="solid"/>
          </a:ln>
        </p:spPr>
        <p:txBody>
          <a:bodyPr/>
          <a:lstStyle/>
          <a:p>
            <a:endParaRPr lang="en-US"/>
          </a:p>
        </p:txBody>
      </p:sp>
      <p:sp>
        <p:nvSpPr>
          <p:cNvPr id="5" name="Shape 3"/>
          <p:cNvSpPr/>
          <p:nvPr/>
        </p:nvSpPr>
        <p:spPr>
          <a:xfrm>
            <a:off x="1051560" y="1897014"/>
            <a:ext cx="73152" cy="73152"/>
          </a:xfrm>
          <a:prstGeom prst="ellipse">
            <a:avLst/>
          </a:prstGeom>
          <a:solidFill>
            <a:srgbClr val="5A5A5A"/>
          </a:solidFill>
          <a:ln w="12700">
            <a:solidFill>
              <a:srgbClr val="5A5A5A"/>
            </a:solidFill>
            <a:prstDash val="solid"/>
          </a:ln>
        </p:spPr>
        <p:txBody>
          <a:bodyPr/>
          <a:lstStyle/>
          <a:p>
            <a:endParaRPr lang="en-US"/>
          </a:p>
        </p:txBody>
      </p:sp>
      <p:sp>
        <p:nvSpPr>
          <p:cNvPr id="6" name="Shape 4"/>
          <p:cNvSpPr/>
          <p:nvPr/>
        </p:nvSpPr>
        <p:spPr>
          <a:xfrm>
            <a:off x="1216152" y="1897014"/>
            <a:ext cx="73152" cy="73152"/>
          </a:xfrm>
          <a:prstGeom prst="ellipse">
            <a:avLst/>
          </a:prstGeom>
          <a:solidFill>
            <a:srgbClr val="6B6B6B"/>
          </a:solidFill>
          <a:ln w="12700">
            <a:solidFill>
              <a:srgbClr val="6B6B6B"/>
            </a:solidFill>
            <a:prstDash val="solid"/>
          </a:ln>
        </p:spPr>
        <p:txBody>
          <a:bodyPr/>
          <a:lstStyle/>
          <a:p>
            <a:endParaRPr lang="en-US"/>
          </a:p>
        </p:txBody>
      </p:sp>
      <p:sp>
        <p:nvSpPr>
          <p:cNvPr id="7" name="Shape 5"/>
          <p:cNvSpPr/>
          <p:nvPr/>
        </p:nvSpPr>
        <p:spPr>
          <a:xfrm>
            <a:off x="1380744" y="1897014"/>
            <a:ext cx="73152" cy="73152"/>
          </a:xfrm>
          <a:prstGeom prst="ellipse">
            <a:avLst/>
          </a:prstGeom>
          <a:solidFill>
            <a:srgbClr val="7C7C7C"/>
          </a:solidFill>
          <a:ln w="12700">
            <a:solidFill>
              <a:srgbClr val="7C7C7C"/>
            </a:solidFill>
            <a:prstDash val="solid"/>
          </a:ln>
        </p:spPr>
        <p:txBody>
          <a:bodyPr/>
          <a:lstStyle/>
          <a:p>
            <a:endParaRPr lang="en-US"/>
          </a:p>
        </p:txBody>
      </p:sp>
      <p:sp>
        <p:nvSpPr>
          <p:cNvPr id="8" name="Shape 6"/>
          <p:cNvSpPr/>
          <p:nvPr/>
        </p:nvSpPr>
        <p:spPr>
          <a:xfrm>
            <a:off x="1545336" y="1897014"/>
            <a:ext cx="73152" cy="73152"/>
          </a:xfrm>
          <a:prstGeom prst="ellipse">
            <a:avLst/>
          </a:prstGeom>
          <a:solidFill>
            <a:srgbClr val="8D8D8D"/>
          </a:solidFill>
          <a:ln w="12700">
            <a:solidFill>
              <a:srgbClr val="8D8D8D"/>
            </a:solidFill>
            <a:prstDash val="solid"/>
          </a:ln>
        </p:spPr>
        <p:txBody>
          <a:bodyPr/>
          <a:lstStyle/>
          <a:p>
            <a:endParaRPr lang="en-US"/>
          </a:p>
        </p:txBody>
      </p:sp>
      <p:sp>
        <p:nvSpPr>
          <p:cNvPr id="9" name="Shape 7"/>
          <p:cNvSpPr/>
          <p:nvPr/>
        </p:nvSpPr>
        <p:spPr>
          <a:xfrm>
            <a:off x="1709928" y="1897014"/>
            <a:ext cx="73152" cy="73152"/>
          </a:xfrm>
          <a:prstGeom prst="ellipse">
            <a:avLst/>
          </a:prstGeom>
          <a:solidFill>
            <a:srgbClr val="9E9E9E"/>
          </a:solidFill>
          <a:ln w="12700">
            <a:solidFill>
              <a:srgbClr val="9E9E9E"/>
            </a:solidFill>
            <a:prstDash val="solid"/>
          </a:ln>
        </p:spPr>
        <p:txBody>
          <a:bodyPr/>
          <a:lstStyle/>
          <a:p>
            <a:endParaRPr lang="en-US"/>
          </a:p>
        </p:txBody>
      </p:sp>
      <p:sp>
        <p:nvSpPr>
          <p:cNvPr id="10" name="Shape 8"/>
          <p:cNvSpPr/>
          <p:nvPr/>
        </p:nvSpPr>
        <p:spPr>
          <a:xfrm>
            <a:off x="1874520" y="1897014"/>
            <a:ext cx="73152" cy="73152"/>
          </a:xfrm>
          <a:prstGeom prst="ellipse">
            <a:avLst/>
          </a:prstGeom>
          <a:solidFill>
            <a:srgbClr val="AFAFAF"/>
          </a:solidFill>
          <a:ln w="12700">
            <a:solidFill>
              <a:srgbClr val="AFAFAF"/>
            </a:solidFill>
            <a:prstDash val="solid"/>
          </a:ln>
        </p:spPr>
        <p:txBody>
          <a:bodyPr/>
          <a:lstStyle/>
          <a:p>
            <a:endParaRPr lang="en-US"/>
          </a:p>
        </p:txBody>
      </p:sp>
      <p:sp>
        <p:nvSpPr>
          <p:cNvPr id="11" name="Shape 9"/>
          <p:cNvSpPr/>
          <p:nvPr/>
        </p:nvSpPr>
        <p:spPr>
          <a:xfrm>
            <a:off x="2039112" y="1897014"/>
            <a:ext cx="73152" cy="73152"/>
          </a:xfrm>
          <a:prstGeom prst="ellipse">
            <a:avLst/>
          </a:prstGeom>
          <a:solidFill>
            <a:srgbClr val="C0C0C0"/>
          </a:solidFill>
          <a:ln w="12700">
            <a:solidFill>
              <a:srgbClr val="C0C0C0"/>
            </a:solidFill>
            <a:prstDash val="solid"/>
          </a:ln>
        </p:spPr>
        <p:txBody>
          <a:bodyPr/>
          <a:lstStyle/>
          <a:p>
            <a:endParaRPr lang="en-US"/>
          </a:p>
        </p:txBody>
      </p:sp>
      <p:sp>
        <p:nvSpPr>
          <p:cNvPr id="12" name="Shape 10"/>
          <p:cNvSpPr/>
          <p:nvPr/>
        </p:nvSpPr>
        <p:spPr>
          <a:xfrm>
            <a:off x="2203704" y="1897014"/>
            <a:ext cx="73152" cy="73152"/>
          </a:xfrm>
          <a:prstGeom prst="ellipse">
            <a:avLst/>
          </a:prstGeom>
          <a:solidFill>
            <a:srgbClr val="D1D1D1"/>
          </a:solidFill>
          <a:ln w="12700">
            <a:solidFill>
              <a:srgbClr val="D1D1D1"/>
            </a:solidFill>
            <a:prstDash val="solid"/>
          </a:ln>
        </p:spPr>
        <p:txBody>
          <a:bodyPr/>
          <a:lstStyle/>
          <a:p>
            <a:endParaRPr lang="en-US"/>
          </a:p>
        </p:txBody>
      </p:sp>
      <p:sp>
        <p:nvSpPr>
          <p:cNvPr id="13" name="Shape 11"/>
          <p:cNvSpPr/>
          <p:nvPr/>
        </p:nvSpPr>
        <p:spPr>
          <a:xfrm>
            <a:off x="2368296" y="1897014"/>
            <a:ext cx="73152" cy="73152"/>
          </a:xfrm>
          <a:prstGeom prst="ellipse">
            <a:avLst/>
          </a:prstGeom>
          <a:solidFill>
            <a:srgbClr val="6A6A6A"/>
          </a:solidFill>
          <a:ln w="12700">
            <a:solidFill>
              <a:srgbClr val="6A6A6A"/>
            </a:solidFill>
            <a:prstDash val="solid"/>
          </a:ln>
        </p:spPr>
        <p:txBody>
          <a:bodyPr/>
          <a:lstStyle/>
          <a:p>
            <a:endParaRPr lang="en-US"/>
          </a:p>
        </p:txBody>
      </p:sp>
      <p:sp>
        <p:nvSpPr>
          <p:cNvPr id="14" name="Shape 12"/>
          <p:cNvSpPr/>
          <p:nvPr/>
        </p:nvSpPr>
        <p:spPr>
          <a:xfrm>
            <a:off x="2532888" y="1897014"/>
            <a:ext cx="73152" cy="73152"/>
          </a:xfrm>
          <a:prstGeom prst="ellipse">
            <a:avLst/>
          </a:prstGeom>
          <a:solidFill>
            <a:srgbClr val="7B7B7B"/>
          </a:solidFill>
          <a:ln w="12700">
            <a:solidFill>
              <a:srgbClr val="7B7B7B"/>
            </a:solidFill>
            <a:prstDash val="solid"/>
          </a:ln>
        </p:spPr>
        <p:txBody>
          <a:bodyPr/>
          <a:lstStyle/>
          <a:p>
            <a:endParaRPr lang="en-US"/>
          </a:p>
        </p:txBody>
      </p:sp>
      <p:sp>
        <p:nvSpPr>
          <p:cNvPr id="15" name="Shape 13"/>
          <p:cNvSpPr/>
          <p:nvPr/>
        </p:nvSpPr>
        <p:spPr>
          <a:xfrm>
            <a:off x="2697480" y="1897014"/>
            <a:ext cx="73152" cy="73152"/>
          </a:xfrm>
          <a:prstGeom prst="ellipse">
            <a:avLst/>
          </a:prstGeom>
          <a:solidFill>
            <a:srgbClr val="8C8C8C"/>
          </a:solidFill>
          <a:ln w="12700">
            <a:solidFill>
              <a:srgbClr val="8C8C8C"/>
            </a:solidFill>
            <a:prstDash val="solid"/>
          </a:ln>
        </p:spPr>
        <p:txBody>
          <a:bodyPr/>
          <a:lstStyle/>
          <a:p>
            <a:endParaRPr lang="en-US"/>
          </a:p>
        </p:txBody>
      </p:sp>
      <p:sp>
        <p:nvSpPr>
          <p:cNvPr id="16" name="Shape 14"/>
          <p:cNvSpPr/>
          <p:nvPr/>
        </p:nvSpPr>
        <p:spPr>
          <a:xfrm>
            <a:off x="2862072" y="1897014"/>
            <a:ext cx="73152" cy="73152"/>
          </a:xfrm>
          <a:prstGeom prst="ellipse">
            <a:avLst/>
          </a:prstGeom>
          <a:solidFill>
            <a:srgbClr val="9D9D9D"/>
          </a:solidFill>
          <a:ln w="12700">
            <a:solidFill>
              <a:srgbClr val="9D9D9D"/>
            </a:solidFill>
            <a:prstDash val="solid"/>
          </a:ln>
        </p:spPr>
        <p:txBody>
          <a:bodyPr/>
          <a:lstStyle/>
          <a:p>
            <a:endParaRPr lang="en-US"/>
          </a:p>
        </p:txBody>
      </p:sp>
      <p:sp>
        <p:nvSpPr>
          <p:cNvPr id="17" name="Shape 15"/>
          <p:cNvSpPr/>
          <p:nvPr/>
        </p:nvSpPr>
        <p:spPr>
          <a:xfrm>
            <a:off x="3026664" y="1897014"/>
            <a:ext cx="73152" cy="73152"/>
          </a:xfrm>
          <a:prstGeom prst="ellipse">
            <a:avLst/>
          </a:prstGeom>
          <a:solidFill>
            <a:srgbClr val="AEAEAE"/>
          </a:solidFill>
          <a:ln w="12700">
            <a:solidFill>
              <a:srgbClr val="AEAEAE"/>
            </a:solidFill>
            <a:prstDash val="solid"/>
          </a:ln>
        </p:spPr>
        <p:txBody>
          <a:bodyPr/>
          <a:lstStyle/>
          <a:p>
            <a:endParaRPr lang="en-US"/>
          </a:p>
        </p:txBody>
      </p:sp>
      <p:sp>
        <p:nvSpPr>
          <p:cNvPr id="18" name="Shape 16"/>
          <p:cNvSpPr/>
          <p:nvPr/>
        </p:nvSpPr>
        <p:spPr>
          <a:xfrm>
            <a:off x="3191256" y="1897014"/>
            <a:ext cx="73152" cy="73152"/>
          </a:xfrm>
          <a:prstGeom prst="ellipse">
            <a:avLst/>
          </a:prstGeom>
          <a:solidFill>
            <a:srgbClr val="BFBFBF"/>
          </a:solidFill>
          <a:ln w="12700">
            <a:solidFill>
              <a:srgbClr val="BFBFBF"/>
            </a:solidFill>
            <a:prstDash val="solid"/>
          </a:ln>
        </p:spPr>
        <p:txBody>
          <a:bodyPr/>
          <a:lstStyle/>
          <a:p>
            <a:endParaRPr lang="en-US"/>
          </a:p>
        </p:txBody>
      </p:sp>
      <p:sp>
        <p:nvSpPr>
          <p:cNvPr id="19" name="Shape 17"/>
          <p:cNvSpPr/>
          <p:nvPr/>
        </p:nvSpPr>
        <p:spPr>
          <a:xfrm>
            <a:off x="1051560" y="2107326"/>
            <a:ext cx="73152" cy="73152"/>
          </a:xfrm>
          <a:prstGeom prst="ellipse">
            <a:avLst/>
          </a:prstGeom>
          <a:solidFill>
            <a:srgbClr val="D0D0D0"/>
          </a:solidFill>
          <a:ln w="12700">
            <a:solidFill>
              <a:srgbClr val="D0D0D0"/>
            </a:solidFill>
            <a:prstDash val="solid"/>
          </a:ln>
        </p:spPr>
        <p:txBody>
          <a:bodyPr/>
          <a:lstStyle/>
          <a:p>
            <a:endParaRPr lang="en-US"/>
          </a:p>
        </p:txBody>
      </p:sp>
      <p:sp>
        <p:nvSpPr>
          <p:cNvPr id="20" name="Shape 18"/>
          <p:cNvSpPr/>
          <p:nvPr/>
        </p:nvSpPr>
        <p:spPr>
          <a:xfrm>
            <a:off x="1216152" y="2107326"/>
            <a:ext cx="73152" cy="73152"/>
          </a:xfrm>
          <a:prstGeom prst="ellipse">
            <a:avLst/>
          </a:prstGeom>
          <a:solidFill>
            <a:srgbClr val="696969"/>
          </a:solidFill>
          <a:ln w="12700">
            <a:solidFill>
              <a:srgbClr val="696969"/>
            </a:solidFill>
            <a:prstDash val="solid"/>
          </a:ln>
        </p:spPr>
        <p:txBody>
          <a:bodyPr/>
          <a:lstStyle/>
          <a:p>
            <a:endParaRPr lang="en-US"/>
          </a:p>
        </p:txBody>
      </p:sp>
      <p:sp>
        <p:nvSpPr>
          <p:cNvPr id="21" name="Shape 19"/>
          <p:cNvSpPr/>
          <p:nvPr/>
        </p:nvSpPr>
        <p:spPr>
          <a:xfrm>
            <a:off x="1380744" y="2107326"/>
            <a:ext cx="73152" cy="73152"/>
          </a:xfrm>
          <a:prstGeom prst="ellipse">
            <a:avLst/>
          </a:prstGeom>
          <a:solidFill>
            <a:srgbClr val="7A7A7A"/>
          </a:solidFill>
          <a:ln w="12700">
            <a:solidFill>
              <a:srgbClr val="7A7A7A"/>
            </a:solidFill>
            <a:prstDash val="solid"/>
          </a:ln>
        </p:spPr>
        <p:txBody>
          <a:bodyPr/>
          <a:lstStyle/>
          <a:p>
            <a:endParaRPr lang="en-US"/>
          </a:p>
        </p:txBody>
      </p:sp>
      <p:sp>
        <p:nvSpPr>
          <p:cNvPr id="22" name="Shape 20"/>
          <p:cNvSpPr/>
          <p:nvPr/>
        </p:nvSpPr>
        <p:spPr>
          <a:xfrm>
            <a:off x="1545336" y="2107326"/>
            <a:ext cx="73152" cy="73152"/>
          </a:xfrm>
          <a:prstGeom prst="ellipse">
            <a:avLst/>
          </a:prstGeom>
          <a:solidFill>
            <a:srgbClr val="8B8B8B"/>
          </a:solidFill>
          <a:ln w="12700">
            <a:solidFill>
              <a:srgbClr val="8B8B8B"/>
            </a:solidFill>
            <a:prstDash val="solid"/>
          </a:ln>
        </p:spPr>
        <p:txBody>
          <a:bodyPr/>
          <a:lstStyle/>
          <a:p>
            <a:endParaRPr lang="en-US"/>
          </a:p>
        </p:txBody>
      </p:sp>
      <p:sp>
        <p:nvSpPr>
          <p:cNvPr id="23" name="Shape 21"/>
          <p:cNvSpPr/>
          <p:nvPr/>
        </p:nvSpPr>
        <p:spPr>
          <a:xfrm>
            <a:off x="1709928" y="2107326"/>
            <a:ext cx="73152" cy="73152"/>
          </a:xfrm>
          <a:prstGeom prst="ellipse">
            <a:avLst/>
          </a:prstGeom>
          <a:solidFill>
            <a:srgbClr val="9C9C9C"/>
          </a:solidFill>
          <a:ln w="12700">
            <a:solidFill>
              <a:srgbClr val="9C9C9C"/>
            </a:solidFill>
            <a:prstDash val="solid"/>
          </a:ln>
        </p:spPr>
        <p:txBody>
          <a:bodyPr/>
          <a:lstStyle/>
          <a:p>
            <a:endParaRPr lang="en-US"/>
          </a:p>
        </p:txBody>
      </p:sp>
      <p:sp>
        <p:nvSpPr>
          <p:cNvPr id="24" name="Shape 22"/>
          <p:cNvSpPr/>
          <p:nvPr/>
        </p:nvSpPr>
        <p:spPr>
          <a:xfrm>
            <a:off x="1874520" y="2107326"/>
            <a:ext cx="73152" cy="73152"/>
          </a:xfrm>
          <a:prstGeom prst="ellipse">
            <a:avLst/>
          </a:prstGeom>
          <a:solidFill>
            <a:srgbClr val="ADADAD"/>
          </a:solidFill>
          <a:ln w="12700">
            <a:solidFill>
              <a:srgbClr val="ADADAD"/>
            </a:solidFill>
            <a:prstDash val="solid"/>
          </a:ln>
        </p:spPr>
        <p:txBody>
          <a:bodyPr/>
          <a:lstStyle/>
          <a:p>
            <a:endParaRPr lang="en-US"/>
          </a:p>
        </p:txBody>
      </p:sp>
      <p:sp>
        <p:nvSpPr>
          <p:cNvPr id="25" name="Shape 23"/>
          <p:cNvSpPr/>
          <p:nvPr/>
        </p:nvSpPr>
        <p:spPr>
          <a:xfrm>
            <a:off x="2039112" y="2107326"/>
            <a:ext cx="73152" cy="73152"/>
          </a:xfrm>
          <a:prstGeom prst="ellipse">
            <a:avLst/>
          </a:prstGeom>
          <a:solidFill>
            <a:srgbClr val="BEBEBE"/>
          </a:solidFill>
          <a:ln w="12700">
            <a:solidFill>
              <a:srgbClr val="BEBEBE"/>
            </a:solidFill>
            <a:prstDash val="solid"/>
          </a:ln>
        </p:spPr>
        <p:txBody>
          <a:bodyPr/>
          <a:lstStyle/>
          <a:p>
            <a:endParaRPr lang="en-US"/>
          </a:p>
        </p:txBody>
      </p:sp>
      <p:sp>
        <p:nvSpPr>
          <p:cNvPr id="26" name="Shape 24"/>
          <p:cNvSpPr/>
          <p:nvPr/>
        </p:nvSpPr>
        <p:spPr>
          <a:xfrm>
            <a:off x="2203704" y="2107326"/>
            <a:ext cx="73152" cy="73152"/>
          </a:xfrm>
          <a:prstGeom prst="ellipse">
            <a:avLst/>
          </a:prstGeom>
          <a:solidFill>
            <a:srgbClr val="CFCFCF"/>
          </a:solidFill>
          <a:ln w="12700">
            <a:solidFill>
              <a:srgbClr val="CFCFCF"/>
            </a:solidFill>
            <a:prstDash val="solid"/>
          </a:ln>
        </p:spPr>
        <p:txBody>
          <a:bodyPr/>
          <a:lstStyle/>
          <a:p>
            <a:endParaRPr lang="en-US"/>
          </a:p>
        </p:txBody>
      </p:sp>
      <p:sp>
        <p:nvSpPr>
          <p:cNvPr id="27" name="Shape 25"/>
          <p:cNvSpPr/>
          <p:nvPr/>
        </p:nvSpPr>
        <p:spPr>
          <a:xfrm>
            <a:off x="2368296" y="2107326"/>
            <a:ext cx="73152" cy="73152"/>
          </a:xfrm>
          <a:prstGeom prst="ellipse">
            <a:avLst/>
          </a:prstGeom>
          <a:solidFill>
            <a:srgbClr val="686868"/>
          </a:solidFill>
          <a:ln w="12700">
            <a:solidFill>
              <a:srgbClr val="686868"/>
            </a:solidFill>
            <a:prstDash val="solid"/>
          </a:ln>
        </p:spPr>
        <p:txBody>
          <a:bodyPr/>
          <a:lstStyle/>
          <a:p>
            <a:endParaRPr lang="en-US"/>
          </a:p>
        </p:txBody>
      </p:sp>
      <p:sp>
        <p:nvSpPr>
          <p:cNvPr id="28" name="Shape 26"/>
          <p:cNvSpPr/>
          <p:nvPr/>
        </p:nvSpPr>
        <p:spPr>
          <a:xfrm>
            <a:off x="2532888" y="2107326"/>
            <a:ext cx="73152" cy="73152"/>
          </a:xfrm>
          <a:prstGeom prst="ellipse">
            <a:avLst/>
          </a:prstGeom>
          <a:solidFill>
            <a:srgbClr val="797979"/>
          </a:solidFill>
          <a:ln w="12700">
            <a:solidFill>
              <a:srgbClr val="797979"/>
            </a:solidFill>
            <a:prstDash val="solid"/>
          </a:ln>
        </p:spPr>
        <p:txBody>
          <a:bodyPr/>
          <a:lstStyle/>
          <a:p>
            <a:endParaRPr lang="en-US"/>
          </a:p>
        </p:txBody>
      </p:sp>
      <p:sp>
        <p:nvSpPr>
          <p:cNvPr id="29" name="Shape 27"/>
          <p:cNvSpPr/>
          <p:nvPr/>
        </p:nvSpPr>
        <p:spPr>
          <a:xfrm>
            <a:off x="2697480" y="2107326"/>
            <a:ext cx="73152" cy="73152"/>
          </a:xfrm>
          <a:prstGeom prst="ellipse">
            <a:avLst/>
          </a:prstGeom>
          <a:solidFill>
            <a:srgbClr val="8A8A8A"/>
          </a:solidFill>
          <a:ln w="12700">
            <a:solidFill>
              <a:srgbClr val="8A8A8A"/>
            </a:solidFill>
            <a:prstDash val="solid"/>
          </a:ln>
        </p:spPr>
        <p:txBody>
          <a:bodyPr/>
          <a:lstStyle/>
          <a:p>
            <a:endParaRPr lang="en-US"/>
          </a:p>
        </p:txBody>
      </p:sp>
      <p:sp>
        <p:nvSpPr>
          <p:cNvPr id="30" name="Shape 28"/>
          <p:cNvSpPr/>
          <p:nvPr/>
        </p:nvSpPr>
        <p:spPr>
          <a:xfrm>
            <a:off x="2862072" y="2107326"/>
            <a:ext cx="73152" cy="73152"/>
          </a:xfrm>
          <a:prstGeom prst="ellipse">
            <a:avLst/>
          </a:prstGeom>
          <a:solidFill>
            <a:srgbClr val="9B9B9B"/>
          </a:solidFill>
          <a:ln w="12700">
            <a:solidFill>
              <a:srgbClr val="9B9B9B"/>
            </a:solidFill>
            <a:prstDash val="solid"/>
          </a:ln>
        </p:spPr>
        <p:txBody>
          <a:bodyPr/>
          <a:lstStyle/>
          <a:p>
            <a:endParaRPr lang="en-US"/>
          </a:p>
        </p:txBody>
      </p:sp>
      <p:sp>
        <p:nvSpPr>
          <p:cNvPr id="31" name="Shape 29"/>
          <p:cNvSpPr/>
          <p:nvPr/>
        </p:nvSpPr>
        <p:spPr>
          <a:xfrm>
            <a:off x="3026664" y="2107326"/>
            <a:ext cx="73152" cy="73152"/>
          </a:xfrm>
          <a:prstGeom prst="ellipse">
            <a:avLst/>
          </a:prstGeom>
          <a:solidFill>
            <a:srgbClr val="ACACAC"/>
          </a:solidFill>
          <a:ln w="12700">
            <a:solidFill>
              <a:srgbClr val="ACACAC"/>
            </a:solidFill>
            <a:prstDash val="solid"/>
          </a:ln>
        </p:spPr>
        <p:txBody>
          <a:bodyPr/>
          <a:lstStyle/>
          <a:p>
            <a:endParaRPr lang="en-US"/>
          </a:p>
        </p:txBody>
      </p:sp>
      <p:sp>
        <p:nvSpPr>
          <p:cNvPr id="32" name="Shape 30"/>
          <p:cNvSpPr/>
          <p:nvPr/>
        </p:nvSpPr>
        <p:spPr>
          <a:xfrm>
            <a:off x="3191256" y="2107326"/>
            <a:ext cx="73152" cy="73152"/>
          </a:xfrm>
          <a:prstGeom prst="ellipse">
            <a:avLst/>
          </a:prstGeom>
          <a:solidFill>
            <a:srgbClr val="BDBDBD"/>
          </a:solidFill>
          <a:ln w="12700">
            <a:solidFill>
              <a:srgbClr val="BDBDBD"/>
            </a:solidFill>
            <a:prstDash val="solid"/>
          </a:ln>
        </p:spPr>
        <p:txBody>
          <a:bodyPr/>
          <a:lstStyle/>
          <a:p>
            <a:endParaRPr lang="en-US"/>
          </a:p>
        </p:txBody>
      </p:sp>
      <p:sp>
        <p:nvSpPr>
          <p:cNvPr id="33" name="Shape 31"/>
          <p:cNvSpPr/>
          <p:nvPr/>
        </p:nvSpPr>
        <p:spPr>
          <a:xfrm>
            <a:off x="1051560" y="2317638"/>
            <a:ext cx="73152" cy="73152"/>
          </a:xfrm>
          <a:prstGeom prst="ellipse">
            <a:avLst/>
          </a:prstGeom>
          <a:solidFill>
            <a:srgbClr val="CECECE"/>
          </a:solidFill>
          <a:ln w="12700">
            <a:solidFill>
              <a:srgbClr val="CECECE"/>
            </a:solidFill>
            <a:prstDash val="solid"/>
          </a:ln>
        </p:spPr>
        <p:txBody>
          <a:bodyPr/>
          <a:lstStyle/>
          <a:p>
            <a:endParaRPr lang="en-US"/>
          </a:p>
        </p:txBody>
      </p:sp>
      <p:sp>
        <p:nvSpPr>
          <p:cNvPr id="34" name="Shape 32"/>
          <p:cNvSpPr/>
          <p:nvPr/>
        </p:nvSpPr>
        <p:spPr>
          <a:xfrm>
            <a:off x="1216152" y="2317638"/>
            <a:ext cx="73152" cy="73152"/>
          </a:xfrm>
          <a:prstGeom prst="ellipse">
            <a:avLst/>
          </a:prstGeom>
          <a:solidFill>
            <a:srgbClr val="676767"/>
          </a:solidFill>
          <a:ln w="12700">
            <a:solidFill>
              <a:srgbClr val="676767"/>
            </a:solidFill>
            <a:prstDash val="solid"/>
          </a:ln>
        </p:spPr>
        <p:txBody>
          <a:bodyPr/>
          <a:lstStyle/>
          <a:p>
            <a:endParaRPr lang="en-US"/>
          </a:p>
        </p:txBody>
      </p:sp>
      <p:sp>
        <p:nvSpPr>
          <p:cNvPr id="35" name="Shape 33"/>
          <p:cNvSpPr/>
          <p:nvPr/>
        </p:nvSpPr>
        <p:spPr>
          <a:xfrm>
            <a:off x="1380744" y="2317638"/>
            <a:ext cx="73152" cy="73152"/>
          </a:xfrm>
          <a:prstGeom prst="ellipse">
            <a:avLst/>
          </a:prstGeom>
          <a:solidFill>
            <a:srgbClr val="787878"/>
          </a:solidFill>
          <a:ln w="12700">
            <a:solidFill>
              <a:srgbClr val="787878"/>
            </a:solidFill>
            <a:prstDash val="solid"/>
          </a:ln>
        </p:spPr>
        <p:txBody>
          <a:bodyPr/>
          <a:lstStyle/>
          <a:p>
            <a:endParaRPr lang="en-US"/>
          </a:p>
        </p:txBody>
      </p:sp>
      <p:sp>
        <p:nvSpPr>
          <p:cNvPr id="36" name="Shape 34"/>
          <p:cNvSpPr/>
          <p:nvPr/>
        </p:nvSpPr>
        <p:spPr>
          <a:xfrm>
            <a:off x="1545336" y="2317638"/>
            <a:ext cx="73152" cy="73152"/>
          </a:xfrm>
          <a:prstGeom prst="ellipse">
            <a:avLst/>
          </a:prstGeom>
          <a:solidFill>
            <a:srgbClr val="898989"/>
          </a:solidFill>
          <a:ln w="12700">
            <a:solidFill>
              <a:srgbClr val="898989"/>
            </a:solidFill>
            <a:prstDash val="solid"/>
          </a:ln>
        </p:spPr>
        <p:txBody>
          <a:bodyPr/>
          <a:lstStyle/>
          <a:p>
            <a:endParaRPr lang="en-US"/>
          </a:p>
        </p:txBody>
      </p:sp>
      <p:sp>
        <p:nvSpPr>
          <p:cNvPr id="37" name="Shape 35"/>
          <p:cNvSpPr/>
          <p:nvPr/>
        </p:nvSpPr>
        <p:spPr>
          <a:xfrm>
            <a:off x="1709928" y="2317638"/>
            <a:ext cx="73152" cy="73152"/>
          </a:xfrm>
          <a:prstGeom prst="ellipse">
            <a:avLst/>
          </a:prstGeom>
          <a:solidFill>
            <a:srgbClr val="9A9A9A"/>
          </a:solidFill>
          <a:ln w="12700">
            <a:solidFill>
              <a:srgbClr val="9A9A9A"/>
            </a:solidFill>
            <a:prstDash val="solid"/>
          </a:ln>
        </p:spPr>
        <p:txBody>
          <a:bodyPr/>
          <a:lstStyle/>
          <a:p>
            <a:endParaRPr lang="en-US"/>
          </a:p>
        </p:txBody>
      </p:sp>
      <p:sp>
        <p:nvSpPr>
          <p:cNvPr id="38" name="Shape 36"/>
          <p:cNvSpPr/>
          <p:nvPr/>
        </p:nvSpPr>
        <p:spPr>
          <a:xfrm>
            <a:off x="1874520" y="2317638"/>
            <a:ext cx="73152" cy="73152"/>
          </a:xfrm>
          <a:prstGeom prst="ellipse">
            <a:avLst/>
          </a:prstGeom>
          <a:solidFill>
            <a:srgbClr val="ABABAB"/>
          </a:solidFill>
          <a:ln w="12700">
            <a:solidFill>
              <a:srgbClr val="ABABAB"/>
            </a:solidFill>
            <a:prstDash val="solid"/>
          </a:ln>
        </p:spPr>
        <p:txBody>
          <a:bodyPr/>
          <a:lstStyle/>
          <a:p>
            <a:endParaRPr lang="en-US"/>
          </a:p>
        </p:txBody>
      </p:sp>
      <p:sp>
        <p:nvSpPr>
          <p:cNvPr id="39" name="Shape 37"/>
          <p:cNvSpPr/>
          <p:nvPr/>
        </p:nvSpPr>
        <p:spPr>
          <a:xfrm>
            <a:off x="2039112" y="2317638"/>
            <a:ext cx="73152" cy="73152"/>
          </a:xfrm>
          <a:prstGeom prst="ellipse">
            <a:avLst/>
          </a:prstGeom>
          <a:solidFill>
            <a:srgbClr val="BCBCBC"/>
          </a:solidFill>
          <a:ln w="12700">
            <a:solidFill>
              <a:srgbClr val="BCBCBC"/>
            </a:solidFill>
            <a:prstDash val="solid"/>
          </a:ln>
        </p:spPr>
        <p:txBody>
          <a:bodyPr/>
          <a:lstStyle/>
          <a:p>
            <a:endParaRPr lang="en-US"/>
          </a:p>
        </p:txBody>
      </p:sp>
      <p:sp>
        <p:nvSpPr>
          <p:cNvPr id="40" name="Shape 38"/>
          <p:cNvSpPr/>
          <p:nvPr/>
        </p:nvSpPr>
        <p:spPr>
          <a:xfrm>
            <a:off x="2203704" y="2317638"/>
            <a:ext cx="73152" cy="73152"/>
          </a:xfrm>
          <a:prstGeom prst="ellipse">
            <a:avLst/>
          </a:prstGeom>
          <a:solidFill>
            <a:srgbClr val="CDCDCD"/>
          </a:solidFill>
          <a:ln w="12700">
            <a:solidFill>
              <a:srgbClr val="CDCDCD"/>
            </a:solidFill>
            <a:prstDash val="solid"/>
          </a:ln>
        </p:spPr>
        <p:txBody>
          <a:bodyPr/>
          <a:lstStyle/>
          <a:p>
            <a:endParaRPr lang="en-US"/>
          </a:p>
        </p:txBody>
      </p:sp>
      <p:sp>
        <p:nvSpPr>
          <p:cNvPr id="41" name="Shape 39"/>
          <p:cNvSpPr/>
          <p:nvPr/>
        </p:nvSpPr>
        <p:spPr>
          <a:xfrm>
            <a:off x="2368296" y="2317638"/>
            <a:ext cx="73152" cy="73152"/>
          </a:xfrm>
          <a:prstGeom prst="ellipse">
            <a:avLst/>
          </a:prstGeom>
          <a:solidFill>
            <a:srgbClr val="666666"/>
          </a:solidFill>
          <a:ln w="12700">
            <a:solidFill>
              <a:srgbClr val="666666"/>
            </a:solidFill>
            <a:prstDash val="solid"/>
          </a:ln>
        </p:spPr>
        <p:txBody>
          <a:bodyPr/>
          <a:lstStyle/>
          <a:p>
            <a:endParaRPr lang="en-US"/>
          </a:p>
        </p:txBody>
      </p:sp>
      <p:sp>
        <p:nvSpPr>
          <p:cNvPr id="42" name="Shape 40"/>
          <p:cNvSpPr/>
          <p:nvPr/>
        </p:nvSpPr>
        <p:spPr>
          <a:xfrm>
            <a:off x="2532888" y="2317638"/>
            <a:ext cx="73152" cy="73152"/>
          </a:xfrm>
          <a:prstGeom prst="ellipse">
            <a:avLst/>
          </a:prstGeom>
          <a:solidFill>
            <a:srgbClr val="777777"/>
          </a:solidFill>
          <a:ln w="12700">
            <a:solidFill>
              <a:srgbClr val="777777"/>
            </a:solidFill>
            <a:prstDash val="solid"/>
          </a:ln>
        </p:spPr>
        <p:txBody>
          <a:bodyPr/>
          <a:lstStyle/>
          <a:p>
            <a:endParaRPr lang="en-US"/>
          </a:p>
        </p:txBody>
      </p:sp>
      <p:sp>
        <p:nvSpPr>
          <p:cNvPr id="43" name="Shape 41"/>
          <p:cNvSpPr/>
          <p:nvPr/>
        </p:nvSpPr>
        <p:spPr>
          <a:xfrm>
            <a:off x="2697480" y="2317638"/>
            <a:ext cx="73152" cy="73152"/>
          </a:xfrm>
          <a:prstGeom prst="ellipse">
            <a:avLst/>
          </a:prstGeom>
          <a:solidFill>
            <a:srgbClr val="888888"/>
          </a:solidFill>
          <a:ln w="12700">
            <a:solidFill>
              <a:srgbClr val="888888"/>
            </a:solidFill>
            <a:prstDash val="solid"/>
          </a:ln>
        </p:spPr>
        <p:txBody>
          <a:bodyPr/>
          <a:lstStyle/>
          <a:p>
            <a:endParaRPr lang="en-US"/>
          </a:p>
        </p:txBody>
      </p:sp>
      <p:sp>
        <p:nvSpPr>
          <p:cNvPr id="44" name="Shape 42"/>
          <p:cNvSpPr/>
          <p:nvPr/>
        </p:nvSpPr>
        <p:spPr>
          <a:xfrm>
            <a:off x="2862072" y="2317638"/>
            <a:ext cx="73152" cy="73152"/>
          </a:xfrm>
          <a:prstGeom prst="ellipse">
            <a:avLst/>
          </a:prstGeom>
          <a:solidFill>
            <a:srgbClr val="999999"/>
          </a:solidFill>
          <a:ln w="12700">
            <a:solidFill>
              <a:srgbClr val="999999"/>
            </a:solidFill>
            <a:prstDash val="solid"/>
          </a:ln>
        </p:spPr>
        <p:txBody>
          <a:bodyPr/>
          <a:lstStyle/>
          <a:p>
            <a:endParaRPr lang="en-US"/>
          </a:p>
        </p:txBody>
      </p:sp>
      <p:sp>
        <p:nvSpPr>
          <p:cNvPr id="45" name="Shape 43"/>
          <p:cNvSpPr/>
          <p:nvPr/>
        </p:nvSpPr>
        <p:spPr>
          <a:xfrm>
            <a:off x="3026664" y="2317638"/>
            <a:ext cx="73152" cy="73152"/>
          </a:xfrm>
          <a:prstGeom prst="ellipse">
            <a:avLst/>
          </a:prstGeom>
          <a:solidFill>
            <a:srgbClr val="AAAAAA"/>
          </a:solidFill>
          <a:ln w="12700">
            <a:solidFill>
              <a:srgbClr val="AAAAAA"/>
            </a:solidFill>
            <a:prstDash val="solid"/>
          </a:ln>
        </p:spPr>
        <p:txBody>
          <a:bodyPr/>
          <a:lstStyle/>
          <a:p>
            <a:endParaRPr lang="en-US"/>
          </a:p>
        </p:txBody>
      </p:sp>
      <p:sp>
        <p:nvSpPr>
          <p:cNvPr id="46" name="Shape 44"/>
          <p:cNvSpPr/>
          <p:nvPr/>
        </p:nvSpPr>
        <p:spPr>
          <a:xfrm>
            <a:off x="3191256" y="2317638"/>
            <a:ext cx="73152" cy="73152"/>
          </a:xfrm>
          <a:prstGeom prst="ellipse">
            <a:avLst/>
          </a:prstGeom>
          <a:solidFill>
            <a:srgbClr val="BBBBBB"/>
          </a:solidFill>
          <a:ln w="12700">
            <a:solidFill>
              <a:srgbClr val="BBBBBB"/>
            </a:solidFill>
            <a:prstDash val="solid"/>
          </a:ln>
        </p:spPr>
        <p:txBody>
          <a:bodyPr/>
          <a:lstStyle/>
          <a:p>
            <a:endParaRPr lang="en-US"/>
          </a:p>
        </p:txBody>
      </p:sp>
      <p:sp>
        <p:nvSpPr>
          <p:cNvPr id="47" name="Shape 45"/>
          <p:cNvSpPr/>
          <p:nvPr/>
        </p:nvSpPr>
        <p:spPr>
          <a:xfrm>
            <a:off x="1051560" y="2527950"/>
            <a:ext cx="73152" cy="73152"/>
          </a:xfrm>
          <a:prstGeom prst="ellipse">
            <a:avLst/>
          </a:prstGeom>
          <a:solidFill>
            <a:srgbClr val="CCCCCC"/>
          </a:solidFill>
          <a:ln w="12700">
            <a:solidFill>
              <a:srgbClr val="CCCCCC"/>
            </a:solidFill>
            <a:prstDash val="solid"/>
          </a:ln>
        </p:spPr>
        <p:txBody>
          <a:bodyPr/>
          <a:lstStyle/>
          <a:p>
            <a:endParaRPr lang="en-US"/>
          </a:p>
        </p:txBody>
      </p:sp>
      <p:sp>
        <p:nvSpPr>
          <p:cNvPr id="48" name="Shape 46"/>
          <p:cNvSpPr/>
          <p:nvPr/>
        </p:nvSpPr>
        <p:spPr>
          <a:xfrm>
            <a:off x="1216152" y="2527950"/>
            <a:ext cx="73152" cy="73152"/>
          </a:xfrm>
          <a:prstGeom prst="ellipse">
            <a:avLst/>
          </a:prstGeom>
          <a:solidFill>
            <a:srgbClr val="656565"/>
          </a:solidFill>
          <a:ln w="12700">
            <a:solidFill>
              <a:srgbClr val="656565"/>
            </a:solidFill>
            <a:prstDash val="solid"/>
          </a:ln>
        </p:spPr>
        <p:txBody>
          <a:bodyPr/>
          <a:lstStyle/>
          <a:p>
            <a:endParaRPr lang="en-US"/>
          </a:p>
        </p:txBody>
      </p:sp>
      <p:sp>
        <p:nvSpPr>
          <p:cNvPr id="49" name="Shape 47"/>
          <p:cNvSpPr/>
          <p:nvPr/>
        </p:nvSpPr>
        <p:spPr>
          <a:xfrm>
            <a:off x="1380744" y="2527950"/>
            <a:ext cx="73152" cy="73152"/>
          </a:xfrm>
          <a:prstGeom prst="ellipse">
            <a:avLst/>
          </a:prstGeom>
          <a:solidFill>
            <a:srgbClr val="767676"/>
          </a:solidFill>
          <a:ln w="12700">
            <a:solidFill>
              <a:srgbClr val="767676"/>
            </a:solidFill>
            <a:prstDash val="solid"/>
          </a:ln>
        </p:spPr>
        <p:txBody>
          <a:bodyPr/>
          <a:lstStyle/>
          <a:p>
            <a:endParaRPr lang="en-US"/>
          </a:p>
        </p:txBody>
      </p:sp>
      <p:sp>
        <p:nvSpPr>
          <p:cNvPr id="50" name="Shape 48"/>
          <p:cNvSpPr/>
          <p:nvPr/>
        </p:nvSpPr>
        <p:spPr>
          <a:xfrm>
            <a:off x="1545336" y="2527950"/>
            <a:ext cx="73152" cy="73152"/>
          </a:xfrm>
          <a:prstGeom prst="ellipse">
            <a:avLst/>
          </a:prstGeom>
          <a:solidFill>
            <a:srgbClr val="878787"/>
          </a:solidFill>
          <a:ln w="12700">
            <a:solidFill>
              <a:srgbClr val="878787"/>
            </a:solidFill>
            <a:prstDash val="solid"/>
          </a:ln>
        </p:spPr>
        <p:txBody>
          <a:bodyPr/>
          <a:lstStyle/>
          <a:p>
            <a:endParaRPr lang="en-US"/>
          </a:p>
        </p:txBody>
      </p:sp>
      <p:sp>
        <p:nvSpPr>
          <p:cNvPr id="51" name="Shape 49"/>
          <p:cNvSpPr/>
          <p:nvPr/>
        </p:nvSpPr>
        <p:spPr>
          <a:xfrm>
            <a:off x="1709928" y="2527950"/>
            <a:ext cx="73152" cy="73152"/>
          </a:xfrm>
          <a:prstGeom prst="ellipse">
            <a:avLst/>
          </a:prstGeom>
          <a:solidFill>
            <a:srgbClr val="989898"/>
          </a:solidFill>
          <a:ln w="12700">
            <a:solidFill>
              <a:srgbClr val="989898"/>
            </a:solidFill>
            <a:prstDash val="solid"/>
          </a:ln>
        </p:spPr>
        <p:txBody>
          <a:bodyPr/>
          <a:lstStyle/>
          <a:p>
            <a:endParaRPr lang="en-US"/>
          </a:p>
        </p:txBody>
      </p:sp>
      <p:sp>
        <p:nvSpPr>
          <p:cNvPr id="52" name="Shape 50"/>
          <p:cNvSpPr/>
          <p:nvPr/>
        </p:nvSpPr>
        <p:spPr>
          <a:xfrm>
            <a:off x="1874520" y="2527950"/>
            <a:ext cx="73152" cy="73152"/>
          </a:xfrm>
          <a:prstGeom prst="ellipse">
            <a:avLst/>
          </a:prstGeom>
          <a:solidFill>
            <a:srgbClr val="A9A9A9"/>
          </a:solidFill>
          <a:ln w="12700">
            <a:solidFill>
              <a:srgbClr val="A9A9A9"/>
            </a:solidFill>
            <a:prstDash val="solid"/>
          </a:ln>
        </p:spPr>
        <p:txBody>
          <a:bodyPr/>
          <a:lstStyle/>
          <a:p>
            <a:endParaRPr lang="en-US"/>
          </a:p>
        </p:txBody>
      </p:sp>
      <p:sp>
        <p:nvSpPr>
          <p:cNvPr id="53" name="Shape 51"/>
          <p:cNvSpPr/>
          <p:nvPr/>
        </p:nvSpPr>
        <p:spPr>
          <a:xfrm>
            <a:off x="2039112" y="2527950"/>
            <a:ext cx="73152" cy="73152"/>
          </a:xfrm>
          <a:prstGeom prst="ellipse">
            <a:avLst/>
          </a:prstGeom>
          <a:solidFill>
            <a:srgbClr val="BABABA"/>
          </a:solidFill>
          <a:ln w="12700">
            <a:solidFill>
              <a:srgbClr val="BABABA"/>
            </a:solidFill>
            <a:prstDash val="solid"/>
          </a:ln>
        </p:spPr>
        <p:txBody>
          <a:bodyPr/>
          <a:lstStyle/>
          <a:p>
            <a:endParaRPr lang="en-US"/>
          </a:p>
        </p:txBody>
      </p:sp>
      <p:sp>
        <p:nvSpPr>
          <p:cNvPr id="54" name="Shape 52"/>
          <p:cNvSpPr/>
          <p:nvPr/>
        </p:nvSpPr>
        <p:spPr>
          <a:xfrm>
            <a:off x="2203704" y="2527950"/>
            <a:ext cx="73152" cy="73152"/>
          </a:xfrm>
          <a:prstGeom prst="ellipse">
            <a:avLst/>
          </a:prstGeom>
          <a:solidFill>
            <a:srgbClr val="CBCBCB"/>
          </a:solidFill>
          <a:ln w="12700">
            <a:solidFill>
              <a:srgbClr val="CBCBCB"/>
            </a:solidFill>
            <a:prstDash val="solid"/>
          </a:ln>
        </p:spPr>
        <p:txBody>
          <a:bodyPr/>
          <a:lstStyle/>
          <a:p>
            <a:endParaRPr lang="en-US"/>
          </a:p>
        </p:txBody>
      </p:sp>
      <p:sp>
        <p:nvSpPr>
          <p:cNvPr id="55" name="Shape 53"/>
          <p:cNvSpPr/>
          <p:nvPr/>
        </p:nvSpPr>
        <p:spPr>
          <a:xfrm>
            <a:off x="2368296" y="2527950"/>
            <a:ext cx="73152" cy="73152"/>
          </a:xfrm>
          <a:prstGeom prst="ellipse">
            <a:avLst/>
          </a:prstGeom>
          <a:solidFill>
            <a:srgbClr val="646464"/>
          </a:solidFill>
          <a:ln w="12700">
            <a:solidFill>
              <a:srgbClr val="646464"/>
            </a:solidFill>
            <a:prstDash val="solid"/>
          </a:ln>
        </p:spPr>
        <p:txBody>
          <a:bodyPr/>
          <a:lstStyle/>
          <a:p>
            <a:endParaRPr lang="en-US"/>
          </a:p>
        </p:txBody>
      </p:sp>
      <p:sp>
        <p:nvSpPr>
          <p:cNvPr id="56" name="Shape 54"/>
          <p:cNvSpPr/>
          <p:nvPr/>
        </p:nvSpPr>
        <p:spPr>
          <a:xfrm>
            <a:off x="2532888" y="2527950"/>
            <a:ext cx="73152" cy="73152"/>
          </a:xfrm>
          <a:prstGeom prst="ellipse">
            <a:avLst/>
          </a:prstGeom>
          <a:solidFill>
            <a:srgbClr val="757575"/>
          </a:solidFill>
          <a:ln w="12700">
            <a:solidFill>
              <a:srgbClr val="757575"/>
            </a:solidFill>
            <a:prstDash val="solid"/>
          </a:ln>
        </p:spPr>
        <p:txBody>
          <a:bodyPr/>
          <a:lstStyle/>
          <a:p>
            <a:endParaRPr lang="en-US"/>
          </a:p>
        </p:txBody>
      </p:sp>
      <p:sp>
        <p:nvSpPr>
          <p:cNvPr id="57" name="Shape 55"/>
          <p:cNvSpPr/>
          <p:nvPr/>
        </p:nvSpPr>
        <p:spPr>
          <a:xfrm>
            <a:off x="2697480" y="2527950"/>
            <a:ext cx="73152" cy="73152"/>
          </a:xfrm>
          <a:prstGeom prst="ellipse">
            <a:avLst/>
          </a:prstGeom>
          <a:solidFill>
            <a:srgbClr val="868686"/>
          </a:solidFill>
          <a:ln w="12700">
            <a:solidFill>
              <a:srgbClr val="868686"/>
            </a:solidFill>
            <a:prstDash val="solid"/>
          </a:ln>
        </p:spPr>
        <p:txBody>
          <a:bodyPr/>
          <a:lstStyle/>
          <a:p>
            <a:endParaRPr lang="en-US"/>
          </a:p>
        </p:txBody>
      </p:sp>
      <p:sp>
        <p:nvSpPr>
          <p:cNvPr id="58" name="Shape 56"/>
          <p:cNvSpPr/>
          <p:nvPr/>
        </p:nvSpPr>
        <p:spPr>
          <a:xfrm>
            <a:off x="2862072" y="2527950"/>
            <a:ext cx="73152" cy="73152"/>
          </a:xfrm>
          <a:prstGeom prst="ellipse">
            <a:avLst/>
          </a:prstGeom>
          <a:solidFill>
            <a:srgbClr val="979797"/>
          </a:solidFill>
          <a:ln w="12700">
            <a:solidFill>
              <a:srgbClr val="979797"/>
            </a:solidFill>
            <a:prstDash val="solid"/>
          </a:ln>
        </p:spPr>
        <p:txBody>
          <a:bodyPr/>
          <a:lstStyle/>
          <a:p>
            <a:endParaRPr lang="en-US"/>
          </a:p>
        </p:txBody>
      </p:sp>
      <p:sp>
        <p:nvSpPr>
          <p:cNvPr id="59" name="Shape 57"/>
          <p:cNvSpPr/>
          <p:nvPr/>
        </p:nvSpPr>
        <p:spPr>
          <a:xfrm>
            <a:off x="3026664" y="2527950"/>
            <a:ext cx="73152" cy="73152"/>
          </a:xfrm>
          <a:prstGeom prst="ellipse">
            <a:avLst/>
          </a:prstGeom>
          <a:solidFill>
            <a:srgbClr val="A8A8A8"/>
          </a:solidFill>
          <a:ln w="12700">
            <a:solidFill>
              <a:srgbClr val="A8A8A8"/>
            </a:solidFill>
            <a:prstDash val="solid"/>
          </a:ln>
        </p:spPr>
        <p:txBody>
          <a:bodyPr/>
          <a:lstStyle/>
          <a:p>
            <a:endParaRPr lang="en-US"/>
          </a:p>
        </p:txBody>
      </p:sp>
      <p:sp>
        <p:nvSpPr>
          <p:cNvPr id="60" name="Shape 58"/>
          <p:cNvSpPr/>
          <p:nvPr/>
        </p:nvSpPr>
        <p:spPr>
          <a:xfrm>
            <a:off x="3191256" y="2527950"/>
            <a:ext cx="73152" cy="73152"/>
          </a:xfrm>
          <a:prstGeom prst="ellipse">
            <a:avLst/>
          </a:prstGeom>
          <a:solidFill>
            <a:srgbClr val="B9B9B9"/>
          </a:solidFill>
          <a:ln w="12700">
            <a:solidFill>
              <a:srgbClr val="B9B9B9"/>
            </a:solidFill>
            <a:prstDash val="solid"/>
          </a:ln>
        </p:spPr>
        <p:txBody>
          <a:bodyPr/>
          <a:lstStyle/>
          <a:p>
            <a:endParaRPr lang="en-US"/>
          </a:p>
        </p:txBody>
      </p:sp>
      <p:sp>
        <p:nvSpPr>
          <p:cNvPr id="61" name="Shape 59"/>
          <p:cNvSpPr/>
          <p:nvPr/>
        </p:nvSpPr>
        <p:spPr>
          <a:xfrm>
            <a:off x="1051560" y="2738262"/>
            <a:ext cx="73152" cy="73152"/>
          </a:xfrm>
          <a:prstGeom prst="ellipse">
            <a:avLst/>
          </a:prstGeom>
          <a:solidFill>
            <a:srgbClr val="CACACA"/>
          </a:solidFill>
          <a:ln w="12700">
            <a:solidFill>
              <a:srgbClr val="CACACA"/>
            </a:solidFill>
            <a:prstDash val="solid"/>
          </a:ln>
        </p:spPr>
        <p:txBody>
          <a:bodyPr/>
          <a:lstStyle/>
          <a:p>
            <a:endParaRPr lang="en-US"/>
          </a:p>
        </p:txBody>
      </p:sp>
      <p:sp>
        <p:nvSpPr>
          <p:cNvPr id="62" name="Shape 60"/>
          <p:cNvSpPr/>
          <p:nvPr/>
        </p:nvSpPr>
        <p:spPr>
          <a:xfrm>
            <a:off x="1216152" y="2738262"/>
            <a:ext cx="73152" cy="73152"/>
          </a:xfrm>
          <a:prstGeom prst="ellipse">
            <a:avLst/>
          </a:prstGeom>
          <a:solidFill>
            <a:srgbClr val="636363"/>
          </a:solidFill>
          <a:ln w="12700">
            <a:solidFill>
              <a:srgbClr val="636363"/>
            </a:solidFill>
            <a:prstDash val="solid"/>
          </a:ln>
        </p:spPr>
        <p:txBody>
          <a:bodyPr/>
          <a:lstStyle/>
          <a:p>
            <a:endParaRPr lang="en-US"/>
          </a:p>
        </p:txBody>
      </p:sp>
      <p:sp>
        <p:nvSpPr>
          <p:cNvPr id="63" name="Shape 61"/>
          <p:cNvSpPr/>
          <p:nvPr/>
        </p:nvSpPr>
        <p:spPr>
          <a:xfrm>
            <a:off x="1380744" y="2738262"/>
            <a:ext cx="73152" cy="73152"/>
          </a:xfrm>
          <a:prstGeom prst="ellipse">
            <a:avLst/>
          </a:prstGeom>
          <a:solidFill>
            <a:srgbClr val="747474"/>
          </a:solidFill>
          <a:ln w="12700">
            <a:solidFill>
              <a:srgbClr val="747474"/>
            </a:solidFill>
            <a:prstDash val="solid"/>
          </a:ln>
        </p:spPr>
        <p:txBody>
          <a:bodyPr/>
          <a:lstStyle/>
          <a:p>
            <a:endParaRPr lang="en-US"/>
          </a:p>
        </p:txBody>
      </p:sp>
      <p:sp>
        <p:nvSpPr>
          <p:cNvPr id="64" name="Shape 62"/>
          <p:cNvSpPr/>
          <p:nvPr/>
        </p:nvSpPr>
        <p:spPr>
          <a:xfrm>
            <a:off x="1545336" y="2738262"/>
            <a:ext cx="73152" cy="73152"/>
          </a:xfrm>
          <a:prstGeom prst="ellipse">
            <a:avLst/>
          </a:prstGeom>
          <a:solidFill>
            <a:srgbClr val="858585"/>
          </a:solidFill>
          <a:ln w="12700">
            <a:solidFill>
              <a:srgbClr val="858585"/>
            </a:solidFill>
            <a:prstDash val="solid"/>
          </a:ln>
        </p:spPr>
        <p:txBody>
          <a:bodyPr/>
          <a:lstStyle/>
          <a:p>
            <a:endParaRPr lang="en-US"/>
          </a:p>
        </p:txBody>
      </p:sp>
      <p:sp>
        <p:nvSpPr>
          <p:cNvPr id="65" name="Shape 63"/>
          <p:cNvSpPr/>
          <p:nvPr/>
        </p:nvSpPr>
        <p:spPr>
          <a:xfrm>
            <a:off x="1709928" y="2738262"/>
            <a:ext cx="73152" cy="73152"/>
          </a:xfrm>
          <a:prstGeom prst="ellipse">
            <a:avLst/>
          </a:prstGeom>
          <a:solidFill>
            <a:srgbClr val="969696"/>
          </a:solidFill>
          <a:ln w="12700">
            <a:solidFill>
              <a:srgbClr val="969696"/>
            </a:solidFill>
            <a:prstDash val="solid"/>
          </a:ln>
        </p:spPr>
        <p:txBody>
          <a:bodyPr/>
          <a:lstStyle/>
          <a:p>
            <a:endParaRPr lang="en-US"/>
          </a:p>
        </p:txBody>
      </p:sp>
      <p:sp>
        <p:nvSpPr>
          <p:cNvPr id="66" name="Shape 64"/>
          <p:cNvSpPr/>
          <p:nvPr/>
        </p:nvSpPr>
        <p:spPr>
          <a:xfrm>
            <a:off x="1874520" y="2738262"/>
            <a:ext cx="73152" cy="73152"/>
          </a:xfrm>
          <a:prstGeom prst="ellipse">
            <a:avLst/>
          </a:prstGeom>
          <a:solidFill>
            <a:srgbClr val="A7A7A7"/>
          </a:solidFill>
          <a:ln w="12700">
            <a:solidFill>
              <a:srgbClr val="A7A7A7"/>
            </a:solidFill>
            <a:prstDash val="solid"/>
          </a:ln>
        </p:spPr>
        <p:txBody>
          <a:bodyPr/>
          <a:lstStyle/>
          <a:p>
            <a:endParaRPr lang="en-US"/>
          </a:p>
        </p:txBody>
      </p:sp>
      <p:sp>
        <p:nvSpPr>
          <p:cNvPr id="67" name="Shape 65"/>
          <p:cNvSpPr/>
          <p:nvPr/>
        </p:nvSpPr>
        <p:spPr>
          <a:xfrm>
            <a:off x="2039112" y="2738262"/>
            <a:ext cx="73152" cy="73152"/>
          </a:xfrm>
          <a:prstGeom prst="ellipse">
            <a:avLst/>
          </a:prstGeom>
          <a:solidFill>
            <a:srgbClr val="B8B8B8"/>
          </a:solidFill>
          <a:ln w="12700">
            <a:solidFill>
              <a:srgbClr val="B8B8B8"/>
            </a:solidFill>
            <a:prstDash val="solid"/>
          </a:ln>
        </p:spPr>
        <p:txBody>
          <a:bodyPr/>
          <a:lstStyle/>
          <a:p>
            <a:endParaRPr lang="en-US"/>
          </a:p>
        </p:txBody>
      </p:sp>
      <p:sp>
        <p:nvSpPr>
          <p:cNvPr id="68" name="Shape 66"/>
          <p:cNvSpPr/>
          <p:nvPr/>
        </p:nvSpPr>
        <p:spPr>
          <a:xfrm>
            <a:off x="2203704" y="2738262"/>
            <a:ext cx="73152" cy="73152"/>
          </a:xfrm>
          <a:prstGeom prst="ellipse">
            <a:avLst/>
          </a:prstGeom>
          <a:solidFill>
            <a:srgbClr val="C9C9C9"/>
          </a:solidFill>
          <a:ln w="12700">
            <a:solidFill>
              <a:srgbClr val="C9C9C9"/>
            </a:solidFill>
            <a:prstDash val="solid"/>
          </a:ln>
        </p:spPr>
        <p:txBody>
          <a:bodyPr/>
          <a:lstStyle/>
          <a:p>
            <a:endParaRPr lang="en-US"/>
          </a:p>
        </p:txBody>
      </p:sp>
      <p:sp>
        <p:nvSpPr>
          <p:cNvPr id="69" name="Shape 67"/>
          <p:cNvSpPr/>
          <p:nvPr/>
        </p:nvSpPr>
        <p:spPr>
          <a:xfrm>
            <a:off x="2368296" y="2738262"/>
            <a:ext cx="73152" cy="73152"/>
          </a:xfrm>
          <a:prstGeom prst="ellipse">
            <a:avLst/>
          </a:prstGeom>
          <a:solidFill>
            <a:srgbClr val="626262"/>
          </a:solidFill>
          <a:ln w="12700">
            <a:solidFill>
              <a:srgbClr val="626262"/>
            </a:solidFill>
            <a:prstDash val="solid"/>
          </a:ln>
        </p:spPr>
        <p:txBody>
          <a:bodyPr/>
          <a:lstStyle/>
          <a:p>
            <a:endParaRPr lang="en-US"/>
          </a:p>
        </p:txBody>
      </p:sp>
      <p:sp>
        <p:nvSpPr>
          <p:cNvPr id="70" name="Shape 68"/>
          <p:cNvSpPr/>
          <p:nvPr/>
        </p:nvSpPr>
        <p:spPr>
          <a:xfrm>
            <a:off x="2532888" y="2738262"/>
            <a:ext cx="73152" cy="73152"/>
          </a:xfrm>
          <a:prstGeom prst="ellipse">
            <a:avLst/>
          </a:prstGeom>
          <a:solidFill>
            <a:srgbClr val="737373"/>
          </a:solidFill>
          <a:ln w="12700">
            <a:solidFill>
              <a:srgbClr val="737373"/>
            </a:solidFill>
            <a:prstDash val="solid"/>
          </a:ln>
        </p:spPr>
        <p:txBody>
          <a:bodyPr/>
          <a:lstStyle/>
          <a:p>
            <a:endParaRPr lang="en-US"/>
          </a:p>
        </p:txBody>
      </p:sp>
      <p:sp>
        <p:nvSpPr>
          <p:cNvPr id="71" name="Shape 69"/>
          <p:cNvSpPr/>
          <p:nvPr/>
        </p:nvSpPr>
        <p:spPr>
          <a:xfrm>
            <a:off x="2697480" y="2738262"/>
            <a:ext cx="73152" cy="73152"/>
          </a:xfrm>
          <a:prstGeom prst="ellipse">
            <a:avLst/>
          </a:prstGeom>
          <a:solidFill>
            <a:srgbClr val="848484"/>
          </a:solidFill>
          <a:ln w="12700">
            <a:solidFill>
              <a:srgbClr val="848484"/>
            </a:solidFill>
            <a:prstDash val="solid"/>
          </a:ln>
        </p:spPr>
        <p:txBody>
          <a:bodyPr/>
          <a:lstStyle/>
          <a:p>
            <a:endParaRPr lang="en-US"/>
          </a:p>
        </p:txBody>
      </p:sp>
      <p:sp>
        <p:nvSpPr>
          <p:cNvPr id="72" name="Shape 70"/>
          <p:cNvSpPr/>
          <p:nvPr/>
        </p:nvSpPr>
        <p:spPr>
          <a:xfrm>
            <a:off x="2862072" y="2738262"/>
            <a:ext cx="73152" cy="73152"/>
          </a:xfrm>
          <a:prstGeom prst="ellipse">
            <a:avLst/>
          </a:prstGeom>
          <a:solidFill>
            <a:srgbClr val="959595"/>
          </a:solidFill>
          <a:ln w="12700">
            <a:solidFill>
              <a:srgbClr val="959595"/>
            </a:solidFill>
            <a:prstDash val="solid"/>
          </a:ln>
        </p:spPr>
        <p:txBody>
          <a:bodyPr/>
          <a:lstStyle/>
          <a:p>
            <a:endParaRPr lang="en-US"/>
          </a:p>
        </p:txBody>
      </p:sp>
      <p:sp>
        <p:nvSpPr>
          <p:cNvPr id="73" name="Shape 71"/>
          <p:cNvSpPr/>
          <p:nvPr/>
        </p:nvSpPr>
        <p:spPr>
          <a:xfrm>
            <a:off x="3026664" y="2738262"/>
            <a:ext cx="73152" cy="73152"/>
          </a:xfrm>
          <a:prstGeom prst="ellipse">
            <a:avLst/>
          </a:prstGeom>
          <a:solidFill>
            <a:srgbClr val="A6A6A6"/>
          </a:solidFill>
          <a:ln w="12700">
            <a:solidFill>
              <a:srgbClr val="A6A6A6"/>
            </a:solidFill>
            <a:prstDash val="solid"/>
          </a:ln>
        </p:spPr>
        <p:txBody>
          <a:bodyPr/>
          <a:lstStyle/>
          <a:p>
            <a:endParaRPr lang="en-US"/>
          </a:p>
        </p:txBody>
      </p:sp>
      <p:sp>
        <p:nvSpPr>
          <p:cNvPr id="74" name="Shape 72"/>
          <p:cNvSpPr/>
          <p:nvPr/>
        </p:nvSpPr>
        <p:spPr>
          <a:xfrm>
            <a:off x="3191256" y="2738262"/>
            <a:ext cx="73152" cy="73152"/>
          </a:xfrm>
          <a:prstGeom prst="ellipse">
            <a:avLst/>
          </a:prstGeom>
          <a:solidFill>
            <a:srgbClr val="B7B7B7"/>
          </a:solidFill>
          <a:ln w="12700">
            <a:solidFill>
              <a:srgbClr val="B7B7B7"/>
            </a:solidFill>
            <a:prstDash val="solid"/>
          </a:ln>
        </p:spPr>
        <p:txBody>
          <a:bodyPr/>
          <a:lstStyle/>
          <a:p>
            <a:endParaRPr lang="en-US"/>
          </a:p>
        </p:txBody>
      </p:sp>
      <p:sp>
        <p:nvSpPr>
          <p:cNvPr id="75" name="Shape 73"/>
          <p:cNvSpPr/>
          <p:nvPr/>
        </p:nvSpPr>
        <p:spPr>
          <a:xfrm>
            <a:off x="1051560" y="2948574"/>
            <a:ext cx="73152" cy="73152"/>
          </a:xfrm>
          <a:prstGeom prst="ellipse">
            <a:avLst/>
          </a:prstGeom>
          <a:solidFill>
            <a:srgbClr val="C8C8C8"/>
          </a:solidFill>
          <a:ln w="12700">
            <a:solidFill>
              <a:srgbClr val="C8C8C8"/>
            </a:solidFill>
            <a:prstDash val="solid"/>
          </a:ln>
        </p:spPr>
        <p:txBody>
          <a:bodyPr/>
          <a:lstStyle/>
          <a:p>
            <a:endParaRPr lang="en-US"/>
          </a:p>
        </p:txBody>
      </p:sp>
      <p:sp>
        <p:nvSpPr>
          <p:cNvPr id="76" name="Shape 74"/>
          <p:cNvSpPr/>
          <p:nvPr/>
        </p:nvSpPr>
        <p:spPr>
          <a:xfrm>
            <a:off x="1216152" y="2948574"/>
            <a:ext cx="73152" cy="73152"/>
          </a:xfrm>
          <a:prstGeom prst="ellipse">
            <a:avLst/>
          </a:prstGeom>
          <a:solidFill>
            <a:srgbClr val="616161"/>
          </a:solidFill>
          <a:ln w="12700">
            <a:solidFill>
              <a:srgbClr val="616161"/>
            </a:solidFill>
            <a:prstDash val="solid"/>
          </a:ln>
        </p:spPr>
        <p:txBody>
          <a:bodyPr/>
          <a:lstStyle/>
          <a:p>
            <a:endParaRPr lang="en-US"/>
          </a:p>
        </p:txBody>
      </p:sp>
      <p:sp>
        <p:nvSpPr>
          <p:cNvPr id="77" name="Shape 75"/>
          <p:cNvSpPr/>
          <p:nvPr/>
        </p:nvSpPr>
        <p:spPr>
          <a:xfrm>
            <a:off x="1380744" y="2948574"/>
            <a:ext cx="73152" cy="73152"/>
          </a:xfrm>
          <a:prstGeom prst="ellipse">
            <a:avLst/>
          </a:prstGeom>
          <a:solidFill>
            <a:srgbClr val="727272"/>
          </a:solidFill>
          <a:ln w="12700">
            <a:solidFill>
              <a:srgbClr val="727272"/>
            </a:solidFill>
            <a:prstDash val="solid"/>
          </a:ln>
        </p:spPr>
        <p:txBody>
          <a:bodyPr/>
          <a:lstStyle/>
          <a:p>
            <a:endParaRPr lang="en-US"/>
          </a:p>
        </p:txBody>
      </p:sp>
      <p:sp>
        <p:nvSpPr>
          <p:cNvPr id="78" name="Shape 76"/>
          <p:cNvSpPr/>
          <p:nvPr/>
        </p:nvSpPr>
        <p:spPr>
          <a:xfrm>
            <a:off x="1545336" y="2948574"/>
            <a:ext cx="73152" cy="73152"/>
          </a:xfrm>
          <a:prstGeom prst="ellipse">
            <a:avLst/>
          </a:prstGeom>
          <a:solidFill>
            <a:srgbClr val="838383"/>
          </a:solidFill>
          <a:ln w="12700">
            <a:solidFill>
              <a:srgbClr val="838383"/>
            </a:solidFill>
            <a:prstDash val="solid"/>
          </a:ln>
        </p:spPr>
        <p:txBody>
          <a:bodyPr/>
          <a:lstStyle/>
          <a:p>
            <a:endParaRPr lang="en-US"/>
          </a:p>
        </p:txBody>
      </p:sp>
      <p:sp>
        <p:nvSpPr>
          <p:cNvPr id="79" name="Shape 77"/>
          <p:cNvSpPr/>
          <p:nvPr/>
        </p:nvSpPr>
        <p:spPr>
          <a:xfrm>
            <a:off x="1709928" y="2948574"/>
            <a:ext cx="73152" cy="73152"/>
          </a:xfrm>
          <a:prstGeom prst="ellipse">
            <a:avLst/>
          </a:prstGeom>
          <a:solidFill>
            <a:srgbClr val="949494"/>
          </a:solidFill>
          <a:ln w="12700">
            <a:solidFill>
              <a:srgbClr val="949494"/>
            </a:solidFill>
            <a:prstDash val="solid"/>
          </a:ln>
        </p:spPr>
        <p:txBody>
          <a:bodyPr/>
          <a:lstStyle/>
          <a:p>
            <a:endParaRPr lang="en-US"/>
          </a:p>
        </p:txBody>
      </p:sp>
      <p:sp>
        <p:nvSpPr>
          <p:cNvPr id="80" name="Shape 78"/>
          <p:cNvSpPr/>
          <p:nvPr/>
        </p:nvSpPr>
        <p:spPr>
          <a:xfrm>
            <a:off x="1874520" y="2948574"/>
            <a:ext cx="73152" cy="73152"/>
          </a:xfrm>
          <a:prstGeom prst="ellipse">
            <a:avLst/>
          </a:prstGeom>
          <a:solidFill>
            <a:srgbClr val="A5A5A5"/>
          </a:solidFill>
          <a:ln w="12700">
            <a:solidFill>
              <a:srgbClr val="A5A5A5"/>
            </a:solidFill>
            <a:prstDash val="solid"/>
          </a:ln>
        </p:spPr>
        <p:txBody>
          <a:bodyPr/>
          <a:lstStyle/>
          <a:p>
            <a:endParaRPr lang="en-US"/>
          </a:p>
        </p:txBody>
      </p:sp>
      <p:sp>
        <p:nvSpPr>
          <p:cNvPr id="81" name="Shape 79"/>
          <p:cNvSpPr/>
          <p:nvPr/>
        </p:nvSpPr>
        <p:spPr>
          <a:xfrm>
            <a:off x="2039112" y="2948574"/>
            <a:ext cx="73152" cy="73152"/>
          </a:xfrm>
          <a:prstGeom prst="ellipse">
            <a:avLst/>
          </a:prstGeom>
          <a:solidFill>
            <a:srgbClr val="B6B6B6"/>
          </a:solidFill>
          <a:ln w="12700">
            <a:solidFill>
              <a:srgbClr val="B6B6B6"/>
            </a:solidFill>
            <a:prstDash val="solid"/>
          </a:ln>
        </p:spPr>
        <p:txBody>
          <a:bodyPr/>
          <a:lstStyle/>
          <a:p>
            <a:endParaRPr lang="en-US"/>
          </a:p>
        </p:txBody>
      </p:sp>
      <p:sp>
        <p:nvSpPr>
          <p:cNvPr id="82" name="Shape 80"/>
          <p:cNvSpPr/>
          <p:nvPr/>
        </p:nvSpPr>
        <p:spPr>
          <a:xfrm>
            <a:off x="2203704" y="2948574"/>
            <a:ext cx="73152" cy="73152"/>
          </a:xfrm>
          <a:prstGeom prst="ellipse">
            <a:avLst/>
          </a:prstGeom>
          <a:solidFill>
            <a:srgbClr val="C7C7C7"/>
          </a:solidFill>
          <a:ln w="12700">
            <a:solidFill>
              <a:srgbClr val="C7C7C7"/>
            </a:solidFill>
            <a:prstDash val="solid"/>
          </a:ln>
        </p:spPr>
        <p:txBody>
          <a:bodyPr/>
          <a:lstStyle/>
          <a:p>
            <a:endParaRPr lang="en-US"/>
          </a:p>
        </p:txBody>
      </p:sp>
      <p:sp>
        <p:nvSpPr>
          <p:cNvPr id="83" name="Shape 81"/>
          <p:cNvSpPr/>
          <p:nvPr/>
        </p:nvSpPr>
        <p:spPr>
          <a:xfrm>
            <a:off x="2368296" y="2948574"/>
            <a:ext cx="73152" cy="73152"/>
          </a:xfrm>
          <a:prstGeom prst="ellipse">
            <a:avLst/>
          </a:prstGeom>
          <a:solidFill>
            <a:srgbClr val="606060"/>
          </a:solidFill>
          <a:ln w="12700">
            <a:solidFill>
              <a:srgbClr val="606060"/>
            </a:solidFill>
            <a:prstDash val="solid"/>
          </a:ln>
        </p:spPr>
        <p:txBody>
          <a:bodyPr/>
          <a:lstStyle/>
          <a:p>
            <a:endParaRPr lang="en-US"/>
          </a:p>
        </p:txBody>
      </p:sp>
      <p:sp>
        <p:nvSpPr>
          <p:cNvPr id="84" name="Shape 82"/>
          <p:cNvSpPr/>
          <p:nvPr/>
        </p:nvSpPr>
        <p:spPr>
          <a:xfrm>
            <a:off x="2532888" y="2948574"/>
            <a:ext cx="73152" cy="73152"/>
          </a:xfrm>
          <a:prstGeom prst="ellipse">
            <a:avLst/>
          </a:prstGeom>
          <a:solidFill>
            <a:srgbClr val="717171"/>
          </a:solidFill>
          <a:ln w="12700">
            <a:solidFill>
              <a:srgbClr val="717171"/>
            </a:solidFill>
            <a:prstDash val="solid"/>
          </a:ln>
        </p:spPr>
        <p:txBody>
          <a:bodyPr/>
          <a:lstStyle/>
          <a:p>
            <a:endParaRPr lang="en-US"/>
          </a:p>
        </p:txBody>
      </p:sp>
      <p:sp>
        <p:nvSpPr>
          <p:cNvPr id="85" name="Shape 83"/>
          <p:cNvSpPr/>
          <p:nvPr/>
        </p:nvSpPr>
        <p:spPr>
          <a:xfrm>
            <a:off x="2697480" y="2948574"/>
            <a:ext cx="73152" cy="73152"/>
          </a:xfrm>
          <a:prstGeom prst="ellipse">
            <a:avLst/>
          </a:prstGeom>
          <a:solidFill>
            <a:srgbClr val="828282"/>
          </a:solidFill>
          <a:ln w="12700">
            <a:solidFill>
              <a:srgbClr val="828282"/>
            </a:solidFill>
            <a:prstDash val="solid"/>
          </a:ln>
        </p:spPr>
        <p:txBody>
          <a:bodyPr/>
          <a:lstStyle/>
          <a:p>
            <a:endParaRPr lang="en-US"/>
          </a:p>
        </p:txBody>
      </p:sp>
      <p:sp>
        <p:nvSpPr>
          <p:cNvPr id="86" name="Shape 84"/>
          <p:cNvSpPr/>
          <p:nvPr/>
        </p:nvSpPr>
        <p:spPr>
          <a:xfrm>
            <a:off x="2862072" y="2948574"/>
            <a:ext cx="73152" cy="73152"/>
          </a:xfrm>
          <a:prstGeom prst="ellipse">
            <a:avLst/>
          </a:prstGeom>
          <a:solidFill>
            <a:srgbClr val="939393"/>
          </a:solidFill>
          <a:ln w="12700">
            <a:solidFill>
              <a:srgbClr val="939393"/>
            </a:solidFill>
            <a:prstDash val="solid"/>
          </a:ln>
        </p:spPr>
        <p:txBody>
          <a:bodyPr/>
          <a:lstStyle/>
          <a:p>
            <a:endParaRPr lang="en-US"/>
          </a:p>
        </p:txBody>
      </p:sp>
      <p:sp>
        <p:nvSpPr>
          <p:cNvPr id="87" name="Shape 85"/>
          <p:cNvSpPr/>
          <p:nvPr/>
        </p:nvSpPr>
        <p:spPr>
          <a:xfrm>
            <a:off x="3026664" y="2948574"/>
            <a:ext cx="73152" cy="73152"/>
          </a:xfrm>
          <a:prstGeom prst="ellipse">
            <a:avLst/>
          </a:prstGeom>
          <a:solidFill>
            <a:srgbClr val="A4A4A4"/>
          </a:solidFill>
          <a:ln w="12700">
            <a:solidFill>
              <a:srgbClr val="A4A4A4"/>
            </a:solidFill>
            <a:prstDash val="solid"/>
          </a:ln>
        </p:spPr>
        <p:txBody>
          <a:bodyPr/>
          <a:lstStyle/>
          <a:p>
            <a:endParaRPr lang="en-US"/>
          </a:p>
        </p:txBody>
      </p:sp>
      <p:sp>
        <p:nvSpPr>
          <p:cNvPr id="88" name="Shape 86"/>
          <p:cNvSpPr/>
          <p:nvPr/>
        </p:nvSpPr>
        <p:spPr>
          <a:xfrm>
            <a:off x="3191256" y="2948574"/>
            <a:ext cx="73152" cy="73152"/>
          </a:xfrm>
          <a:prstGeom prst="ellipse">
            <a:avLst/>
          </a:prstGeom>
          <a:solidFill>
            <a:srgbClr val="B5B5B5"/>
          </a:solidFill>
          <a:ln w="12700">
            <a:solidFill>
              <a:srgbClr val="B5B5B5"/>
            </a:solidFill>
            <a:prstDash val="solid"/>
          </a:ln>
        </p:spPr>
        <p:txBody>
          <a:bodyPr/>
          <a:lstStyle/>
          <a:p>
            <a:endParaRPr lang="en-US"/>
          </a:p>
        </p:txBody>
      </p:sp>
      <p:sp>
        <p:nvSpPr>
          <p:cNvPr id="89" name="Shape 87"/>
          <p:cNvSpPr/>
          <p:nvPr/>
        </p:nvSpPr>
        <p:spPr>
          <a:xfrm>
            <a:off x="1051560" y="3158886"/>
            <a:ext cx="73152" cy="73152"/>
          </a:xfrm>
          <a:prstGeom prst="ellipse">
            <a:avLst/>
          </a:prstGeom>
          <a:solidFill>
            <a:srgbClr val="C6C6C6"/>
          </a:solidFill>
          <a:ln w="12700">
            <a:solidFill>
              <a:srgbClr val="C6C6C6"/>
            </a:solidFill>
            <a:prstDash val="solid"/>
          </a:ln>
        </p:spPr>
        <p:txBody>
          <a:bodyPr/>
          <a:lstStyle/>
          <a:p>
            <a:endParaRPr lang="en-US"/>
          </a:p>
        </p:txBody>
      </p:sp>
      <p:sp>
        <p:nvSpPr>
          <p:cNvPr id="90" name="Shape 88"/>
          <p:cNvSpPr/>
          <p:nvPr/>
        </p:nvSpPr>
        <p:spPr>
          <a:xfrm>
            <a:off x="1216152" y="3158886"/>
            <a:ext cx="73152" cy="73152"/>
          </a:xfrm>
          <a:prstGeom prst="ellipse">
            <a:avLst/>
          </a:prstGeom>
          <a:solidFill>
            <a:srgbClr val="5F5F5F"/>
          </a:solidFill>
          <a:ln w="12700">
            <a:solidFill>
              <a:srgbClr val="5F5F5F"/>
            </a:solidFill>
            <a:prstDash val="solid"/>
          </a:ln>
        </p:spPr>
        <p:txBody>
          <a:bodyPr/>
          <a:lstStyle/>
          <a:p>
            <a:endParaRPr lang="en-US"/>
          </a:p>
        </p:txBody>
      </p:sp>
      <p:sp>
        <p:nvSpPr>
          <p:cNvPr id="91" name="Shape 89"/>
          <p:cNvSpPr/>
          <p:nvPr/>
        </p:nvSpPr>
        <p:spPr>
          <a:xfrm>
            <a:off x="1380744" y="3158886"/>
            <a:ext cx="73152" cy="73152"/>
          </a:xfrm>
          <a:prstGeom prst="ellipse">
            <a:avLst/>
          </a:prstGeom>
          <a:solidFill>
            <a:srgbClr val="707070"/>
          </a:solidFill>
          <a:ln w="12700">
            <a:solidFill>
              <a:srgbClr val="707070"/>
            </a:solidFill>
            <a:prstDash val="solid"/>
          </a:ln>
        </p:spPr>
        <p:txBody>
          <a:bodyPr/>
          <a:lstStyle/>
          <a:p>
            <a:endParaRPr lang="en-US"/>
          </a:p>
        </p:txBody>
      </p:sp>
      <p:sp>
        <p:nvSpPr>
          <p:cNvPr id="92" name="Shape 90"/>
          <p:cNvSpPr/>
          <p:nvPr/>
        </p:nvSpPr>
        <p:spPr>
          <a:xfrm>
            <a:off x="1545336" y="3158886"/>
            <a:ext cx="73152" cy="73152"/>
          </a:xfrm>
          <a:prstGeom prst="ellipse">
            <a:avLst/>
          </a:prstGeom>
          <a:solidFill>
            <a:srgbClr val="818181"/>
          </a:solidFill>
          <a:ln w="12700">
            <a:solidFill>
              <a:srgbClr val="818181"/>
            </a:solidFill>
            <a:prstDash val="solid"/>
          </a:ln>
        </p:spPr>
        <p:txBody>
          <a:bodyPr/>
          <a:lstStyle/>
          <a:p>
            <a:endParaRPr lang="en-US"/>
          </a:p>
        </p:txBody>
      </p:sp>
      <p:sp>
        <p:nvSpPr>
          <p:cNvPr id="93" name="Shape 91"/>
          <p:cNvSpPr/>
          <p:nvPr/>
        </p:nvSpPr>
        <p:spPr>
          <a:xfrm>
            <a:off x="1709928" y="3158886"/>
            <a:ext cx="73152" cy="73152"/>
          </a:xfrm>
          <a:prstGeom prst="ellipse">
            <a:avLst/>
          </a:prstGeom>
          <a:solidFill>
            <a:srgbClr val="929292"/>
          </a:solidFill>
          <a:ln w="12700">
            <a:solidFill>
              <a:srgbClr val="929292"/>
            </a:solidFill>
            <a:prstDash val="solid"/>
          </a:ln>
        </p:spPr>
        <p:txBody>
          <a:bodyPr/>
          <a:lstStyle/>
          <a:p>
            <a:endParaRPr lang="en-US"/>
          </a:p>
        </p:txBody>
      </p:sp>
      <p:sp>
        <p:nvSpPr>
          <p:cNvPr id="94" name="Shape 92"/>
          <p:cNvSpPr/>
          <p:nvPr/>
        </p:nvSpPr>
        <p:spPr>
          <a:xfrm>
            <a:off x="1874520" y="3158886"/>
            <a:ext cx="73152" cy="73152"/>
          </a:xfrm>
          <a:prstGeom prst="ellipse">
            <a:avLst/>
          </a:prstGeom>
          <a:solidFill>
            <a:srgbClr val="A3A3A3"/>
          </a:solidFill>
          <a:ln w="12700">
            <a:solidFill>
              <a:srgbClr val="A3A3A3"/>
            </a:solidFill>
            <a:prstDash val="solid"/>
          </a:ln>
        </p:spPr>
        <p:txBody>
          <a:bodyPr/>
          <a:lstStyle/>
          <a:p>
            <a:endParaRPr lang="en-US"/>
          </a:p>
        </p:txBody>
      </p:sp>
      <p:sp>
        <p:nvSpPr>
          <p:cNvPr id="95" name="Shape 93"/>
          <p:cNvSpPr/>
          <p:nvPr/>
        </p:nvSpPr>
        <p:spPr>
          <a:xfrm>
            <a:off x="2039112" y="3158886"/>
            <a:ext cx="73152" cy="73152"/>
          </a:xfrm>
          <a:prstGeom prst="ellipse">
            <a:avLst/>
          </a:prstGeom>
          <a:solidFill>
            <a:srgbClr val="B4B4B4"/>
          </a:solidFill>
          <a:ln w="12700">
            <a:solidFill>
              <a:srgbClr val="B4B4B4"/>
            </a:solidFill>
            <a:prstDash val="solid"/>
          </a:ln>
        </p:spPr>
        <p:txBody>
          <a:bodyPr/>
          <a:lstStyle/>
          <a:p>
            <a:endParaRPr lang="en-US"/>
          </a:p>
        </p:txBody>
      </p:sp>
      <p:sp>
        <p:nvSpPr>
          <p:cNvPr id="96" name="Shape 94"/>
          <p:cNvSpPr/>
          <p:nvPr/>
        </p:nvSpPr>
        <p:spPr>
          <a:xfrm>
            <a:off x="2203704" y="3158886"/>
            <a:ext cx="73152" cy="73152"/>
          </a:xfrm>
          <a:prstGeom prst="ellipse">
            <a:avLst/>
          </a:prstGeom>
          <a:solidFill>
            <a:srgbClr val="C5C5C5"/>
          </a:solidFill>
          <a:ln w="12700">
            <a:solidFill>
              <a:srgbClr val="C5C5C5"/>
            </a:solidFill>
            <a:prstDash val="solid"/>
          </a:ln>
        </p:spPr>
        <p:txBody>
          <a:bodyPr/>
          <a:lstStyle/>
          <a:p>
            <a:endParaRPr lang="en-US"/>
          </a:p>
        </p:txBody>
      </p:sp>
      <p:sp>
        <p:nvSpPr>
          <p:cNvPr id="97" name="Shape 95"/>
          <p:cNvSpPr/>
          <p:nvPr/>
        </p:nvSpPr>
        <p:spPr>
          <a:xfrm>
            <a:off x="2368296" y="3158886"/>
            <a:ext cx="73152" cy="73152"/>
          </a:xfrm>
          <a:prstGeom prst="ellipse">
            <a:avLst/>
          </a:prstGeom>
          <a:solidFill>
            <a:srgbClr val="5E5E5E"/>
          </a:solidFill>
          <a:ln w="12700">
            <a:solidFill>
              <a:srgbClr val="5E5E5E"/>
            </a:solidFill>
            <a:prstDash val="solid"/>
          </a:ln>
        </p:spPr>
        <p:txBody>
          <a:bodyPr/>
          <a:lstStyle/>
          <a:p>
            <a:endParaRPr lang="en-US"/>
          </a:p>
        </p:txBody>
      </p:sp>
      <p:sp>
        <p:nvSpPr>
          <p:cNvPr id="98" name="Shape 96"/>
          <p:cNvSpPr/>
          <p:nvPr/>
        </p:nvSpPr>
        <p:spPr>
          <a:xfrm>
            <a:off x="2532888" y="3158886"/>
            <a:ext cx="73152" cy="73152"/>
          </a:xfrm>
          <a:prstGeom prst="ellipse">
            <a:avLst/>
          </a:prstGeom>
          <a:solidFill>
            <a:srgbClr val="6F6F6F"/>
          </a:solidFill>
          <a:ln w="12700">
            <a:solidFill>
              <a:srgbClr val="6F6F6F"/>
            </a:solidFill>
            <a:prstDash val="solid"/>
          </a:ln>
        </p:spPr>
        <p:txBody>
          <a:bodyPr/>
          <a:lstStyle/>
          <a:p>
            <a:endParaRPr lang="en-US"/>
          </a:p>
        </p:txBody>
      </p:sp>
      <p:sp>
        <p:nvSpPr>
          <p:cNvPr id="99" name="Shape 97"/>
          <p:cNvSpPr/>
          <p:nvPr/>
        </p:nvSpPr>
        <p:spPr>
          <a:xfrm>
            <a:off x="2697480" y="3158886"/>
            <a:ext cx="73152" cy="73152"/>
          </a:xfrm>
          <a:prstGeom prst="ellipse">
            <a:avLst/>
          </a:prstGeom>
          <a:solidFill>
            <a:srgbClr val="808080"/>
          </a:solidFill>
          <a:ln w="12700">
            <a:solidFill>
              <a:srgbClr val="808080"/>
            </a:solidFill>
            <a:prstDash val="solid"/>
          </a:ln>
        </p:spPr>
        <p:txBody>
          <a:bodyPr/>
          <a:lstStyle/>
          <a:p>
            <a:endParaRPr lang="en-US"/>
          </a:p>
        </p:txBody>
      </p:sp>
      <p:sp>
        <p:nvSpPr>
          <p:cNvPr id="100" name="Shape 98"/>
          <p:cNvSpPr/>
          <p:nvPr/>
        </p:nvSpPr>
        <p:spPr>
          <a:xfrm>
            <a:off x="2862072" y="3158886"/>
            <a:ext cx="73152" cy="73152"/>
          </a:xfrm>
          <a:prstGeom prst="ellipse">
            <a:avLst/>
          </a:prstGeom>
          <a:solidFill>
            <a:srgbClr val="919191"/>
          </a:solidFill>
          <a:ln w="12700">
            <a:solidFill>
              <a:srgbClr val="919191"/>
            </a:solidFill>
            <a:prstDash val="solid"/>
          </a:ln>
        </p:spPr>
        <p:txBody>
          <a:bodyPr/>
          <a:lstStyle/>
          <a:p>
            <a:endParaRPr lang="en-US"/>
          </a:p>
        </p:txBody>
      </p:sp>
      <p:sp>
        <p:nvSpPr>
          <p:cNvPr id="101" name="Shape 99"/>
          <p:cNvSpPr/>
          <p:nvPr/>
        </p:nvSpPr>
        <p:spPr>
          <a:xfrm>
            <a:off x="3026664" y="3158886"/>
            <a:ext cx="73152" cy="73152"/>
          </a:xfrm>
          <a:prstGeom prst="ellipse">
            <a:avLst/>
          </a:prstGeom>
          <a:solidFill>
            <a:srgbClr val="A2A2A2"/>
          </a:solidFill>
          <a:ln w="12700">
            <a:solidFill>
              <a:srgbClr val="A2A2A2"/>
            </a:solidFill>
            <a:prstDash val="solid"/>
          </a:ln>
        </p:spPr>
        <p:txBody>
          <a:bodyPr/>
          <a:lstStyle/>
          <a:p>
            <a:endParaRPr lang="en-US"/>
          </a:p>
        </p:txBody>
      </p:sp>
      <p:sp>
        <p:nvSpPr>
          <p:cNvPr id="102" name="Shape 100"/>
          <p:cNvSpPr/>
          <p:nvPr/>
        </p:nvSpPr>
        <p:spPr>
          <a:xfrm>
            <a:off x="3191256" y="3158886"/>
            <a:ext cx="73152" cy="73152"/>
          </a:xfrm>
          <a:prstGeom prst="ellipse">
            <a:avLst/>
          </a:prstGeom>
          <a:solidFill>
            <a:srgbClr val="B3B3B3"/>
          </a:solidFill>
          <a:ln w="12700">
            <a:solidFill>
              <a:srgbClr val="B3B3B3"/>
            </a:solidFill>
            <a:prstDash val="solid"/>
          </a:ln>
        </p:spPr>
        <p:txBody>
          <a:bodyPr/>
          <a:lstStyle/>
          <a:p>
            <a:endParaRPr lang="en-US"/>
          </a:p>
        </p:txBody>
      </p:sp>
      <p:sp>
        <p:nvSpPr>
          <p:cNvPr id="103" name="Shape 101"/>
          <p:cNvSpPr/>
          <p:nvPr/>
        </p:nvSpPr>
        <p:spPr>
          <a:xfrm>
            <a:off x="1051560" y="3369198"/>
            <a:ext cx="73152" cy="73152"/>
          </a:xfrm>
          <a:prstGeom prst="ellipse">
            <a:avLst/>
          </a:prstGeom>
          <a:solidFill>
            <a:srgbClr val="C4C4C4"/>
          </a:solidFill>
          <a:ln w="12700">
            <a:solidFill>
              <a:srgbClr val="C4C4C4"/>
            </a:solidFill>
            <a:prstDash val="solid"/>
          </a:ln>
        </p:spPr>
        <p:txBody>
          <a:bodyPr/>
          <a:lstStyle/>
          <a:p>
            <a:endParaRPr lang="en-US"/>
          </a:p>
        </p:txBody>
      </p:sp>
      <p:sp>
        <p:nvSpPr>
          <p:cNvPr id="104" name="Shape 102"/>
          <p:cNvSpPr/>
          <p:nvPr/>
        </p:nvSpPr>
        <p:spPr>
          <a:xfrm>
            <a:off x="1216152" y="3369198"/>
            <a:ext cx="73152" cy="73152"/>
          </a:xfrm>
          <a:prstGeom prst="ellipse">
            <a:avLst/>
          </a:prstGeom>
          <a:solidFill>
            <a:srgbClr val="5D5D5D"/>
          </a:solidFill>
          <a:ln w="12700">
            <a:solidFill>
              <a:srgbClr val="5D5D5D"/>
            </a:solidFill>
            <a:prstDash val="solid"/>
          </a:ln>
        </p:spPr>
        <p:txBody>
          <a:bodyPr/>
          <a:lstStyle/>
          <a:p>
            <a:endParaRPr lang="en-US"/>
          </a:p>
        </p:txBody>
      </p:sp>
      <p:sp>
        <p:nvSpPr>
          <p:cNvPr id="105" name="Shape 103"/>
          <p:cNvSpPr/>
          <p:nvPr/>
        </p:nvSpPr>
        <p:spPr>
          <a:xfrm>
            <a:off x="1380744" y="3369198"/>
            <a:ext cx="73152" cy="73152"/>
          </a:xfrm>
          <a:prstGeom prst="ellipse">
            <a:avLst/>
          </a:prstGeom>
          <a:solidFill>
            <a:srgbClr val="6E6E6E"/>
          </a:solidFill>
          <a:ln w="12700">
            <a:solidFill>
              <a:srgbClr val="6E6E6E"/>
            </a:solidFill>
            <a:prstDash val="solid"/>
          </a:ln>
        </p:spPr>
        <p:txBody>
          <a:bodyPr/>
          <a:lstStyle/>
          <a:p>
            <a:endParaRPr lang="en-US"/>
          </a:p>
        </p:txBody>
      </p:sp>
      <p:sp>
        <p:nvSpPr>
          <p:cNvPr id="106" name="Shape 104"/>
          <p:cNvSpPr/>
          <p:nvPr/>
        </p:nvSpPr>
        <p:spPr>
          <a:xfrm>
            <a:off x="1545336" y="3369198"/>
            <a:ext cx="73152" cy="73152"/>
          </a:xfrm>
          <a:prstGeom prst="ellipse">
            <a:avLst/>
          </a:prstGeom>
          <a:solidFill>
            <a:srgbClr val="7F7F7F"/>
          </a:solidFill>
          <a:ln w="12700">
            <a:solidFill>
              <a:srgbClr val="7F7F7F"/>
            </a:solidFill>
            <a:prstDash val="solid"/>
          </a:ln>
        </p:spPr>
        <p:txBody>
          <a:bodyPr/>
          <a:lstStyle/>
          <a:p>
            <a:endParaRPr lang="en-US"/>
          </a:p>
        </p:txBody>
      </p:sp>
      <p:sp>
        <p:nvSpPr>
          <p:cNvPr id="107" name="Shape 105"/>
          <p:cNvSpPr/>
          <p:nvPr/>
        </p:nvSpPr>
        <p:spPr>
          <a:xfrm>
            <a:off x="1709928" y="3369198"/>
            <a:ext cx="73152" cy="73152"/>
          </a:xfrm>
          <a:prstGeom prst="ellipse">
            <a:avLst/>
          </a:prstGeom>
          <a:solidFill>
            <a:srgbClr val="909090"/>
          </a:solidFill>
          <a:ln w="12700">
            <a:solidFill>
              <a:srgbClr val="909090"/>
            </a:solidFill>
            <a:prstDash val="solid"/>
          </a:ln>
        </p:spPr>
        <p:txBody>
          <a:bodyPr/>
          <a:lstStyle/>
          <a:p>
            <a:endParaRPr lang="en-US"/>
          </a:p>
        </p:txBody>
      </p:sp>
      <p:sp>
        <p:nvSpPr>
          <p:cNvPr id="108" name="Shape 106"/>
          <p:cNvSpPr/>
          <p:nvPr/>
        </p:nvSpPr>
        <p:spPr>
          <a:xfrm>
            <a:off x="1874520" y="3369198"/>
            <a:ext cx="73152" cy="73152"/>
          </a:xfrm>
          <a:prstGeom prst="ellipse">
            <a:avLst/>
          </a:prstGeom>
          <a:solidFill>
            <a:srgbClr val="A1A1A1"/>
          </a:solidFill>
          <a:ln w="12700">
            <a:solidFill>
              <a:srgbClr val="A1A1A1"/>
            </a:solidFill>
            <a:prstDash val="solid"/>
          </a:ln>
        </p:spPr>
        <p:txBody>
          <a:bodyPr/>
          <a:lstStyle/>
          <a:p>
            <a:endParaRPr lang="en-US"/>
          </a:p>
        </p:txBody>
      </p:sp>
      <p:sp>
        <p:nvSpPr>
          <p:cNvPr id="109" name="Shape 107"/>
          <p:cNvSpPr/>
          <p:nvPr/>
        </p:nvSpPr>
        <p:spPr>
          <a:xfrm>
            <a:off x="2039112" y="3369198"/>
            <a:ext cx="73152" cy="73152"/>
          </a:xfrm>
          <a:prstGeom prst="ellipse">
            <a:avLst/>
          </a:prstGeom>
          <a:solidFill>
            <a:srgbClr val="B2B2B2"/>
          </a:solidFill>
          <a:ln w="12700">
            <a:solidFill>
              <a:srgbClr val="B2B2B2"/>
            </a:solidFill>
            <a:prstDash val="solid"/>
          </a:ln>
        </p:spPr>
        <p:txBody>
          <a:bodyPr/>
          <a:lstStyle/>
          <a:p>
            <a:endParaRPr lang="en-US"/>
          </a:p>
        </p:txBody>
      </p:sp>
      <p:sp>
        <p:nvSpPr>
          <p:cNvPr id="110" name="Shape 108"/>
          <p:cNvSpPr/>
          <p:nvPr/>
        </p:nvSpPr>
        <p:spPr>
          <a:xfrm>
            <a:off x="2203704" y="3369198"/>
            <a:ext cx="73152" cy="73152"/>
          </a:xfrm>
          <a:prstGeom prst="ellipse">
            <a:avLst/>
          </a:prstGeom>
          <a:solidFill>
            <a:srgbClr val="C3C3C3"/>
          </a:solidFill>
          <a:ln w="12700">
            <a:solidFill>
              <a:srgbClr val="C3C3C3"/>
            </a:solidFill>
            <a:prstDash val="solid"/>
          </a:ln>
        </p:spPr>
        <p:txBody>
          <a:bodyPr/>
          <a:lstStyle/>
          <a:p>
            <a:endParaRPr lang="en-US"/>
          </a:p>
        </p:txBody>
      </p:sp>
      <p:sp>
        <p:nvSpPr>
          <p:cNvPr id="111" name="Shape 109"/>
          <p:cNvSpPr/>
          <p:nvPr/>
        </p:nvSpPr>
        <p:spPr>
          <a:xfrm>
            <a:off x="2368296" y="3369198"/>
            <a:ext cx="73152" cy="73152"/>
          </a:xfrm>
          <a:prstGeom prst="ellipse">
            <a:avLst/>
          </a:prstGeom>
          <a:solidFill>
            <a:srgbClr val="5C5C5C"/>
          </a:solidFill>
          <a:ln w="12700">
            <a:solidFill>
              <a:srgbClr val="5C5C5C"/>
            </a:solidFill>
            <a:prstDash val="solid"/>
          </a:ln>
        </p:spPr>
        <p:txBody>
          <a:bodyPr/>
          <a:lstStyle/>
          <a:p>
            <a:endParaRPr lang="en-US"/>
          </a:p>
        </p:txBody>
      </p:sp>
      <p:sp>
        <p:nvSpPr>
          <p:cNvPr id="112" name="Shape 110"/>
          <p:cNvSpPr/>
          <p:nvPr/>
        </p:nvSpPr>
        <p:spPr>
          <a:xfrm>
            <a:off x="2532888" y="3369198"/>
            <a:ext cx="73152" cy="73152"/>
          </a:xfrm>
          <a:prstGeom prst="ellipse">
            <a:avLst/>
          </a:prstGeom>
          <a:solidFill>
            <a:srgbClr val="6D6D6D"/>
          </a:solidFill>
          <a:ln w="12700">
            <a:solidFill>
              <a:srgbClr val="6D6D6D"/>
            </a:solidFill>
            <a:prstDash val="solid"/>
          </a:ln>
        </p:spPr>
        <p:txBody>
          <a:bodyPr/>
          <a:lstStyle/>
          <a:p>
            <a:endParaRPr lang="en-US"/>
          </a:p>
        </p:txBody>
      </p:sp>
      <p:sp>
        <p:nvSpPr>
          <p:cNvPr id="113" name="Shape 111"/>
          <p:cNvSpPr/>
          <p:nvPr/>
        </p:nvSpPr>
        <p:spPr>
          <a:xfrm>
            <a:off x="2697480" y="3369198"/>
            <a:ext cx="73152" cy="73152"/>
          </a:xfrm>
          <a:prstGeom prst="ellipse">
            <a:avLst/>
          </a:prstGeom>
          <a:solidFill>
            <a:srgbClr val="7E7E7E"/>
          </a:solidFill>
          <a:ln w="12700">
            <a:solidFill>
              <a:srgbClr val="7E7E7E"/>
            </a:solidFill>
            <a:prstDash val="solid"/>
          </a:ln>
        </p:spPr>
        <p:txBody>
          <a:bodyPr/>
          <a:lstStyle/>
          <a:p>
            <a:endParaRPr lang="en-US"/>
          </a:p>
        </p:txBody>
      </p:sp>
      <p:sp>
        <p:nvSpPr>
          <p:cNvPr id="114" name="Shape 112"/>
          <p:cNvSpPr/>
          <p:nvPr/>
        </p:nvSpPr>
        <p:spPr>
          <a:xfrm>
            <a:off x="2862072" y="3369198"/>
            <a:ext cx="73152" cy="73152"/>
          </a:xfrm>
          <a:prstGeom prst="ellipse">
            <a:avLst/>
          </a:prstGeom>
          <a:solidFill>
            <a:srgbClr val="8F8F8F"/>
          </a:solidFill>
          <a:ln w="12700">
            <a:solidFill>
              <a:srgbClr val="8F8F8F"/>
            </a:solidFill>
            <a:prstDash val="solid"/>
          </a:ln>
        </p:spPr>
        <p:txBody>
          <a:bodyPr/>
          <a:lstStyle/>
          <a:p>
            <a:endParaRPr lang="en-US"/>
          </a:p>
        </p:txBody>
      </p:sp>
      <p:sp>
        <p:nvSpPr>
          <p:cNvPr id="115" name="Shape 113"/>
          <p:cNvSpPr/>
          <p:nvPr/>
        </p:nvSpPr>
        <p:spPr>
          <a:xfrm>
            <a:off x="3026664" y="3369198"/>
            <a:ext cx="73152" cy="73152"/>
          </a:xfrm>
          <a:prstGeom prst="ellipse">
            <a:avLst/>
          </a:prstGeom>
          <a:solidFill>
            <a:srgbClr val="A0A0A0"/>
          </a:solidFill>
          <a:ln w="12700">
            <a:solidFill>
              <a:srgbClr val="A0A0A0"/>
            </a:solidFill>
            <a:prstDash val="solid"/>
          </a:ln>
        </p:spPr>
        <p:txBody>
          <a:bodyPr/>
          <a:lstStyle/>
          <a:p>
            <a:endParaRPr lang="en-US"/>
          </a:p>
        </p:txBody>
      </p:sp>
      <p:sp>
        <p:nvSpPr>
          <p:cNvPr id="116" name="Shape 114"/>
          <p:cNvSpPr/>
          <p:nvPr/>
        </p:nvSpPr>
        <p:spPr>
          <a:xfrm>
            <a:off x="3191256" y="3369198"/>
            <a:ext cx="73152" cy="73152"/>
          </a:xfrm>
          <a:prstGeom prst="ellipse">
            <a:avLst/>
          </a:prstGeom>
          <a:solidFill>
            <a:srgbClr val="B1B1B1"/>
          </a:solidFill>
          <a:ln w="12700">
            <a:solidFill>
              <a:srgbClr val="B1B1B1"/>
            </a:solidFill>
            <a:prstDash val="solid"/>
          </a:ln>
        </p:spPr>
        <p:txBody>
          <a:bodyPr/>
          <a:lstStyle/>
          <a:p>
            <a:endParaRPr lang="en-US"/>
          </a:p>
        </p:txBody>
      </p:sp>
      <p:sp>
        <p:nvSpPr>
          <p:cNvPr id="117" name="Shape 115"/>
          <p:cNvSpPr/>
          <p:nvPr/>
        </p:nvSpPr>
        <p:spPr>
          <a:xfrm>
            <a:off x="1051560" y="3579510"/>
            <a:ext cx="73152" cy="73152"/>
          </a:xfrm>
          <a:prstGeom prst="ellipse">
            <a:avLst/>
          </a:prstGeom>
          <a:solidFill>
            <a:srgbClr val="C2C2C2"/>
          </a:solidFill>
          <a:ln w="12700">
            <a:solidFill>
              <a:srgbClr val="C2C2C2"/>
            </a:solidFill>
            <a:prstDash val="solid"/>
          </a:ln>
        </p:spPr>
        <p:txBody>
          <a:bodyPr/>
          <a:lstStyle/>
          <a:p>
            <a:endParaRPr lang="en-US"/>
          </a:p>
        </p:txBody>
      </p:sp>
      <p:sp>
        <p:nvSpPr>
          <p:cNvPr id="118" name="Shape 116"/>
          <p:cNvSpPr/>
          <p:nvPr/>
        </p:nvSpPr>
        <p:spPr>
          <a:xfrm>
            <a:off x="1216152" y="3579510"/>
            <a:ext cx="73152" cy="73152"/>
          </a:xfrm>
          <a:prstGeom prst="ellipse">
            <a:avLst/>
          </a:prstGeom>
          <a:solidFill>
            <a:srgbClr val="5B5B5B"/>
          </a:solidFill>
          <a:ln w="12700">
            <a:solidFill>
              <a:srgbClr val="5B5B5B"/>
            </a:solidFill>
            <a:prstDash val="solid"/>
          </a:ln>
        </p:spPr>
        <p:txBody>
          <a:bodyPr/>
          <a:lstStyle/>
          <a:p>
            <a:endParaRPr lang="en-US"/>
          </a:p>
        </p:txBody>
      </p:sp>
      <p:sp>
        <p:nvSpPr>
          <p:cNvPr id="119" name="Shape 117"/>
          <p:cNvSpPr/>
          <p:nvPr/>
        </p:nvSpPr>
        <p:spPr>
          <a:xfrm>
            <a:off x="1380744" y="3579510"/>
            <a:ext cx="73152" cy="73152"/>
          </a:xfrm>
          <a:prstGeom prst="ellipse">
            <a:avLst/>
          </a:prstGeom>
          <a:solidFill>
            <a:srgbClr val="6C6C6C"/>
          </a:solidFill>
          <a:ln w="12700">
            <a:solidFill>
              <a:srgbClr val="6C6C6C"/>
            </a:solidFill>
            <a:prstDash val="solid"/>
          </a:ln>
        </p:spPr>
        <p:txBody>
          <a:bodyPr/>
          <a:lstStyle/>
          <a:p>
            <a:endParaRPr lang="en-US"/>
          </a:p>
        </p:txBody>
      </p:sp>
      <p:sp>
        <p:nvSpPr>
          <p:cNvPr id="120" name="Shape 118"/>
          <p:cNvSpPr/>
          <p:nvPr/>
        </p:nvSpPr>
        <p:spPr>
          <a:xfrm>
            <a:off x="1545336" y="3579510"/>
            <a:ext cx="73152" cy="73152"/>
          </a:xfrm>
          <a:prstGeom prst="ellipse">
            <a:avLst/>
          </a:prstGeom>
          <a:solidFill>
            <a:srgbClr val="7D7D7D"/>
          </a:solidFill>
          <a:ln w="12700">
            <a:solidFill>
              <a:srgbClr val="7D7D7D"/>
            </a:solidFill>
            <a:prstDash val="solid"/>
          </a:ln>
        </p:spPr>
        <p:txBody>
          <a:bodyPr/>
          <a:lstStyle/>
          <a:p>
            <a:endParaRPr lang="en-US"/>
          </a:p>
        </p:txBody>
      </p:sp>
      <p:sp>
        <p:nvSpPr>
          <p:cNvPr id="121" name="Shape 119"/>
          <p:cNvSpPr/>
          <p:nvPr/>
        </p:nvSpPr>
        <p:spPr>
          <a:xfrm>
            <a:off x="1709928" y="3579510"/>
            <a:ext cx="73152" cy="73152"/>
          </a:xfrm>
          <a:prstGeom prst="ellipse">
            <a:avLst/>
          </a:prstGeom>
          <a:solidFill>
            <a:srgbClr val="8E8E8E"/>
          </a:solidFill>
          <a:ln w="12700">
            <a:solidFill>
              <a:srgbClr val="8E8E8E"/>
            </a:solidFill>
            <a:prstDash val="solid"/>
          </a:ln>
        </p:spPr>
        <p:txBody>
          <a:bodyPr/>
          <a:lstStyle/>
          <a:p>
            <a:endParaRPr lang="en-US"/>
          </a:p>
        </p:txBody>
      </p:sp>
      <p:sp>
        <p:nvSpPr>
          <p:cNvPr id="122" name="Shape 120"/>
          <p:cNvSpPr/>
          <p:nvPr/>
        </p:nvSpPr>
        <p:spPr>
          <a:xfrm>
            <a:off x="1874520" y="3579510"/>
            <a:ext cx="73152" cy="73152"/>
          </a:xfrm>
          <a:prstGeom prst="ellipse">
            <a:avLst/>
          </a:prstGeom>
          <a:solidFill>
            <a:srgbClr val="9F9F9F"/>
          </a:solidFill>
          <a:ln w="12700">
            <a:solidFill>
              <a:srgbClr val="9F9F9F"/>
            </a:solidFill>
            <a:prstDash val="solid"/>
          </a:ln>
        </p:spPr>
        <p:txBody>
          <a:bodyPr/>
          <a:lstStyle/>
          <a:p>
            <a:endParaRPr lang="en-US"/>
          </a:p>
        </p:txBody>
      </p:sp>
      <p:sp>
        <p:nvSpPr>
          <p:cNvPr id="123" name="Shape 121"/>
          <p:cNvSpPr/>
          <p:nvPr/>
        </p:nvSpPr>
        <p:spPr>
          <a:xfrm>
            <a:off x="2039112" y="3579510"/>
            <a:ext cx="73152" cy="73152"/>
          </a:xfrm>
          <a:prstGeom prst="ellipse">
            <a:avLst/>
          </a:prstGeom>
          <a:solidFill>
            <a:srgbClr val="B0B0B0"/>
          </a:solidFill>
          <a:ln w="12700">
            <a:solidFill>
              <a:srgbClr val="B0B0B0"/>
            </a:solidFill>
            <a:prstDash val="solid"/>
          </a:ln>
        </p:spPr>
        <p:txBody>
          <a:bodyPr/>
          <a:lstStyle/>
          <a:p>
            <a:endParaRPr lang="en-US"/>
          </a:p>
        </p:txBody>
      </p:sp>
      <p:sp>
        <p:nvSpPr>
          <p:cNvPr id="124" name="Shape 122"/>
          <p:cNvSpPr/>
          <p:nvPr/>
        </p:nvSpPr>
        <p:spPr>
          <a:xfrm>
            <a:off x="2203704" y="3579510"/>
            <a:ext cx="73152" cy="73152"/>
          </a:xfrm>
          <a:prstGeom prst="ellipse">
            <a:avLst/>
          </a:prstGeom>
          <a:solidFill>
            <a:srgbClr val="C1C1C1"/>
          </a:solidFill>
          <a:ln w="12700">
            <a:solidFill>
              <a:srgbClr val="C1C1C1"/>
            </a:solidFill>
            <a:prstDash val="solid"/>
          </a:ln>
        </p:spPr>
        <p:txBody>
          <a:bodyPr/>
          <a:lstStyle/>
          <a:p>
            <a:endParaRPr lang="en-US"/>
          </a:p>
        </p:txBody>
      </p:sp>
      <p:sp>
        <p:nvSpPr>
          <p:cNvPr id="125" name="Shape 123"/>
          <p:cNvSpPr/>
          <p:nvPr/>
        </p:nvSpPr>
        <p:spPr>
          <a:xfrm>
            <a:off x="2368296" y="3579510"/>
            <a:ext cx="73152" cy="73152"/>
          </a:xfrm>
          <a:prstGeom prst="ellipse">
            <a:avLst/>
          </a:prstGeom>
          <a:solidFill>
            <a:srgbClr val="5A5A5A"/>
          </a:solidFill>
          <a:ln w="12700">
            <a:solidFill>
              <a:srgbClr val="5A5A5A"/>
            </a:solidFill>
            <a:prstDash val="solid"/>
          </a:ln>
        </p:spPr>
        <p:txBody>
          <a:bodyPr/>
          <a:lstStyle/>
          <a:p>
            <a:endParaRPr lang="en-US"/>
          </a:p>
        </p:txBody>
      </p:sp>
      <p:sp>
        <p:nvSpPr>
          <p:cNvPr id="126" name="Shape 124"/>
          <p:cNvSpPr/>
          <p:nvPr/>
        </p:nvSpPr>
        <p:spPr>
          <a:xfrm>
            <a:off x="2532888" y="3579510"/>
            <a:ext cx="73152" cy="73152"/>
          </a:xfrm>
          <a:prstGeom prst="ellipse">
            <a:avLst/>
          </a:prstGeom>
          <a:solidFill>
            <a:srgbClr val="6B6B6B"/>
          </a:solidFill>
          <a:ln w="12700">
            <a:solidFill>
              <a:srgbClr val="6B6B6B"/>
            </a:solidFill>
            <a:prstDash val="solid"/>
          </a:ln>
        </p:spPr>
        <p:txBody>
          <a:bodyPr/>
          <a:lstStyle/>
          <a:p>
            <a:endParaRPr lang="en-US"/>
          </a:p>
        </p:txBody>
      </p:sp>
      <p:sp>
        <p:nvSpPr>
          <p:cNvPr id="127" name="Shape 125"/>
          <p:cNvSpPr/>
          <p:nvPr/>
        </p:nvSpPr>
        <p:spPr>
          <a:xfrm>
            <a:off x="2697480" y="3579510"/>
            <a:ext cx="73152" cy="73152"/>
          </a:xfrm>
          <a:prstGeom prst="ellipse">
            <a:avLst/>
          </a:prstGeom>
          <a:solidFill>
            <a:srgbClr val="7C7C7C"/>
          </a:solidFill>
          <a:ln w="12700">
            <a:solidFill>
              <a:srgbClr val="7C7C7C"/>
            </a:solidFill>
            <a:prstDash val="solid"/>
          </a:ln>
        </p:spPr>
        <p:txBody>
          <a:bodyPr/>
          <a:lstStyle/>
          <a:p>
            <a:endParaRPr lang="en-US"/>
          </a:p>
        </p:txBody>
      </p:sp>
      <p:sp>
        <p:nvSpPr>
          <p:cNvPr id="128" name="Shape 126"/>
          <p:cNvSpPr/>
          <p:nvPr/>
        </p:nvSpPr>
        <p:spPr>
          <a:xfrm>
            <a:off x="2862072" y="3579510"/>
            <a:ext cx="73152" cy="73152"/>
          </a:xfrm>
          <a:prstGeom prst="ellipse">
            <a:avLst/>
          </a:prstGeom>
          <a:solidFill>
            <a:srgbClr val="8D8D8D"/>
          </a:solidFill>
          <a:ln w="12700">
            <a:solidFill>
              <a:srgbClr val="8D8D8D"/>
            </a:solidFill>
            <a:prstDash val="solid"/>
          </a:ln>
        </p:spPr>
        <p:txBody>
          <a:bodyPr/>
          <a:lstStyle/>
          <a:p>
            <a:endParaRPr lang="en-US"/>
          </a:p>
        </p:txBody>
      </p:sp>
      <p:sp>
        <p:nvSpPr>
          <p:cNvPr id="129" name="Shape 127"/>
          <p:cNvSpPr/>
          <p:nvPr/>
        </p:nvSpPr>
        <p:spPr>
          <a:xfrm>
            <a:off x="3026664" y="3579510"/>
            <a:ext cx="73152" cy="73152"/>
          </a:xfrm>
          <a:prstGeom prst="ellipse">
            <a:avLst/>
          </a:prstGeom>
          <a:solidFill>
            <a:srgbClr val="9E9E9E"/>
          </a:solidFill>
          <a:ln w="12700">
            <a:solidFill>
              <a:srgbClr val="9E9E9E"/>
            </a:solidFill>
            <a:prstDash val="solid"/>
          </a:ln>
        </p:spPr>
        <p:txBody>
          <a:bodyPr/>
          <a:lstStyle/>
          <a:p>
            <a:endParaRPr lang="en-US"/>
          </a:p>
        </p:txBody>
      </p:sp>
      <p:sp>
        <p:nvSpPr>
          <p:cNvPr id="130" name="Shape 128"/>
          <p:cNvSpPr/>
          <p:nvPr/>
        </p:nvSpPr>
        <p:spPr>
          <a:xfrm>
            <a:off x="3191256" y="3579510"/>
            <a:ext cx="73152" cy="73152"/>
          </a:xfrm>
          <a:prstGeom prst="ellipse">
            <a:avLst/>
          </a:prstGeom>
          <a:solidFill>
            <a:srgbClr val="AFAFAF"/>
          </a:solidFill>
          <a:ln w="12700">
            <a:solidFill>
              <a:srgbClr val="AFAFAF"/>
            </a:solidFill>
            <a:prstDash val="solid"/>
          </a:ln>
        </p:spPr>
        <p:txBody>
          <a:bodyPr/>
          <a:lstStyle/>
          <a:p>
            <a:endParaRPr lang="en-US"/>
          </a:p>
        </p:txBody>
      </p:sp>
      <p:sp>
        <p:nvSpPr>
          <p:cNvPr id="131" name="Shape 129"/>
          <p:cNvSpPr/>
          <p:nvPr/>
        </p:nvSpPr>
        <p:spPr>
          <a:xfrm>
            <a:off x="1051560" y="3789822"/>
            <a:ext cx="73152" cy="73152"/>
          </a:xfrm>
          <a:prstGeom prst="ellipse">
            <a:avLst/>
          </a:prstGeom>
          <a:solidFill>
            <a:srgbClr val="C0C0C0"/>
          </a:solidFill>
          <a:ln w="12700">
            <a:solidFill>
              <a:srgbClr val="C0C0C0"/>
            </a:solidFill>
            <a:prstDash val="solid"/>
          </a:ln>
        </p:spPr>
        <p:txBody>
          <a:bodyPr/>
          <a:lstStyle/>
          <a:p>
            <a:endParaRPr lang="en-US"/>
          </a:p>
        </p:txBody>
      </p:sp>
      <p:sp>
        <p:nvSpPr>
          <p:cNvPr id="132" name="Shape 130"/>
          <p:cNvSpPr/>
          <p:nvPr/>
        </p:nvSpPr>
        <p:spPr>
          <a:xfrm>
            <a:off x="1216152" y="3789822"/>
            <a:ext cx="73152" cy="73152"/>
          </a:xfrm>
          <a:prstGeom prst="ellipse">
            <a:avLst/>
          </a:prstGeom>
          <a:solidFill>
            <a:srgbClr val="D1D1D1"/>
          </a:solidFill>
          <a:ln w="12700">
            <a:solidFill>
              <a:srgbClr val="D1D1D1"/>
            </a:solidFill>
            <a:prstDash val="solid"/>
          </a:ln>
        </p:spPr>
        <p:txBody>
          <a:bodyPr/>
          <a:lstStyle/>
          <a:p>
            <a:endParaRPr lang="en-US"/>
          </a:p>
        </p:txBody>
      </p:sp>
      <p:sp>
        <p:nvSpPr>
          <p:cNvPr id="133" name="Shape 131"/>
          <p:cNvSpPr/>
          <p:nvPr/>
        </p:nvSpPr>
        <p:spPr>
          <a:xfrm>
            <a:off x="1380744" y="3789822"/>
            <a:ext cx="73152" cy="73152"/>
          </a:xfrm>
          <a:prstGeom prst="ellipse">
            <a:avLst/>
          </a:prstGeom>
          <a:solidFill>
            <a:srgbClr val="6A6A6A"/>
          </a:solidFill>
          <a:ln w="12700">
            <a:solidFill>
              <a:srgbClr val="6A6A6A"/>
            </a:solidFill>
            <a:prstDash val="solid"/>
          </a:ln>
        </p:spPr>
        <p:txBody>
          <a:bodyPr/>
          <a:lstStyle/>
          <a:p>
            <a:endParaRPr lang="en-US"/>
          </a:p>
        </p:txBody>
      </p:sp>
      <p:sp>
        <p:nvSpPr>
          <p:cNvPr id="134" name="Shape 132"/>
          <p:cNvSpPr/>
          <p:nvPr/>
        </p:nvSpPr>
        <p:spPr>
          <a:xfrm>
            <a:off x="1545336" y="3789822"/>
            <a:ext cx="73152" cy="73152"/>
          </a:xfrm>
          <a:prstGeom prst="ellipse">
            <a:avLst/>
          </a:prstGeom>
          <a:solidFill>
            <a:srgbClr val="7B7B7B"/>
          </a:solidFill>
          <a:ln w="12700">
            <a:solidFill>
              <a:srgbClr val="7B7B7B"/>
            </a:solidFill>
            <a:prstDash val="solid"/>
          </a:ln>
        </p:spPr>
        <p:txBody>
          <a:bodyPr/>
          <a:lstStyle/>
          <a:p>
            <a:endParaRPr lang="en-US"/>
          </a:p>
        </p:txBody>
      </p:sp>
      <p:sp>
        <p:nvSpPr>
          <p:cNvPr id="135" name="Shape 133"/>
          <p:cNvSpPr/>
          <p:nvPr/>
        </p:nvSpPr>
        <p:spPr>
          <a:xfrm>
            <a:off x="1709928" y="3789822"/>
            <a:ext cx="73152" cy="73152"/>
          </a:xfrm>
          <a:prstGeom prst="ellipse">
            <a:avLst/>
          </a:prstGeom>
          <a:solidFill>
            <a:srgbClr val="8C8C8C"/>
          </a:solidFill>
          <a:ln w="12700">
            <a:solidFill>
              <a:srgbClr val="8C8C8C"/>
            </a:solidFill>
            <a:prstDash val="solid"/>
          </a:ln>
        </p:spPr>
        <p:txBody>
          <a:bodyPr/>
          <a:lstStyle/>
          <a:p>
            <a:endParaRPr lang="en-US"/>
          </a:p>
        </p:txBody>
      </p:sp>
      <p:sp>
        <p:nvSpPr>
          <p:cNvPr id="136" name="Shape 134"/>
          <p:cNvSpPr/>
          <p:nvPr/>
        </p:nvSpPr>
        <p:spPr>
          <a:xfrm>
            <a:off x="1874520" y="3789822"/>
            <a:ext cx="73152" cy="73152"/>
          </a:xfrm>
          <a:prstGeom prst="ellipse">
            <a:avLst/>
          </a:prstGeom>
          <a:solidFill>
            <a:srgbClr val="9D9D9D"/>
          </a:solidFill>
          <a:ln w="12700">
            <a:solidFill>
              <a:srgbClr val="9D9D9D"/>
            </a:solidFill>
            <a:prstDash val="solid"/>
          </a:ln>
        </p:spPr>
        <p:txBody>
          <a:bodyPr/>
          <a:lstStyle/>
          <a:p>
            <a:endParaRPr lang="en-US"/>
          </a:p>
        </p:txBody>
      </p:sp>
      <p:sp>
        <p:nvSpPr>
          <p:cNvPr id="137" name="Shape 135"/>
          <p:cNvSpPr/>
          <p:nvPr/>
        </p:nvSpPr>
        <p:spPr>
          <a:xfrm>
            <a:off x="2039112" y="3789822"/>
            <a:ext cx="73152" cy="73152"/>
          </a:xfrm>
          <a:prstGeom prst="ellipse">
            <a:avLst/>
          </a:prstGeom>
          <a:solidFill>
            <a:srgbClr val="AEAEAE"/>
          </a:solidFill>
          <a:ln w="12700">
            <a:solidFill>
              <a:srgbClr val="AEAEAE"/>
            </a:solidFill>
            <a:prstDash val="solid"/>
          </a:ln>
        </p:spPr>
        <p:txBody>
          <a:bodyPr/>
          <a:lstStyle/>
          <a:p>
            <a:endParaRPr lang="en-US"/>
          </a:p>
        </p:txBody>
      </p:sp>
      <p:sp>
        <p:nvSpPr>
          <p:cNvPr id="138" name="Shape 136"/>
          <p:cNvSpPr/>
          <p:nvPr/>
        </p:nvSpPr>
        <p:spPr>
          <a:xfrm>
            <a:off x="2203704" y="3789822"/>
            <a:ext cx="73152" cy="73152"/>
          </a:xfrm>
          <a:prstGeom prst="ellipse">
            <a:avLst/>
          </a:prstGeom>
          <a:solidFill>
            <a:srgbClr val="BFBFBF"/>
          </a:solidFill>
          <a:ln w="12700">
            <a:solidFill>
              <a:srgbClr val="BFBFBF"/>
            </a:solidFill>
            <a:prstDash val="solid"/>
          </a:ln>
        </p:spPr>
        <p:txBody>
          <a:bodyPr/>
          <a:lstStyle/>
          <a:p>
            <a:endParaRPr lang="en-US"/>
          </a:p>
        </p:txBody>
      </p:sp>
      <p:sp>
        <p:nvSpPr>
          <p:cNvPr id="139" name="Shape 137"/>
          <p:cNvSpPr/>
          <p:nvPr/>
        </p:nvSpPr>
        <p:spPr>
          <a:xfrm>
            <a:off x="2368296" y="3789822"/>
            <a:ext cx="73152" cy="73152"/>
          </a:xfrm>
          <a:prstGeom prst="ellipse">
            <a:avLst/>
          </a:prstGeom>
          <a:solidFill>
            <a:srgbClr val="D0D0D0"/>
          </a:solidFill>
          <a:ln w="12700">
            <a:solidFill>
              <a:srgbClr val="D0D0D0"/>
            </a:solidFill>
            <a:prstDash val="solid"/>
          </a:ln>
        </p:spPr>
        <p:txBody>
          <a:bodyPr/>
          <a:lstStyle/>
          <a:p>
            <a:endParaRPr lang="en-US"/>
          </a:p>
        </p:txBody>
      </p:sp>
      <p:sp>
        <p:nvSpPr>
          <p:cNvPr id="140" name="Shape 138"/>
          <p:cNvSpPr/>
          <p:nvPr/>
        </p:nvSpPr>
        <p:spPr>
          <a:xfrm>
            <a:off x="2532888" y="3789822"/>
            <a:ext cx="73152" cy="73152"/>
          </a:xfrm>
          <a:prstGeom prst="ellipse">
            <a:avLst/>
          </a:prstGeom>
          <a:solidFill>
            <a:srgbClr val="696969"/>
          </a:solidFill>
          <a:ln w="12700">
            <a:solidFill>
              <a:srgbClr val="696969"/>
            </a:solidFill>
            <a:prstDash val="solid"/>
          </a:ln>
        </p:spPr>
        <p:txBody>
          <a:bodyPr/>
          <a:lstStyle/>
          <a:p>
            <a:endParaRPr lang="en-US"/>
          </a:p>
        </p:txBody>
      </p:sp>
      <p:sp>
        <p:nvSpPr>
          <p:cNvPr id="141" name="Shape 139"/>
          <p:cNvSpPr/>
          <p:nvPr/>
        </p:nvSpPr>
        <p:spPr>
          <a:xfrm>
            <a:off x="2697480" y="3789822"/>
            <a:ext cx="73152" cy="73152"/>
          </a:xfrm>
          <a:prstGeom prst="ellipse">
            <a:avLst/>
          </a:prstGeom>
          <a:solidFill>
            <a:srgbClr val="7A7A7A"/>
          </a:solidFill>
          <a:ln w="12700">
            <a:solidFill>
              <a:srgbClr val="7A7A7A"/>
            </a:solidFill>
            <a:prstDash val="solid"/>
          </a:ln>
        </p:spPr>
        <p:txBody>
          <a:bodyPr/>
          <a:lstStyle/>
          <a:p>
            <a:endParaRPr lang="en-US"/>
          </a:p>
        </p:txBody>
      </p:sp>
      <p:sp>
        <p:nvSpPr>
          <p:cNvPr id="142" name="Shape 140"/>
          <p:cNvSpPr/>
          <p:nvPr/>
        </p:nvSpPr>
        <p:spPr>
          <a:xfrm>
            <a:off x="2862072" y="3789822"/>
            <a:ext cx="73152" cy="73152"/>
          </a:xfrm>
          <a:prstGeom prst="ellipse">
            <a:avLst/>
          </a:prstGeom>
          <a:solidFill>
            <a:srgbClr val="8B8B8B"/>
          </a:solidFill>
          <a:ln w="12700">
            <a:solidFill>
              <a:srgbClr val="8B8B8B"/>
            </a:solidFill>
            <a:prstDash val="solid"/>
          </a:ln>
        </p:spPr>
        <p:txBody>
          <a:bodyPr/>
          <a:lstStyle/>
          <a:p>
            <a:endParaRPr lang="en-US"/>
          </a:p>
        </p:txBody>
      </p:sp>
      <p:sp>
        <p:nvSpPr>
          <p:cNvPr id="143" name="Shape 141"/>
          <p:cNvSpPr/>
          <p:nvPr/>
        </p:nvSpPr>
        <p:spPr>
          <a:xfrm>
            <a:off x="3026664" y="3789822"/>
            <a:ext cx="73152" cy="73152"/>
          </a:xfrm>
          <a:prstGeom prst="ellipse">
            <a:avLst/>
          </a:prstGeom>
          <a:solidFill>
            <a:srgbClr val="9C9C9C"/>
          </a:solidFill>
          <a:ln w="12700">
            <a:solidFill>
              <a:srgbClr val="9C9C9C"/>
            </a:solidFill>
            <a:prstDash val="solid"/>
          </a:ln>
        </p:spPr>
        <p:txBody>
          <a:bodyPr/>
          <a:lstStyle/>
          <a:p>
            <a:endParaRPr lang="en-US"/>
          </a:p>
        </p:txBody>
      </p:sp>
      <p:sp>
        <p:nvSpPr>
          <p:cNvPr id="144" name="Shape 142"/>
          <p:cNvSpPr/>
          <p:nvPr/>
        </p:nvSpPr>
        <p:spPr>
          <a:xfrm>
            <a:off x="3191256" y="3789822"/>
            <a:ext cx="73152" cy="73152"/>
          </a:xfrm>
          <a:prstGeom prst="ellipse">
            <a:avLst/>
          </a:prstGeom>
          <a:solidFill>
            <a:srgbClr val="ADADAD"/>
          </a:solidFill>
          <a:ln w="12700">
            <a:solidFill>
              <a:srgbClr val="ADADAD"/>
            </a:solidFill>
            <a:prstDash val="solid"/>
          </a:ln>
        </p:spPr>
        <p:txBody>
          <a:bodyPr/>
          <a:lstStyle/>
          <a:p>
            <a:endParaRPr lang="en-US"/>
          </a:p>
        </p:txBody>
      </p:sp>
      <p:sp>
        <p:nvSpPr>
          <p:cNvPr id="145" name="Text 143"/>
          <p:cNvSpPr/>
          <p:nvPr/>
        </p:nvSpPr>
        <p:spPr>
          <a:xfrm>
            <a:off x="1417320" y="4649359"/>
            <a:ext cx="1426464" cy="694943"/>
          </a:xfrm>
          <a:prstGeom prst="rect">
            <a:avLst/>
          </a:prstGeom>
          <a:noFill/>
          <a:ln/>
        </p:spPr>
        <p:txBody>
          <a:bodyPr wrap="square" rtlCol="0" anchor="ctr"/>
          <a:lstStyle/>
          <a:p>
            <a:pPr marL="0" indent="0" algn="ctr">
              <a:buNone/>
            </a:pPr>
            <a:r>
              <a:rPr lang="en-US" sz="1800" b="1" dirty="0">
                <a:solidFill>
                  <a:srgbClr val="6B7280"/>
                </a:solidFill>
              </a:rPr>
              <a:t>Just an image</a:t>
            </a:r>
            <a:endParaRPr lang="en-US" sz="1800" dirty="0"/>
          </a:p>
        </p:txBody>
      </p:sp>
      <p:sp>
        <p:nvSpPr>
          <p:cNvPr id="146" name="Shape 144"/>
          <p:cNvSpPr/>
          <p:nvPr/>
        </p:nvSpPr>
        <p:spPr>
          <a:xfrm>
            <a:off x="3931920" y="3222894"/>
            <a:ext cx="731520" cy="384048"/>
          </a:xfrm>
          <a:prstGeom prst="chevron">
            <a:avLst/>
          </a:prstGeom>
          <a:solidFill>
            <a:srgbClr val="A5B8CB"/>
          </a:solidFill>
          <a:ln w="12700">
            <a:solidFill>
              <a:srgbClr val="A5B8CB"/>
            </a:solidFill>
            <a:prstDash val="solid"/>
          </a:ln>
        </p:spPr>
        <p:txBody>
          <a:bodyPr/>
          <a:lstStyle/>
          <a:p>
            <a:endParaRPr lang="en-US"/>
          </a:p>
        </p:txBody>
      </p:sp>
      <p:sp>
        <p:nvSpPr>
          <p:cNvPr id="147" name="Shape 145"/>
          <p:cNvSpPr/>
          <p:nvPr/>
        </p:nvSpPr>
        <p:spPr>
          <a:xfrm>
            <a:off x="5312664" y="1794689"/>
            <a:ext cx="5169408" cy="3590111"/>
          </a:xfrm>
          <a:prstGeom prst="roundRect">
            <a:avLst>
              <a:gd name="adj" fmla="val 2637"/>
            </a:avLst>
          </a:prstGeom>
          <a:solidFill>
            <a:srgbClr val="EAF3FB"/>
          </a:solidFill>
          <a:ln w="12700">
            <a:solidFill>
              <a:srgbClr val="D7E0EA"/>
            </a:solidFill>
            <a:prstDash val="solid"/>
          </a:ln>
        </p:spPr>
        <p:txBody>
          <a:bodyPr/>
          <a:lstStyle/>
          <a:p>
            <a:endParaRPr lang="en-US" dirty="0"/>
          </a:p>
        </p:txBody>
      </p:sp>
      <p:sp>
        <p:nvSpPr>
          <p:cNvPr id="148" name="Text 146"/>
          <p:cNvSpPr/>
          <p:nvPr/>
        </p:nvSpPr>
        <p:spPr>
          <a:xfrm>
            <a:off x="5468112" y="2415461"/>
            <a:ext cx="5178552" cy="283439"/>
          </a:xfrm>
          <a:prstGeom prst="rect">
            <a:avLst/>
          </a:prstGeom>
          <a:noFill/>
          <a:ln/>
        </p:spPr>
        <p:txBody>
          <a:bodyPr wrap="square" rtlCol="0" anchor="ctr"/>
          <a:lstStyle/>
          <a:p>
            <a:pPr marL="0" indent="0">
              <a:buNone/>
            </a:pPr>
            <a:r>
              <a:rPr lang="en-US" sz="2400" b="1" dirty="0">
                <a:solidFill>
                  <a:srgbClr val="163A6B"/>
                </a:solidFill>
              </a:rPr>
              <a:t>metadata and workflow context include:</a:t>
            </a:r>
            <a:endParaRPr lang="en-US" sz="2400" dirty="0"/>
          </a:p>
        </p:txBody>
      </p:sp>
      <p:sp>
        <p:nvSpPr>
          <p:cNvPr id="149" name="Text 147"/>
          <p:cNvSpPr/>
          <p:nvPr/>
        </p:nvSpPr>
        <p:spPr>
          <a:xfrm>
            <a:off x="5440680" y="2537094"/>
            <a:ext cx="4754880" cy="2971800"/>
          </a:xfrm>
          <a:prstGeom prst="rect">
            <a:avLst/>
          </a:prstGeom>
          <a:noFill/>
          <a:ln/>
        </p:spPr>
        <p:txBody>
          <a:bodyPr wrap="square" lIns="254" tIns="254" rIns="254" bIns="254" rtlCol="0" anchor="ctr"/>
          <a:lstStyle/>
          <a:p>
            <a:pPr marL="0" indent="0">
              <a:buNone/>
            </a:pPr>
            <a:r>
              <a:rPr lang="en-US" sz="1800" dirty="0">
                <a:solidFill>
                  <a:srgbClr val="4D8C57"/>
                </a:solidFill>
              </a:rPr>
              <a:t>● </a:t>
            </a:r>
            <a:r>
              <a:rPr lang="en-US" sz="1800" dirty="0">
                <a:solidFill>
                  <a:srgbClr val="1E293B"/>
                </a:solidFill>
              </a:rPr>
              <a:t>sample ID / composition</a:t>
            </a:r>
          </a:p>
          <a:p>
            <a:r>
              <a:rPr lang="en-US" dirty="0">
                <a:solidFill>
                  <a:srgbClr val="4D8C57"/>
                </a:solidFill>
              </a:rPr>
              <a:t>● why this experiment was conducted</a:t>
            </a:r>
            <a:r>
              <a:rPr lang="en-US" sz="1800" dirty="0">
                <a:solidFill>
                  <a:srgbClr val="1E293B"/>
                </a:solidFill>
              </a:rPr>
              <a:t>
</a:t>
            </a:r>
            <a:r>
              <a:rPr lang="en-US" sz="1800" dirty="0">
                <a:solidFill>
                  <a:srgbClr val="4D8C57"/>
                </a:solidFill>
              </a:rPr>
              <a:t>● </a:t>
            </a:r>
            <a:r>
              <a:rPr lang="en-US" sz="1800" dirty="0">
                <a:solidFill>
                  <a:srgbClr val="1E293B"/>
                </a:solidFill>
              </a:rPr>
              <a:t>mode: TEM, STEM, HAADF, EDS…
</a:t>
            </a:r>
            <a:r>
              <a:rPr lang="en-US" sz="1800" dirty="0">
                <a:solidFill>
                  <a:srgbClr val="4D8C57"/>
                </a:solidFill>
              </a:rPr>
              <a:t>● </a:t>
            </a:r>
            <a:r>
              <a:rPr lang="en-US" sz="1800" dirty="0">
                <a:solidFill>
                  <a:srgbClr val="1E293B"/>
                </a:solidFill>
              </a:rPr>
              <a:t>instrument settings and calibration
</a:t>
            </a:r>
            <a:r>
              <a:rPr lang="en-US" sz="1800" dirty="0">
                <a:solidFill>
                  <a:srgbClr val="4D8C57"/>
                </a:solidFill>
              </a:rPr>
              <a:t>● </a:t>
            </a:r>
            <a:r>
              <a:rPr lang="en-US" sz="1800" dirty="0">
                <a:solidFill>
                  <a:srgbClr val="1E293B"/>
                </a:solidFill>
              </a:rPr>
              <a:t>acquisition date, operator, notes
</a:t>
            </a:r>
            <a:r>
              <a:rPr lang="en-US" sz="1800" dirty="0">
                <a:solidFill>
                  <a:srgbClr val="4D8C57"/>
                </a:solidFill>
              </a:rPr>
              <a:t>● </a:t>
            </a:r>
            <a:r>
              <a:rPr lang="en-US" sz="1800" dirty="0">
                <a:solidFill>
                  <a:srgbClr val="1E293B"/>
                </a:solidFill>
              </a:rPr>
              <a:t>processing steps and saved parameters</a:t>
            </a:r>
            <a:endParaRPr lang="en-US" sz="1800" dirty="0"/>
          </a:p>
        </p:txBody>
      </p:sp>
      <p:sp>
        <p:nvSpPr>
          <p:cNvPr id="150" name="Text 148"/>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6</a:t>
            </a:r>
            <a:endParaRPr lang="en-US" sz="900" dirty="0"/>
          </a:p>
        </p:txBody>
      </p:sp>
      <p:sp>
        <p:nvSpPr>
          <p:cNvPr id="152" name="TextBox 151">
            <a:extLst>
              <a:ext uri="{FF2B5EF4-FFF2-40B4-BE49-F238E27FC236}">
                <a16:creationId xmlns:a16="http://schemas.microsoft.com/office/drawing/2014/main" id="{C4DAFF11-0A01-490E-F6B1-DE0820156A1A}"/>
              </a:ext>
            </a:extLst>
          </p:cNvPr>
          <p:cNvSpPr txBox="1"/>
          <p:nvPr/>
        </p:nvSpPr>
        <p:spPr>
          <a:xfrm>
            <a:off x="5254139" y="6322516"/>
            <a:ext cx="6096000" cy="430887"/>
          </a:xfrm>
          <a:prstGeom prst="rect">
            <a:avLst/>
          </a:prstGeom>
          <a:noFill/>
        </p:spPr>
        <p:txBody>
          <a:bodyPr wrap="square">
            <a:spAutoFit/>
          </a:bodyPr>
          <a:lstStyle/>
          <a:p>
            <a:r>
              <a:rPr lang="en-US" sz="1100" dirty="0"/>
              <a:t>Taillon, J.S. et al, </a:t>
            </a:r>
            <a:r>
              <a:rPr lang="en-US" sz="1100" dirty="0" err="1"/>
              <a:t>MaRDA</a:t>
            </a:r>
            <a:r>
              <a:rPr lang="en-US" sz="1100" dirty="0"/>
              <a:t> recommendations on microscopy metadata and LIMS, l MRS Bulletin (2025) https://</a:t>
            </a:r>
            <a:r>
              <a:rPr lang="en-US" sz="1100" dirty="0" err="1"/>
              <a:t>link.springer.com</a:t>
            </a:r>
            <a:r>
              <a:rPr lang="en-US" sz="1100" dirty="0"/>
              <a:t>/article/10.1557/s43577-025-00882-2</a:t>
            </a:r>
          </a:p>
        </p:txBody>
      </p:sp>
      <p:sp>
        <p:nvSpPr>
          <p:cNvPr id="153" name="TextBox 152">
            <a:extLst>
              <a:ext uri="{FF2B5EF4-FFF2-40B4-BE49-F238E27FC236}">
                <a16:creationId xmlns:a16="http://schemas.microsoft.com/office/drawing/2014/main" id="{7E22979F-27B9-6C46-ABA9-D8A659388797}"/>
              </a:ext>
            </a:extLst>
          </p:cNvPr>
          <p:cNvSpPr txBox="1"/>
          <p:nvPr/>
        </p:nvSpPr>
        <p:spPr>
          <a:xfrm>
            <a:off x="5091249" y="1161922"/>
            <a:ext cx="6096000" cy="369332"/>
          </a:xfrm>
          <a:prstGeom prst="rect">
            <a:avLst/>
          </a:prstGeom>
          <a:noFill/>
        </p:spPr>
        <p:txBody>
          <a:bodyPr wrap="square">
            <a:spAutoFit/>
          </a:bodyPr>
          <a:lstStyle/>
          <a:p>
            <a:r>
              <a:rPr lang="en-US" dirty="0"/>
              <a:t>An image alone is often not enough to interpret later</a:t>
            </a:r>
          </a:p>
        </p:txBody>
      </p:sp>
      <p:sp>
        <p:nvSpPr>
          <p:cNvPr id="155" name="TextBox 154">
            <a:extLst>
              <a:ext uri="{FF2B5EF4-FFF2-40B4-BE49-F238E27FC236}">
                <a16:creationId xmlns:a16="http://schemas.microsoft.com/office/drawing/2014/main" id="{B51A6422-D121-EAEF-EE1F-C18F8E6CB312}"/>
              </a:ext>
            </a:extLst>
          </p:cNvPr>
          <p:cNvSpPr txBox="1"/>
          <p:nvPr/>
        </p:nvSpPr>
        <p:spPr>
          <a:xfrm>
            <a:off x="4162970" y="5665708"/>
            <a:ext cx="7449910" cy="369332"/>
          </a:xfrm>
          <a:prstGeom prst="rect">
            <a:avLst/>
          </a:prstGeom>
          <a:noFill/>
        </p:spPr>
        <p:txBody>
          <a:bodyPr wrap="square">
            <a:spAutoFit/>
          </a:bodyPr>
          <a:lstStyle/>
          <a:p>
            <a:r>
              <a:rPr lang="en-US" dirty="0"/>
              <a:t>The key point is that </a:t>
            </a:r>
            <a:r>
              <a:rPr lang="en-US" i="1" dirty="0"/>
              <a:t>data without context becomes hard to trust or reuse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Think in workflows, not “one and done”</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33" name="Text 31"/>
          <p:cNvSpPr/>
          <p:nvPr/>
        </p:nvSpPr>
        <p:spPr>
          <a:xfrm>
            <a:off x="1935480" y="3835122"/>
            <a:ext cx="8321040" cy="320040"/>
          </a:xfrm>
          <a:prstGeom prst="rect">
            <a:avLst/>
          </a:prstGeom>
          <a:noFill/>
          <a:ln/>
        </p:spPr>
        <p:txBody>
          <a:bodyPr wrap="square" rtlCol="0" anchor="ctr"/>
          <a:lstStyle/>
          <a:p>
            <a:pPr marL="0" indent="0" algn="ctr">
              <a:buNone/>
            </a:pPr>
            <a:r>
              <a:rPr lang="en-US" sz="2300" b="1" dirty="0">
                <a:solidFill>
                  <a:srgbClr val="163A6B"/>
                </a:solidFill>
              </a:rPr>
              <a:t>A workflow is a repeatable path from instrument to result</a:t>
            </a:r>
            <a:endParaRPr lang="en-US" sz="2300" dirty="0"/>
          </a:p>
        </p:txBody>
      </p:sp>
      <p:sp>
        <p:nvSpPr>
          <p:cNvPr id="34" name="Text 32"/>
          <p:cNvSpPr/>
          <p:nvPr/>
        </p:nvSpPr>
        <p:spPr>
          <a:xfrm>
            <a:off x="790955" y="4802829"/>
            <a:ext cx="11114532" cy="320040"/>
          </a:xfrm>
          <a:prstGeom prst="rect">
            <a:avLst/>
          </a:prstGeom>
          <a:noFill/>
          <a:ln/>
        </p:spPr>
        <p:txBody>
          <a:bodyPr wrap="square" rtlCol="0" anchor="ctr"/>
          <a:lstStyle/>
          <a:p>
            <a:pPr marL="0" indent="0" algn="ctr">
              <a:buNone/>
            </a:pPr>
            <a:r>
              <a:rPr lang="en-US" sz="1800" dirty="0">
                <a:solidFill>
                  <a:srgbClr val="1E293B"/>
                </a:solidFill>
              </a:rPr>
              <a:t>If you can name the steps, save the parameters, and keep the files linked, you are </a:t>
            </a:r>
            <a:r>
              <a:rPr lang="en-US" dirty="0">
                <a:solidFill>
                  <a:srgbClr val="1E293B"/>
                </a:solidFill>
              </a:rPr>
              <a:t>on the path to robust </a:t>
            </a:r>
            <a:r>
              <a:rPr lang="en-US" sz="1800" dirty="0">
                <a:solidFill>
                  <a:srgbClr val="1E293B"/>
                </a:solidFill>
              </a:rPr>
              <a:t>science.</a:t>
            </a:r>
            <a:endParaRPr lang="en-US" sz="1800" dirty="0"/>
          </a:p>
        </p:txBody>
      </p:sp>
      <p:sp>
        <p:nvSpPr>
          <p:cNvPr id="35" name="Text 33"/>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7</a:t>
            </a:r>
            <a:endParaRPr lang="en-US" sz="900" dirty="0"/>
          </a:p>
        </p:txBody>
      </p:sp>
      <p:pic>
        <p:nvPicPr>
          <p:cNvPr id="36" name="Picture 35">
            <a:extLst>
              <a:ext uri="{FF2B5EF4-FFF2-40B4-BE49-F238E27FC236}">
                <a16:creationId xmlns:a16="http://schemas.microsoft.com/office/drawing/2014/main" id="{4E37BD19-2691-C661-2D83-1437A92DC7D9}"/>
              </a:ext>
            </a:extLst>
          </p:cNvPr>
          <p:cNvPicPr>
            <a:picLocks noChangeAspect="1"/>
          </p:cNvPicPr>
          <p:nvPr/>
        </p:nvPicPr>
        <p:blipFill>
          <a:blip r:embed="rId3"/>
          <a:stretch>
            <a:fillRect/>
          </a:stretch>
        </p:blipFill>
        <p:spPr>
          <a:xfrm>
            <a:off x="98901" y="1997703"/>
            <a:ext cx="12055157" cy="1274238"/>
          </a:xfrm>
          <a:prstGeom prst="rect">
            <a:avLst/>
          </a:prstGeom>
        </p:spPr>
      </p:pic>
      <p:sp>
        <p:nvSpPr>
          <p:cNvPr id="38" name="TextBox 37">
            <a:extLst>
              <a:ext uri="{FF2B5EF4-FFF2-40B4-BE49-F238E27FC236}">
                <a16:creationId xmlns:a16="http://schemas.microsoft.com/office/drawing/2014/main" id="{0E3F7341-698E-C6A4-A12A-E67B30AC0DB6}"/>
              </a:ext>
            </a:extLst>
          </p:cNvPr>
          <p:cNvSpPr txBox="1"/>
          <p:nvPr/>
        </p:nvSpPr>
        <p:spPr>
          <a:xfrm>
            <a:off x="4135877" y="6260961"/>
            <a:ext cx="6578931" cy="553998"/>
          </a:xfrm>
          <a:prstGeom prst="rect">
            <a:avLst/>
          </a:prstGeom>
          <a:noFill/>
        </p:spPr>
        <p:txBody>
          <a:bodyPr wrap="square">
            <a:spAutoFit/>
          </a:bodyPr>
          <a:lstStyle/>
          <a:p>
            <a:r>
              <a:rPr lang="en-US" sz="1000" dirty="0"/>
              <a:t>R.J. Hanisch, et al, </a:t>
            </a:r>
            <a:r>
              <a:rPr lang="en-US" sz="1000" i="1" dirty="0"/>
              <a:t>NIST Research Data Framework (RDaF), Version 1.5</a:t>
            </a:r>
            <a:r>
              <a:rPr lang="en-US" sz="1000" dirty="0"/>
              <a:t> (NIST Special Publication NIST SP 1500-18r1, National Institute of Standards and Technology, Gaithersburg, May 2023). </a:t>
            </a:r>
            <a:r>
              <a:rPr lang="en-US" sz="1000" dirty="0">
                <a:hlinkClick r:id="rId4"/>
              </a:rPr>
              <a:t>https://doi.org/10.6028/NIST.SP.1500-18r1</a:t>
            </a:r>
            <a:r>
              <a:rPr lang="en-US" sz="1000" dirty="0"/>
              <a:t>; </a:t>
            </a:r>
            <a:r>
              <a:rPr lang="en-US" sz="1000" dirty="0">
                <a:hlinkClick r:id="rId5"/>
              </a:rPr>
              <a:t>https://nvlpubs.nist.gov/nistpubs/SpecialPublications/NIST.SP.1500-18r1.pdf</a:t>
            </a:r>
            <a:endParaRPr lang="en-US" sz="1000" dirty="0"/>
          </a:p>
        </p:txBody>
      </p:sp>
      <p:sp>
        <p:nvSpPr>
          <p:cNvPr id="5" name="TextBox 4">
            <a:extLst>
              <a:ext uri="{FF2B5EF4-FFF2-40B4-BE49-F238E27FC236}">
                <a16:creationId xmlns:a16="http://schemas.microsoft.com/office/drawing/2014/main" id="{D1275FBC-240B-F31C-54BC-14DCD31615A5}"/>
              </a:ext>
            </a:extLst>
          </p:cNvPr>
          <p:cNvSpPr txBox="1"/>
          <p:nvPr/>
        </p:nvSpPr>
        <p:spPr>
          <a:xfrm>
            <a:off x="1120196" y="5395255"/>
            <a:ext cx="10785291" cy="369332"/>
          </a:xfrm>
          <a:prstGeom prst="rect">
            <a:avLst/>
          </a:prstGeom>
          <a:noFill/>
        </p:spPr>
        <p:txBody>
          <a:bodyPr wrap="square">
            <a:spAutoFit/>
          </a:bodyPr>
          <a:lstStyle/>
          <a:p>
            <a:r>
              <a:rPr lang="en-US" dirty="0"/>
              <a:t>The “data trail” idea : keep a link between sample → experiment → settings → files → processing steps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Open code: own your analysis</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822960" y="1371600"/>
            <a:ext cx="4754880" cy="4480560"/>
          </a:xfrm>
          <a:prstGeom prst="roundRect">
            <a:avLst>
              <a:gd name="adj" fmla="val 2449"/>
            </a:avLst>
          </a:prstGeom>
          <a:solidFill>
            <a:srgbClr val="FDFDFD"/>
          </a:solidFill>
          <a:ln w="12700">
            <a:solidFill>
              <a:srgbClr val="D7E0EA"/>
            </a:solidFill>
            <a:prstDash val="solid"/>
          </a:ln>
        </p:spPr>
        <p:txBody>
          <a:bodyPr/>
          <a:lstStyle/>
          <a:p>
            <a:endParaRPr lang="en-US"/>
          </a:p>
        </p:txBody>
      </p:sp>
      <p:sp>
        <p:nvSpPr>
          <p:cNvPr id="5" name="Text 3"/>
          <p:cNvSpPr/>
          <p:nvPr/>
        </p:nvSpPr>
        <p:spPr>
          <a:xfrm>
            <a:off x="1097280" y="1783080"/>
            <a:ext cx="4114800" cy="274320"/>
          </a:xfrm>
          <a:prstGeom prst="rect">
            <a:avLst/>
          </a:prstGeom>
          <a:noFill/>
          <a:ln/>
        </p:spPr>
        <p:txBody>
          <a:bodyPr wrap="square" rtlCol="0" anchor="ctr"/>
          <a:lstStyle/>
          <a:p>
            <a:pPr marL="0" indent="0">
              <a:buNone/>
            </a:pPr>
            <a:r>
              <a:rPr lang="en-US" sz="2200" b="1" dirty="0">
                <a:solidFill>
                  <a:srgbClr val="163A6B"/>
                </a:solidFill>
              </a:rPr>
              <a:t>Even a simple notebook helps because it records:</a:t>
            </a:r>
            <a:endParaRPr lang="en-US" sz="2200" dirty="0"/>
          </a:p>
        </p:txBody>
      </p:sp>
      <p:sp>
        <p:nvSpPr>
          <p:cNvPr id="6" name="Text 4"/>
          <p:cNvSpPr/>
          <p:nvPr/>
        </p:nvSpPr>
        <p:spPr>
          <a:xfrm>
            <a:off x="1143000" y="2377440"/>
            <a:ext cx="4023360" cy="2414016"/>
          </a:xfrm>
          <a:prstGeom prst="rect">
            <a:avLst/>
          </a:prstGeom>
          <a:noFill/>
          <a:ln/>
        </p:spPr>
        <p:txBody>
          <a:bodyPr wrap="square" lIns="254" tIns="254" rIns="254" bIns="254" rtlCol="0" anchor="ctr"/>
          <a:lstStyle/>
          <a:p>
            <a:pPr marL="285750" indent="-285750">
              <a:buClr>
                <a:schemeClr val="accent2"/>
              </a:buClr>
              <a:buFont typeface="Arial" panose="020B0604020202020204" pitchFamily="34" charset="0"/>
              <a:buChar char="•"/>
            </a:pPr>
            <a:r>
              <a:rPr lang="en-US" sz="1800" dirty="0">
                <a:solidFill>
                  <a:srgbClr val="1E293B"/>
                </a:solidFill>
              </a:rPr>
              <a:t>what file you opened
what parameter you changed
what output you saved
what someone else would need to repeat it</a:t>
            </a:r>
            <a:endParaRPr lang="en-US" sz="1800" dirty="0"/>
          </a:p>
        </p:txBody>
      </p:sp>
      <p:sp>
        <p:nvSpPr>
          <p:cNvPr id="7" name="Shape 5"/>
          <p:cNvSpPr/>
          <p:nvPr/>
        </p:nvSpPr>
        <p:spPr>
          <a:xfrm>
            <a:off x="5897880" y="1371600"/>
            <a:ext cx="5394960" cy="4480560"/>
          </a:xfrm>
          <a:prstGeom prst="roundRect">
            <a:avLst>
              <a:gd name="adj" fmla="val 2449"/>
            </a:avLst>
          </a:prstGeom>
          <a:solidFill>
            <a:srgbClr val="EAF3FB"/>
          </a:solidFill>
          <a:ln w="12700">
            <a:solidFill>
              <a:srgbClr val="D7E0EA"/>
            </a:solidFill>
            <a:prstDash val="solid"/>
          </a:ln>
        </p:spPr>
        <p:txBody>
          <a:bodyPr/>
          <a:lstStyle/>
          <a:p>
            <a:endParaRPr lang="en-US"/>
          </a:p>
        </p:txBody>
      </p:sp>
      <p:sp>
        <p:nvSpPr>
          <p:cNvPr id="8" name="Shape 6"/>
          <p:cNvSpPr/>
          <p:nvPr/>
        </p:nvSpPr>
        <p:spPr>
          <a:xfrm>
            <a:off x="6355080" y="1828800"/>
            <a:ext cx="4526280" cy="1965960"/>
          </a:xfrm>
          <a:prstGeom prst="roundRect">
            <a:avLst>
              <a:gd name="adj" fmla="val 5581"/>
            </a:avLst>
          </a:prstGeom>
          <a:solidFill>
            <a:srgbClr val="FFFFFF"/>
          </a:solidFill>
          <a:ln w="12700">
            <a:solidFill>
              <a:srgbClr val="C9D7E5"/>
            </a:solidFill>
            <a:prstDash val="solid"/>
          </a:ln>
        </p:spPr>
        <p:txBody>
          <a:bodyPr/>
          <a:lstStyle/>
          <a:p>
            <a:endParaRPr lang="en-US"/>
          </a:p>
        </p:txBody>
      </p:sp>
      <p:sp>
        <p:nvSpPr>
          <p:cNvPr id="9" name="Text 7"/>
          <p:cNvSpPr/>
          <p:nvPr/>
        </p:nvSpPr>
        <p:spPr>
          <a:xfrm>
            <a:off x="6537959" y="1993392"/>
            <a:ext cx="2273531" cy="173711"/>
          </a:xfrm>
          <a:prstGeom prst="rect">
            <a:avLst/>
          </a:prstGeom>
          <a:noFill/>
          <a:ln/>
        </p:spPr>
        <p:txBody>
          <a:bodyPr wrap="square" rtlCol="0" anchor="ctr"/>
          <a:lstStyle/>
          <a:p>
            <a:pPr marL="0" indent="0">
              <a:buNone/>
            </a:pPr>
            <a:r>
              <a:rPr lang="en-US" sz="1500" b="1" dirty="0">
                <a:solidFill>
                  <a:srgbClr val="6B7280"/>
                </a:solidFill>
              </a:rPr>
              <a:t>Notebook.ipynb</a:t>
            </a:r>
            <a:endParaRPr lang="en-US" sz="1500" dirty="0"/>
          </a:p>
        </p:txBody>
      </p:sp>
      <p:sp>
        <p:nvSpPr>
          <p:cNvPr id="10" name="Shape 8"/>
          <p:cNvSpPr/>
          <p:nvPr/>
        </p:nvSpPr>
        <p:spPr>
          <a:xfrm>
            <a:off x="6601968" y="2331720"/>
            <a:ext cx="3566160" cy="0"/>
          </a:xfrm>
          <a:prstGeom prst="line">
            <a:avLst/>
          </a:prstGeom>
          <a:noFill/>
          <a:ln w="12700">
            <a:solidFill>
              <a:srgbClr val="5B8CC0"/>
            </a:solidFill>
            <a:prstDash val="solid"/>
          </a:ln>
        </p:spPr>
        <p:txBody>
          <a:bodyPr/>
          <a:lstStyle/>
          <a:p>
            <a:endParaRPr lang="en-US"/>
          </a:p>
        </p:txBody>
      </p:sp>
      <p:sp>
        <p:nvSpPr>
          <p:cNvPr id="11" name="Shape 9"/>
          <p:cNvSpPr/>
          <p:nvPr/>
        </p:nvSpPr>
        <p:spPr>
          <a:xfrm>
            <a:off x="6601968" y="2560320"/>
            <a:ext cx="2560320" cy="0"/>
          </a:xfrm>
          <a:prstGeom prst="line">
            <a:avLst/>
          </a:prstGeom>
          <a:noFill/>
          <a:ln w="12700">
            <a:solidFill>
              <a:srgbClr val="90B96F"/>
            </a:solidFill>
            <a:prstDash val="solid"/>
          </a:ln>
        </p:spPr>
        <p:txBody>
          <a:bodyPr/>
          <a:lstStyle/>
          <a:p>
            <a:endParaRPr lang="en-US"/>
          </a:p>
        </p:txBody>
      </p:sp>
      <p:sp>
        <p:nvSpPr>
          <p:cNvPr id="12" name="Shape 10"/>
          <p:cNvSpPr/>
          <p:nvPr/>
        </p:nvSpPr>
        <p:spPr>
          <a:xfrm>
            <a:off x="6601968" y="2788920"/>
            <a:ext cx="3749040" cy="0"/>
          </a:xfrm>
          <a:prstGeom prst="line">
            <a:avLst/>
          </a:prstGeom>
          <a:noFill/>
          <a:ln w="12700">
            <a:solidFill>
              <a:srgbClr val="E4A74A"/>
            </a:solidFill>
            <a:prstDash val="solid"/>
          </a:ln>
        </p:spPr>
        <p:txBody>
          <a:bodyPr/>
          <a:lstStyle/>
          <a:p>
            <a:endParaRPr lang="en-US"/>
          </a:p>
        </p:txBody>
      </p:sp>
      <p:sp>
        <p:nvSpPr>
          <p:cNvPr id="13" name="Shape 11"/>
          <p:cNvSpPr/>
          <p:nvPr/>
        </p:nvSpPr>
        <p:spPr>
          <a:xfrm>
            <a:off x="6601968" y="3035808"/>
            <a:ext cx="2011680" cy="0"/>
          </a:xfrm>
          <a:prstGeom prst="line">
            <a:avLst/>
          </a:prstGeom>
          <a:noFill/>
          <a:ln w="12700">
            <a:solidFill>
              <a:srgbClr val="86A7C5"/>
            </a:solidFill>
            <a:prstDash val="solid"/>
          </a:ln>
        </p:spPr>
        <p:txBody>
          <a:bodyPr/>
          <a:lstStyle/>
          <a:p>
            <a:endParaRPr lang="en-US"/>
          </a:p>
        </p:txBody>
      </p:sp>
      <p:sp>
        <p:nvSpPr>
          <p:cNvPr id="14" name="Shape 12"/>
          <p:cNvSpPr/>
          <p:nvPr/>
        </p:nvSpPr>
        <p:spPr>
          <a:xfrm>
            <a:off x="6601968" y="3273552"/>
            <a:ext cx="3108960" cy="0"/>
          </a:xfrm>
          <a:prstGeom prst="line">
            <a:avLst/>
          </a:prstGeom>
          <a:noFill/>
          <a:ln w="12700">
            <a:solidFill>
              <a:srgbClr val="B7C6D4"/>
            </a:solidFill>
            <a:prstDash val="solid"/>
          </a:ln>
        </p:spPr>
        <p:txBody>
          <a:bodyPr/>
          <a:lstStyle/>
          <a:p>
            <a:endParaRPr lang="en-US"/>
          </a:p>
        </p:txBody>
      </p:sp>
      <p:sp>
        <p:nvSpPr>
          <p:cNvPr id="15" name="Shape 13"/>
          <p:cNvSpPr/>
          <p:nvPr/>
        </p:nvSpPr>
        <p:spPr>
          <a:xfrm>
            <a:off x="6537960" y="4160520"/>
            <a:ext cx="4114800" cy="822960"/>
          </a:xfrm>
          <a:prstGeom prst="roundRect">
            <a:avLst>
              <a:gd name="adj" fmla="val 13333"/>
            </a:avLst>
          </a:prstGeom>
          <a:solidFill>
            <a:srgbClr val="EEF6EC"/>
          </a:solidFill>
          <a:ln w="12700">
            <a:solidFill>
              <a:srgbClr val="EEF6EC"/>
            </a:solidFill>
            <a:prstDash val="solid"/>
          </a:ln>
        </p:spPr>
        <p:txBody>
          <a:bodyPr/>
          <a:lstStyle/>
          <a:p>
            <a:endParaRPr lang="en-US"/>
          </a:p>
        </p:txBody>
      </p:sp>
      <p:sp>
        <p:nvSpPr>
          <p:cNvPr id="16" name="Text 14"/>
          <p:cNvSpPr/>
          <p:nvPr/>
        </p:nvSpPr>
        <p:spPr>
          <a:xfrm>
            <a:off x="6720840" y="4416552"/>
            <a:ext cx="3749040" cy="256032"/>
          </a:xfrm>
          <a:prstGeom prst="rect">
            <a:avLst/>
          </a:prstGeom>
          <a:noFill/>
          <a:ln/>
        </p:spPr>
        <p:txBody>
          <a:bodyPr wrap="square" rtlCol="0" anchor="ctr"/>
          <a:lstStyle/>
          <a:p>
            <a:pPr marL="0" indent="0" algn="ctr">
              <a:buNone/>
            </a:pPr>
            <a:r>
              <a:rPr lang="en-US" sz="1700" dirty="0">
                <a:solidFill>
                  <a:srgbClr val="1E293B"/>
                </a:solidFill>
              </a:rPr>
              <a:t>Think of open code as transparent lab notes you can rerun.</a:t>
            </a:r>
            <a:endParaRPr lang="en-US" sz="1700" dirty="0"/>
          </a:p>
        </p:txBody>
      </p:sp>
      <p:sp>
        <p:nvSpPr>
          <p:cNvPr id="17" name="Text 15"/>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8</a:t>
            </a:r>
            <a:endParaRPr lang="en-US" sz="900" dirty="0"/>
          </a:p>
        </p:txBody>
      </p:sp>
      <p:sp>
        <p:nvSpPr>
          <p:cNvPr id="19" name="TextBox 18">
            <a:extLst>
              <a:ext uri="{FF2B5EF4-FFF2-40B4-BE49-F238E27FC236}">
                <a16:creationId xmlns:a16="http://schemas.microsoft.com/office/drawing/2014/main" id="{A61BCCF2-FFB3-8E18-BF5B-E2AA5F0A516E}"/>
              </a:ext>
            </a:extLst>
          </p:cNvPr>
          <p:cNvSpPr txBox="1"/>
          <p:nvPr/>
        </p:nvSpPr>
        <p:spPr>
          <a:xfrm>
            <a:off x="1256538" y="6076295"/>
            <a:ext cx="10374630" cy="461665"/>
          </a:xfrm>
          <a:prstGeom prst="rect">
            <a:avLst/>
          </a:prstGeom>
          <a:noFill/>
        </p:spPr>
        <p:txBody>
          <a:bodyPr wrap="square">
            <a:spAutoFit/>
          </a:bodyPr>
          <a:lstStyle/>
          <a:p>
            <a:r>
              <a:rPr lang="en-US" sz="1200" dirty="0"/>
              <a:t>FAIR applies not only to data but also to the algorithms, tools, and workflows that led to the data: https://</a:t>
            </a:r>
            <a:r>
              <a:rPr lang="en-US" sz="1200" dirty="0" err="1"/>
              <a:t>www.nature.com</a:t>
            </a:r>
            <a:r>
              <a:rPr lang="en-US" sz="1200" dirty="0"/>
              <a:t>/articles/sdata201618
FAIR principles for research software overview: https://</a:t>
            </a:r>
            <a:r>
              <a:rPr lang="en-US" sz="1200" dirty="0" err="1"/>
              <a:t>www.nature.com</a:t>
            </a:r>
            <a:r>
              <a:rPr lang="en-US" sz="1200" dirty="0"/>
              <a:t>/articles/s41597-022-01710-x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What is metadata?</a:t>
            </a:r>
            <a:endParaRPr lang="en-US" sz="2400" dirty="0"/>
          </a:p>
        </p:txBody>
      </p:sp>
      <p:sp>
        <p:nvSpPr>
          <p:cNvPr id="3" name="Text 1"/>
          <p:cNvSpPr/>
          <p:nvPr/>
        </p:nvSpPr>
        <p:spPr>
          <a:xfrm>
            <a:off x="8823960" y="365760"/>
            <a:ext cx="2743200" cy="219456"/>
          </a:xfrm>
          <a:prstGeom prst="rect">
            <a:avLst/>
          </a:prstGeom>
          <a:noFill/>
          <a:ln/>
        </p:spPr>
        <p:txBody>
          <a:bodyPr wrap="square" rtlCol="0" anchor="ctr"/>
          <a:lstStyle/>
          <a:p>
            <a:pPr marL="0" indent="0" algn="r">
              <a:buNone/>
            </a:pPr>
            <a:r>
              <a:rPr lang="en-US" sz="1000" i="1" dirty="0">
                <a:solidFill>
                  <a:srgbClr val="6B7280"/>
                </a:solidFill>
              </a:rPr>
              <a:t>plain-language version</a:t>
            </a:r>
            <a:endParaRPr lang="en-US" sz="1000" dirty="0"/>
          </a:p>
        </p:txBody>
      </p:sp>
      <p:sp>
        <p:nvSpPr>
          <p:cNvPr id="4" name="Shape 2"/>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5" name="Shape 3"/>
          <p:cNvSpPr/>
          <p:nvPr/>
        </p:nvSpPr>
        <p:spPr>
          <a:xfrm>
            <a:off x="822960" y="1498665"/>
            <a:ext cx="3840480" cy="4389120"/>
          </a:xfrm>
          <a:prstGeom prst="roundRect">
            <a:avLst>
              <a:gd name="adj" fmla="val 2857"/>
            </a:avLst>
          </a:prstGeom>
          <a:solidFill>
            <a:srgbClr val="FFF8E8"/>
          </a:solidFill>
          <a:ln w="12700">
            <a:solidFill>
              <a:srgbClr val="F1D9A7"/>
            </a:solidFill>
            <a:prstDash val="solid"/>
          </a:ln>
        </p:spPr>
        <p:txBody>
          <a:bodyPr/>
          <a:lstStyle/>
          <a:p>
            <a:endParaRPr lang="en-US"/>
          </a:p>
        </p:txBody>
      </p:sp>
      <p:sp>
        <p:nvSpPr>
          <p:cNvPr id="6" name="Text 4"/>
          <p:cNvSpPr/>
          <p:nvPr/>
        </p:nvSpPr>
        <p:spPr>
          <a:xfrm>
            <a:off x="1143000" y="1901830"/>
            <a:ext cx="3200400" cy="274320"/>
          </a:xfrm>
          <a:prstGeom prst="rect">
            <a:avLst/>
          </a:prstGeom>
          <a:noFill/>
          <a:ln/>
        </p:spPr>
        <p:txBody>
          <a:bodyPr wrap="square" rtlCol="0" anchor="ctr"/>
          <a:lstStyle/>
          <a:p>
            <a:pPr marL="0" indent="0" algn="ctr">
              <a:buNone/>
            </a:pPr>
            <a:r>
              <a:rPr lang="en-US" sz="2400" b="1" dirty="0">
                <a:solidFill>
                  <a:srgbClr val="163A6B"/>
                </a:solidFill>
              </a:rPr>
              <a:t>Examples of data</a:t>
            </a:r>
            <a:endParaRPr lang="en-US" sz="2400" dirty="0"/>
          </a:p>
        </p:txBody>
      </p:sp>
      <p:sp>
        <p:nvSpPr>
          <p:cNvPr id="7" name="Shape 5"/>
          <p:cNvSpPr/>
          <p:nvPr/>
        </p:nvSpPr>
        <p:spPr>
          <a:xfrm>
            <a:off x="1234440" y="2541910"/>
            <a:ext cx="1463040" cy="822960"/>
          </a:xfrm>
          <a:prstGeom prst="roundRect">
            <a:avLst>
              <a:gd name="adj" fmla="val 13333"/>
            </a:avLst>
          </a:prstGeom>
          <a:solidFill>
            <a:srgbClr val="FFFFFF"/>
          </a:solidFill>
          <a:ln w="12700">
            <a:solidFill>
              <a:srgbClr val="E8C46A"/>
            </a:solidFill>
            <a:prstDash val="solid"/>
          </a:ln>
        </p:spPr>
        <p:txBody>
          <a:bodyPr/>
          <a:lstStyle/>
          <a:p>
            <a:endParaRPr lang="en-US"/>
          </a:p>
        </p:txBody>
      </p:sp>
      <p:sp>
        <p:nvSpPr>
          <p:cNvPr id="8" name="Text 6"/>
          <p:cNvSpPr/>
          <p:nvPr/>
        </p:nvSpPr>
        <p:spPr>
          <a:xfrm>
            <a:off x="1245128" y="2764275"/>
            <a:ext cx="1234440" cy="378229"/>
          </a:xfrm>
          <a:prstGeom prst="rect">
            <a:avLst/>
          </a:prstGeom>
          <a:noFill/>
          <a:ln/>
        </p:spPr>
        <p:txBody>
          <a:bodyPr wrap="square" rtlCol="0" anchor="ctr"/>
          <a:lstStyle/>
          <a:p>
            <a:pPr marL="0" indent="0" algn="ctr">
              <a:buNone/>
            </a:pPr>
            <a:r>
              <a:rPr lang="en-US" sz="2000" b="1" dirty="0">
                <a:solidFill>
                  <a:srgbClr val="1E293B"/>
                </a:solidFill>
              </a:rPr>
              <a:t>image</a:t>
            </a:r>
            <a:endParaRPr lang="en-US" sz="2000" dirty="0"/>
          </a:p>
        </p:txBody>
      </p:sp>
      <p:sp>
        <p:nvSpPr>
          <p:cNvPr id="9" name="Shape 7"/>
          <p:cNvSpPr/>
          <p:nvPr/>
        </p:nvSpPr>
        <p:spPr>
          <a:xfrm>
            <a:off x="2788920" y="2541910"/>
            <a:ext cx="1463040" cy="822960"/>
          </a:xfrm>
          <a:prstGeom prst="roundRect">
            <a:avLst>
              <a:gd name="adj" fmla="val 13333"/>
            </a:avLst>
          </a:prstGeom>
          <a:solidFill>
            <a:srgbClr val="FFFFFF"/>
          </a:solidFill>
          <a:ln w="12700">
            <a:solidFill>
              <a:srgbClr val="E8C46A"/>
            </a:solidFill>
            <a:prstDash val="solid"/>
          </a:ln>
        </p:spPr>
        <p:txBody>
          <a:bodyPr/>
          <a:lstStyle/>
          <a:p>
            <a:endParaRPr lang="en-US"/>
          </a:p>
        </p:txBody>
      </p:sp>
      <p:sp>
        <p:nvSpPr>
          <p:cNvPr id="10" name="Text 8"/>
          <p:cNvSpPr/>
          <p:nvPr/>
        </p:nvSpPr>
        <p:spPr>
          <a:xfrm>
            <a:off x="2971800" y="2766056"/>
            <a:ext cx="995152" cy="326274"/>
          </a:xfrm>
          <a:prstGeom prst="rect">
            <a:avLst/>
          </a:prstGeom>
          <a:noFill/>
          <a:ln/>
        </p:spPr>
        <p:txBody>
          <a:bodyPr wrap="square" rtlCol="0" anchor="ctr"/>
          <a:lstStyle/>
          <a:p>
            <a:pPr marL="0" indent="0" algn="ctr">
              <a:buNone/>
            </a:pPr>
            <a:r>
              <a:rPr lang="en-US" sz="2000" b="1" dirty="0">
                <a:solidFill>
                  <a:srgbClr val="1E293B"/>
                </a:solidFill>
              </a:rPr>
              <a:t>stack</a:t>
            </a:r>
            <a:endParaRPr lang="en-US" sz="2000" dirty="0"/>
          </a:p>
        </p:txBody>
      </p:sp>
      <p:sp>
        <p:nvSpPr>
          <p:cNvPr id="11" name="Shape 9"/>
          <p:cNvSpPr/>
          <p:nvPr/>
        </p:nvSpPr>
        <p:spPr>
          <a:xfrm>
            <a:off x="1234440" y="3776350"/>
            <a:ext cx="1463040" cy="822960"/>
          </a:xfrm>
          <a:prstGeom prst="roundRect">
            <a:avLst>
              <a:gd name="adj" fmla="val 13333"/>
            </a:avLst>
          </a:prstGeom>
          <a:solidFill>
            <a:srgbClr val="FFFFFF"/>
          </a:solidFill>
          <a:ln w="12700">
            <a:solidFill>
              <a:srgbClr val="E8C46A"/>
            </a:solidFill>
            <a:prstDash val="solid"/>
          </a:ln>
        </p:spPr>
        <p:txBody>
          <a:bodyPr/>
          <a:lstStyle/>
          <a:p>
            <a:endParaRPr lang="en-US"/>
          </a:p>
        </p:txBody>
      </p:sp>
      <p:sp>
        <p:nvSpPr>
          <p:cNvPr id="12" name="Text 10"/>
          <p:cNvSpPr/>
          <p:nvPr/>
        </p:nvSpPr>
        <p:spPr>
          <a:xfrm>
            <a:off x="1285504" y="4050670"/>
            <a:ext cx="1269472" cy="390698"/>
          </a:xfrm>
          <a:prstGeom prst="rect">
            <a:avLst/>
          </a:prstGeom>
          <a:noFill/>
          <a:ln/>
        </p:spPr>
        <p:txBody>
          <a:bodyPr wrap="square" rtlCol="0" anchor="ctr"/>
          <a:lstStyle/>
          <a:p>
            <a:pPr marL="0" indent="0" algn="ctr">
              <a:buNone/>
            </a:pPr>
            <a:r>
              <a:rPr lang="en-US" sz="1800" b="1" dirty="0">
                <a:solidFill>
                  <a:srgbClr val="1E293B"/>
                </a:solidFill>
              </a:rPr>
              <a:t>spectrum</a:t>
            </a:r>
            <a:endParaRPr lang="en-US" sz="1800" dirty="0"/>
          </a:p>
        </p:txBody>
      </p:sp>
      <p:sp>
        <p:nvSpPr>
          <p:cNvPr id="13" name="Shape 11"/>
          <p:cNvSpPr/>
          <p:nvPr/>
        </p:nvSpPr>
        <p:spPr>
          <a:xfrm>
            <a:off x="2788920" y="3776350"/>
            <a:ext cx="1463040" cy="822960"/>
          </a:xfrm>
          <a:prstGeom prst="roundRect">
            <a:avLst>
              <a:gd name="adj" fmla="val 13333"/>
            </a:avLst>
          </a:prstGeom>
          <a:solidFill>
            <a:srgbClr val="FFFFFF"/>
          </a:solidFill>
          <a:ln w="12700">
            <a:solidFill>
              <a:srgbClr val="E8C46A"/>
            </a:solidFill>
            <a:prstDash val="solid"/>
          </a:ln>
        </p:spPr>
        <p:txBody>
          <a:bodyPr/>
          <a:lstStyle/>
          <a:p>
            <a:endParaRPr lang="en-US"/>
          </a:p>
        </p:txBody>
      </p:sp>
      <p:sp>
        <p:nvSpPr>
          <p:cNvPr id="14" name="Text 12"/>
          <p:cNvSpPr/>
          <p:nvPr/>
        </p:nvSpPr>
        <p:spPr>
          <a:xfrm>
            <a:off x="2857500" y="4004949"/>
            <a:ext cx="1280160" cy="390698"/>
          </a:xfrm>
          <a:prstGeom prst="rect">
            <a:avLst/>
          </a:prstGeom>
          <a:noFill/>
          <a:ln/>
        </p:spPr>
        <p:txBody>
          <a:bodyPr wrap="square" rtlCol="0" anchor="ctr"/>
          <a:lstStyle/>
          <a:p>
            <a:pPr marL="0" indent="0" algn="ctr">
              <a:buNone/>
            </a:pPr>
            <a:r>
              <a:rPr lang="en-US" sz="1800" b="1" dirty="0">
                <a:solidFill>
                  <a:srgbClr val="1E293B"/>
                </a:solidFill>
              </a:rPr>
              <a:t>notebook</a:t>
            </a:r>
            <a:endParaRPr lang="en-US" sz="1800" dirty="0"/>
          </a:p>
        </p:txBody>
      </p:sp>
      <p:sp>
        <p:nvSpPr>
          <p:cNvPr id="15" name="Shape 13"/>
          <p:cNvSpPr/>
          <p:nvPr/>
        </p:nvSpPr>
        <p:spPr>
          <a:xfrm>
            <a:off x="4983480" y="1463040"/>
            <a:ext cx="6035040" cy="4389120"/>
          </a:xfrm>
          <a:prstGeom prst="roundRect">
            <a:avLst>
              <a:gd name="adj" fmla="val 2500"/>
            </a:avLst>
          </a:prstGeom>
          <a:solidFill>
            <a:srgbClr val="EAF3FB"/>
          </a:solidFill>
          <a:ln w="12700">
            <a:solidFill>
              <a:srgbClr val="D7E0EA"/>
            </a:solidFill>
            <a:prstDash val="solid"/>
          </a:ln>
        </p:spPr>
        <p:txBody>
          <a:bodyPr/>
          <a:lstStyle/>
          <a:p>
            <a:endParaRPr lang="en-US"/>
          </a:p>
        </p:txBody>
      </p:sp>
      <p:sp>
        <p:nvSpPr>
          <p:cNvPr id="16" name="Text 14"/>
          <p:cNvSpPr/>
          <p:nvPr/>
        </p:nvSpPr>
        <p:spPr>
          <a:xfrm>
            <a:off x="5303520" y="1783079"/>
            <a:ext cx="5394960" cy="1007621"/>
          </a:xfrm>
          <a:prstGeom prst="rect">
            <a:avLst/>
          </a:prstGeom>
          <a:noFill/>
          <a:ln/>
        </p:spPr>
        <p:txBody>
          <a:bodyPr wrap="square" rtlCol="0" anchor="ctr"/>
          <a:lstStyle/>
          <a:p>
            <a:pPr marL="0" indent="0">
              <a:buNone/>
            </a:pPr>
            <a:r>
              <a:rPr lang="en-US" sz="2400" b="1" dirty="0">
                <a:solidFill>
                  <a:srgbClr val="163A6B"/>
                </a:solidFill>
              </a:rPr>
              <a:t>Metadata = the information that makes a file understandable.</a:t>
            </a:r>
            <a:endParaRPr lang="en-US" sz="2400" dirty="0"/>
          </a:p>
        </p:txBody>
      </p:sp>
      <p:sp>
        <p:nvSpPr>
          <p:cNvPr id="17" name="Text 15"/>
          <p:cNvSpPr/>
          <p:nvPr/>
        </p:nvSpPr>
        <p:spPr>
          <a:xfrm>
            <a:off x="5394960" y="2468880"/>
            <a:ext cx="4754880" cy="2971800"/>
          </a:xfrm>
          <a:prstGeom prst="rect">
            <a:avLst/>
          </a:prstGeom>
          <a:noFill/>
          <a:ln/>
        </p:spPr>
        <p:txBody>
          <a:bodyPr wrap="square" lIns="254" tIns="254" rIns="254" bIns="254" rtlCol="0" anchor="ctr"/>
          <a:lstStyle/>
          <a:p>
            <a:pPr marL="0" indent="0">
              <a:buNone/>
            </a:pPr>
            <a:r>
              <a:rPr lang="en-US" sz="1800" dirty="0">
                <a:solidFill>
                  <a:srgbClr val="2E6AA6"/>
                </a:solidFill>
              </a:rPr>
              <a:t>● </a:t>
            </a:r>
            <a:r>
              <a:rPr lang="en-US" sz="1800" dirty="0">
                <a:solidFill>
                  <a:srgbClr val="1E293B"/>
                </a:solidFill>
              </a:rPr>
              <a:t>what sample it is
</a:t>
            </a:r>
            <a:r>
              <a:rPr lang="en-US" sz="1800" dirty="0">
                <a:solidFill>
                  <a:srgbClr val="2E6AA6"/>
                </a:solidFill>
              </a:rPr>
              <a:t>● </a:t>
            </a:r>
            <a:r>
              <a:rPr lang="en-US" sz="1800" dirty="0">
                <a:solidFill>
                  <a:srgbClr val="1E293B"/>
                </a:solidFill>
              </a:rPr>
              <a:t>how the data were acquired
</a:t>
            </a:r>
            <a:r>
              <a:rPr lang="en-US" sz="1800" dirty="0">
                <a:solidFill>
                  <a:srgbClr val="2E6AA6"/>
                </a:solidFill>
              </a:rPr>
              <a:t>● </a:t>
            </a:r>
            <a:r>
              <a:rPr lang="en-US" sz="1800" dirty="0">
                <a:solidFill>
                  <a:srgbClr val="1E293B"/>
                </a:solidFill>
              </a:rPr>
              <a:t>what the units / scale are
</a:t>
            </a:r>
            <a:r>
              <a:rPr lang="en-US" sz="1800" dirty="0">
                <a:solidFill>
                  <a:srgbClr val="2E6AA6"/>
                </a:solidFill>
              </a:rPr>
              <a:t>● </a:t>
            </a:r>
            <a:r>
              <a:rPr lang="en-US" sz="1800" dirty="0">
                <a:solidFill>
                  <a:srgbClr val="1E293B"/>
                </a:solidFill>
              </a:rPr>
              <a:t>what processing already happened
</a:t>
            </a:r>
            <a:r>
              <a:rPr lang="en-US" sz="1800" dirty="0">
                <a:solidFill>
                  <a:srgbClr val="2E6AA6"/>
                </a:solidFill>
              </a:rPr>
              <a:t>● </a:t>
            </a:r>
            <a:r>
              <a:rPr lang="en-US" sz="1800" dirty="0">
                <a:solidFill>
                  <a:srgbClr val="1E293B"/>
                </a:solidFill>
              </a:rPr>
              <a:t>what terms and identifiers were used</a:t>
            </a:r>
            <a:endParaRPr lang="en-US" sz="1800" dirty="0"/>
          </a:p>
        </p:txBody>
      </p:sp>
      <p:sp>
        <p:nvSpPr>
          <p:cNvPr id="18" name="Text 16"/>
          <p:cNvSpPr/>
          <p:nvPr/>
        </p:nvSpPr>
        <p:spPr>
          <a:xfrm>
            <a:off x="11631168" y="6309360"/>
            <a:ext cx="274320" cy="164592"/>
          </a:xfrm>
          <a:prstGeom prst="rect">
            <a:avLst/>
          </a:prstGeom>
          <a:noFill/>
          <a:ln/>
        </p:spPr>
        <p:txBody>
          <a:bodyPr wrap="square" rtlCol="0" anchor="ctr"/>
          <a:lstStyle/>
          <a:p>
            <a:pPr marL="0" indent="0" algn="r">
              <a:buNone/>
            </a:pPr>
            <a:r>
              <a:rPr lang="en-US" sz="900" dirty="0">
                <a:solidFill>
                  <a:srgbClr val="6B728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Minimum viable metadata for TEM</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914400" y="1325880"/>
            <a:ext cx="4937760" cy="4526280"/>
          </a:xfrm>
          <a:prstGeom prst="roundRect">
            <a:avLst>
              <a:gd name="adj" fmla="val 2424"/>
            </a:avLst>
          </a:prstGeom>
          <a:solidFill>
            <a:srgbClr val="FDFDFD"/>
          </a:solidFill>
          <a:ln w="12700">
            <a:solidFill>
              <a:srgbClr val="D7E0EA"/>
            </a:solidFill>
            <a:prstDash val="solid"/>
          </a:ln>
        </p:spPr>
        <p:txBody>
          <a:bodyPr/>
          <a:lstStyle/>
          <a:p>
            <a:endParaRPr lang="en-US"/>
          </a:p>
        </p:txBody>
      </p:sp>
      <p:sp>
        <p:nvSpPr>
          <p:cNvPr id="5" name="Shape 3"/>
          <p:cNvSpPr/>
          <p:nvPr/>
        </p:nvSpPr>
        <p:spPr>
          <a:xfrm>
            <a:off x="1143000" y="1664208"/>
            <a:ext cx="1965960" cy="429768"/>
          </a:xfrm>
          <a:prstGeom prst="roundRect">
            <a:avLst>
              <a:gd name="adj" fmla="val 25532"/>
            </a:avLst>
          </a:prstGeom>
          <a:solidFill>
            <a:srgbClr val="EFF4FA"/>
          </a:solidFill>
          <a:ln w="12700">
            <a:solidFill>
              <a:srgbClr val="DCE7F2"/>
            </a:solidFill>
            <a:prstDash val="solid"/>
          </a:ln>
        </p:spPr>
        <p:txBody>
          <a:bodyPr/>
          <a:lstStyle/>
          <a:p>
            <a:endParaRPr lang="en-US"/>
          </a:p>
        </p:txBody>
      </p:sp>
      <p:sp>
        <p:nvSpPr>
          <p:cNvPr id="6" name="Shape 4"/>
          <p:cNvSpPr/>
          <p:nvPr/>
        </p:nvSpPr>
        <p:spPr>
          <a:xfrm>
            <a:off x="3154680" y="1664208"/>
            <a:ext cx="2331720" cy="429768"/>
          </a:xfrm>
          <a:prstGeom prst="roundRect">
            <a:avLst>
              <a:gd name="adj" fmla="val 25532"/>
            </a:avLst>
          </a:prstGeom>
          <a:solidFill>
            <a:srgbClr val="FFFFFF"/>
          </a:solidFill>
          <a:ln w="12700">
            <a:solidFill>
              <a:srgbClr val="E6EDF3"/>
            </a:solidFill>
            <a:prstDash val="solid"/>
          </a:ln>
        </p:spPr>
        <p:txBody>
          <a:bodyPr/>
          <a:lstStyle/>
          <a:p>
            <a:endParaRPr lang="en-US"/>
          </a:p>
        </p:txBody>
      </p:sp>
      <p:sp>
        <p:nvSpPr>
          <p:cNvPr id="7" name="Text 5"/>
          <p:cNvSpPr/>
          <p:nvPr/>
        </p:nvSpPr>
        <p:spPr>
          <a:xfrm>
            <a:off x="1261872" y="1773936"/>
            <a:ext cx="1645920" cy="164592"/>
          </a:xfrm>
          <a:prstGeom prst="rect">
            <a:avLst/>
          </a:prstGeom>
          <a:noFill/>
          <a:ln/>
        </p:spPr>
        <p:txBody>
          <a:bodyPr wrap="square" rtlCol="0" anchor="ctr"/>
          <a:lstStyle/>
          <a:p>
            <a:pPr marL="0" indent="0">
              <a:buNone/>
            </a:pPr>
            <a:r>
              <a:rPr lang="en-US" sz="1600" b="1" dirty="0">
                <a:solidFill>
                  <a:srgbClr val="163A6B"/>
                </a:solidFill>
              </a:rPr>
              <a:t>Sample ID</a:t>
            </a:r>
            <a:endParaRPr lang="en-US" sz="1600" dirty="0"/>
          </a:p>
        </p:txBody>
      </p:sp>
      <p:sp>
        <p:nvSpPr>
          <p:cNvPr id="8" name="Text 6"/>
          <p:cNvSpPr/>
          <p:nvPr/>
        </p:nvSpPr>
        <p:spPr>
          <a:xfrm>
            <a:off x="3291840" y="1773936"/>
            <a:ext cx="1920240" cy="164592"/>
          </a:xfrm>
          <a:prstGeom prst="rect">
            <a:avLst/>
          </a:prstGeom>
          <a:noFill/>
          <a:ln/>
        </p:spPr>
        <p:txBody>
          <a:bodyPr wrap="square" rtlCol="0" anchor="ctr"/>
          <a:lstStyle/>
          <a:p>
            <a:pPr marL="0" indent="0">
              <a:buNone/>
            </a:pPr>
            <a:r>
              <a:rPr lang="en-US" sz="1500" dirty="0">
                <a:solidFill>
                  <a:srgbClr val="1E293B"/>
                </a:solidFill>
              </a:rPr>
              <a:t>film_001</a:t>
            </a:r>
            <a:endParaRPr lang="en-US" sz="1500" dirty="0"/>
          </a:p>
        </p:txBody>
      </p:sp>
      <p:sp>
        <p:nvSpPr>
          <p:cNvPr id="9" name="Shape 7"/>
          <p:cNvSpPr/>
          <p:nvPr/>
        </p:nvSpPr>
        <p:spPr>
          <a:xfrm>
            <a:off x="1143000" y="2286000"/>
            <a:ext cx="1965960" cy="429768"/>
          </a:xfrm>
          <a:prstGeom prst="roundRect">
            <a:avLst>
              <a:gd name="adj" fmla="val 25532"/>
            </a:avLst>
          </a:prstGeom>
          <a:solidFill>
            <a:srgbClr val="EFF4FA"/>
          </a:solidFill>
          <a:ln w="12700">
            <a:solidFill>
              <a:srgbClr val="DCE7F2"/>
            </a:solidFill>
            <a:prstDash val="solid"/>
          </a:ln>
        </p:spPr>
        <p:txBody>
          <a:bodyPr/>
          <a:lstStyle/>
          <a:p>
            <a:endParaRPr lang="en-US"/>
          </a:p>
        </p:txBody>
      </p:sp>
      <p:sp>
        <p:nvSpPr>
          <p:cNvPr id="10" name="Shape 8"/>
          <p:cNvSpPr/>
          <p:nvPr/>
        </p:nvSpPr>
        <p:spPr>
          <a:xfrm>
            <a:off x="3154680" y="2286000"/>
            <a:ext cx="2331720" cy="429768"/>
          </a:xfrm>
          <a:prstGeom prst="roundRect">
            <a:avLst>
              <a:gd name="adj" fmla="val 25532"/>
            </a:avLst>
          </a:prstGeom>
          <a:solidFill>
            <a:srgbClr val="FFFFFF"/>
          </a:solidFill>
          <a:ln w="12700">
            <a:solidFill>
              <a:srgbClr val="E6EDF3"/>
            </a:solidFill>
            <a:prstDash val="solid"/>
          </a:ln>
        </p:spPr>
        <p:txBody>
          <a:bodyPr/>
          <a:lstStyle/>
          <a:p>
            <a:endParaRPr lang="en-US"/>
          </a:p>
        </p:txBody>
      </p:sp>
      <p:sp>
        <p:nvSpPr>
          <p:cNvPr id="11" name="Text 9"/>
          <p:cNvSpPr/>
          <p:nvPr/>
        </p:nvSpPr>
        <p:spPr>
          <a:xfrm>
            <a:off x="1261872" y="2395728"/>
            <a:ext cx="1645920" cy="164592"/>
          </a:xfrm>
          <a:prstGeom prst="rect">
            <a:avLst/>
          </a:prstGeom>
          <a:noFill/>
          <a:ln/>
        </p:spPr>
        <p:txBody>
          <a:bodyPr wrap="square" rtlCol="0" anchor="ctr"/>
          <a:lstStyle/>
          <a:p>
            <a:pPr marL="0" indent="0">
              <a:buNone/>
            </a:pPr>
            <a:r>
              <a:rPr lang="en-US" sz="1600" b="1" dirty="0">
                <a:solidFill>
                  <a:srgbClr val="163A6B"/>
                </a:solidFill>
              </a:rPr>
              <a:t>Technique</a:t>
            </a:r>
            <a:endParaRPr lang="en-US" sz="1600" dirty="0"/>
          </a:p>
        </p:txBody>
      </p:sp>
      <p:sp>
        <p:nvSpPr>
          <p:cNvPr id="12" name="Text 10"/>
          <p:cNvSpPr/>
          <p:nvPr/>
        </p:nvSpPr>
        <p:spPr>
          <a:xfrm>
            <a:off x="3291840" y="2395728"/>
            <a:ext cx="1920240" cy="164592"/>
          </a:xfrm>
          <a:prstGeom prst="rect">
            <a:avLst/>
          </a:prstGeom>
          <a:noFill/>
          <a:ln/>
        </p:spPr>
        <p:txBody>
          <a:bodyPr wrap="square" rtlCol="0" anchor="ctr"/>
          <a:lstStyle/>
          <a:p>
            <a:pPr marL="0" indent="0">
              <a:buNone/>
            </a:pPr>
            <a:r>
              <a:rPr lang="en-US" sz="1500" dirty="0">
                <a:solidFill>
                  <a:srgbClr val="1E293B"/>
                </a:solidFill>
              </a:rPr>
              <a:t>TEM / STEM / SAED</a:t>
            </a:r>
            <a:endParaRPr lang="en-US" sz="1500" dirty="0"/>
          </a:p>
        </p:txBody>
      </p:sp>
      <p:sp>
        <p:nvSpPr>
          <p:cNvPr id="13" name="Shape 11"/>
          <p:cNvSpPr/>
          <p:nvPr/>
        </p:nvSpPr>
        <p:spPr>
          <a:xfrm>
            <a:off x="1143000" y="2907792"/>
            <a:ext cx="1965960" cy="429768"/>
          </a:xfrm>
          <a:prstGeom prst="roundRect">
            <a:avLst>
              <a:gd name="adj" fmla="val 25532"/>
            </a:avLst>
          </a:prstGeom>
          <a:solidFill>
            <a:srgbClr val="EFF4FA"/>
          </a:solidFill>
          <a:ln w="12700">
            <a:solidFill>
              <a:srgbClr val="DCE7F2"/>
            </a:solidFill>
            <a:prstDash val="solid"/>
          </a:ln>
        </p:spPr>
        <p:txBody>
          <a:bodyPr/>
          <a:lstStyle/>
          <a:p>
            <a:endParaRPr lang="en-US"/>
          </a:p>
        </p:txBody>
      </p:sp>
      <p:sp>
        <p:nvSpPr>
          <p:cNvPr id="14" name="Shape 12"/>
          <p:cNvSpPr/>
          <p:nvPr/>
        </p:nvSpPr>
        <p:spPr>
          <a:xfrm>
            <a:off x="3154680" y="2907792"/>
            <a:ext cx="2331720" cy="429768"/>
          </a:xfrm>
          <a:prstGeom prst="roundRect">
            <a:avLst>
              <a:gd name="adj" fmla="val 25532"/>
            </a:avLst>
          </a:prstGeom>
          <a:solidFill>
            <a:srgbClr val="FFFFFF"/>
          </a:solidFill>
          <a:ln w="12700">
            <a:solidFill>
              <a:srgbClr val="E6EDF3"/>
            </a:solidFill>
            <a:prstDash val="solid"/>
          </a:ln>
        </p:spPr>
        <p:txBody>
          <a:bodyPr/>
          <a:lstStyle/>
          <a:p>
            <a:endParaRPr lang="en-US"/>
          </a:p>
        </p:txBody>
      </p:sp>
      <p:sp>
        <p:nvSpPr>
          <p:cNvPr id="15" name="Text 13"/>
          <p:cNvSpPr/>
          <p:nvPr/>
        </p:nvSpPr>
        <p:spPr>
          <a:xfrm>
            <a:off x="1261872" y="3017520"/>
            <a:ext cx="1645920" cy="164592"/>
          </a:xfrm>
          <a:prstGeom prst="rect">
            <a:avLst/>
          </a:prstGeom>
          <a:noFill/>
          <a:ln/>
        </p:spPr>
        <p:txBody>
          <a:bodyPr wrap="square" rtlCol="0" anchor="ctr"/>
          <a:lstStyle/>
          <a:p>
            <a:pPr marL="0" indent="0">
              <a:buNone/>
            </a:pPr>
            <a:r>
              <a:rPr lang="en-US" sz="1600" b="1" dirty="0">
                <a:solidFill>
                  <a:srgbClr val="163A6B"/>
                </a:solidFill>
              </a:rPr>
              <a:t>Voltage (kV)</a:t>
            </a:r>
            <a:endParaRPr lang="en-US" sz="1600" dirty="0"/>
          </a:p>
        </p:txBody>
      </p:sp>
      <p:sp>
        <p:nvSpPr>
          <p:cNvPr id="16" name="Text 14"/>
          <p:cNvSpPr/>
          <p:nvPr/>
        </p:nvSpPr>
        <p:spPr>
          <a:xfrm>
            <a:off x="3291840" y="3017520"/>
            <a:ext cx="1920240" cy="164592"/>
          </a:xfrm>
          <a:prstGeom prst="rect">
            <a:avLst/>
          </a:prstGeom>
          <a:noFill/>
          <a:ln/>
        </p:spPr>
        <p:txBody>
          <a:bodyPr wrap="square" rtlCol="0" anchor="ctr"/>
          <a:lstStyle/>
          <a:p>
            <a:pPr marL="0" indent="0">
              <a:buNone/>
            </a:pPr>
            <a:r>
              <a:rPr lang="en-US" sz="1500" dirty="0">
                <a:solidFill>
                  <a:srgbClr val="1E293B"/>
                </a:solidFill>
              </a:rPr>
              <a:t>200</a:t>
            </a:r>
            <a:endParaRPr lang="en-US" sz="1500" dirty="0"/>
          </a:p>
        </p:txBody>
      </p:sp>
      <p:sp>
        <p:nvSpPr>
          <p:cNvPr id="17" name="Shape 15"/>
          <p:cNvSpPr/>
          <p:nvPr/>
        </p:nvSpPr>
        <p:spPr>
          <a:xfrm>
            <a:off x="1143000" y="3529584"/>
            <a:ext cx="1965960" cy="429768"/>
          </a:xfrm>
          <a:prstGeom prst="roundRect">
            <a:avLst>
              <a:gd name="adj" fmla="val 25532"/>
            </a:avLst>
          </a:prstGeom>
          <a:solidFill>
            <a:srgbClr val="EFF4FA"/>
          </a:solidFill>
          <a:ln w="12700">
            <a:solidFill>
              <a:srgbClr val="DCE7F2"/>
            </a:solidFill>
            <a:prstDash val="solid"/>
          </a:ln>
        </p:spPr>
        <p:txBody>
          <a:bodyPr/>
          <a:lstStyle/>
          <a:p>
            <a:endParaRPr lang="en-US"/>
          </a:p>
        </p:txBody>
      </p:sp>
      <p:sp>
        <p:nvSpPr>
          <p:cNvPr id="18" name="Shape 16"/>
          <p:cNvSpPr/>
          <p:nvPr/>
        </p:nvSpPr>
        <p:spPr>
          <a:xfrm>
            <a:off x="3154680" y="3529584"/>
            <a:ext cx="2331720" cy="429768"/>
          </a:xfrm>
          <a:prstGeom prst="roundRect">
            <a:avLst>
              <a:gd name="adj" fmla="val 25532"/>
            </a:avLst>
          </a:prstGeom>
          <a:solidFill>
            <a:srgbClr val="FFFFFF"/>
          </a:solidFill>
          <a:ln w="12700">
            <a:solidFill>
              <a:srgbClr val="E6EDF3"/>
            </a:solidFill>
            <a:prstDash val="solid"/>
          </a:ln>
        </p:spPr>
        <p:txBody>
          <a:bodyPr/>
          <a:lstStyle/>
          <a:p>
            <a:endParaRPr lang="en-US"/>
          </a:p>
        </p:txBody>
      </p:sp>
      <p:sp>
        <p:nvSpPr>
          <p:cNvPr id="19" name="Text 17"/>
          <p:cNvSpPr/>
          <p:nvPr/>
        </p:nvSpPr>
        <p:spPr>
          <a:xfrm>
            <a:off x="1261872" y="3639312"/>
            <a:ext cx="1645920" cy="164592"/>
          </a:xfrm>
          <a:prstGeom prst="rect">
            <a:avLst/>
          </a:prstGeom>
          <a:noFill/>
          <a:ln/>
        </p:spPr>
        <p:txBody>
          <a:bodyPr wrap="square" rtlCol="0" anchor="ctr"/>
          <a:lstStyle/>
          <a:p>
            <a:pPr marL="0" indent="0">
              <a:buNone/>
            </a:pPr>
            <a:r>
              <a:rPr lang="en-US" sz="1600" b="1" dirty="0">
                <a:solidFill>
                  <a:srgbClr val="163A6B"/>
                </a:solidFill>
              </a:rPr>
              <a:t>Magnification / pixel size</a:t>
            </a:r>
            <a:endParaRPr lang="en-US" sz="1600" dirty="0"/>
          </a:p>
        </p:txBody>
      </p:sp>
      <p:sp>
        <p:nvSpPr>
          <p:cNvPr id="20" name="Text 18"/>
          <p:cNvSpPr/>
          <p:nvPr/>
        </p:nvSpPr>
        <p:spPr>
          <a:xfrm>
            <a:off x="3291840" y="3639312"/>
            <a:ext cx="1920240" cy="164592"/>
          </a:xfrm>
          <a:prstGeom prst="rect">
            <a:avLst/>
          </a:prstGeom>
          <a:noFill/>
          <a:ln/>
        </p:spPr>
        <p:txBody>
          <a:bodyPr wrap="square" rtlCol="0" anchor="ctr"/>
          <a:lstStyle/>
          <a:p>
            <a:pPr marL="0" indent="0">
              <a:buNone/>
            </a:pPr>
            <a:r>
              <a:rPr lang="en-US" sz="1500" dirty="0">
                <a:solidFill>
                  <a:srgbClr val="1E293B"/>
                </a:solidFill>
              </a:rPr>
              <a:t>30,000x / 0.2 nm </a:t>
            </a:r>
            <a:endParaRPr lang="en-US" sz="1500" dirty="0"/>
          </a:p>
        </p:txBody>
      </p:sp>
      <p:sp>
        <p:nvSpPr>
          <p:cNvPr id="21" name="Shape 19"/>
          <p:cNvSpPr/>
          <p:nvPr/>
        </p:nvSpPr>
        <p:spPr>
          <a:xfrm>
            <a:off x="1143000" y="4151376"/>
            <a:ext cx="1965960" cy="429768"/>
          </a:xfrm>
          <a:prstGeom prst="roundRect">
            <a:avLst>
              <a:gd name="adj" fmla="val 25532"/>
            </a:avLst>
          </a:prstGeom>
          <a:solidFill>
            <a:srgbClr val="EFF4FA"/>
          </a:solidFill>
          <a:ln w="12700">
            <a:solidFill>
              <a:srgbClr val="DCE7F2"/>
            </a:solidFill>
            <a:prstDash val="solid"/>
          </a:ln>
        </p:spPr>
        <p:txBody>
          <a:bodyPr/>
          <a:lstStyle/>
          <a:p>
            <a:endParaRPr lang="en-US"/>
          </a:p>
        </p:txBody>
      </p:sp>
      <p:sp>
        <p:nvSpPr>
          <p:cNvPr id="22" name="Shape 20"/>
          <p:cNvSpPr/>
          <p:nvPr/>
        </p:nvSpPr>
        <p:spPr>
          <a:xfrm>
            <a:off x="3154680" y="4151376"/>
            <a:ext cx="2331720" cy="429768"/>
          </a:xfrm>
          <a:prstGeom prst="roundRect">
            <a:avLst>
              <a:gd name="adj" fmla="val 25532"/>
            </a:avLst>
          </a:prstGeom>
          <a:solidFill>
            <a:srgbClr val="FFFFFF"/>
          </a:solidFill>
          <a:ln w="12700">
            <a:solidFill>
              <a:srgbClr val="E6EDF3"/>
            </a:solidFill>
            <a:prstDash val="solid"/>
          </a:ln>
        </p:spPr>
        <p:txBody>
          <a:bodyPr/>
          <a:lstStyle/>
          <a:p>
            <a:endParaRPr lang="en-US"/>
          </a:p>
        </p:txBody>
      </p:sp>
      <p:sp>
        <p:nvSpPr>
          <p:cNvPr id="23" name="Text 21"/>
          <p:cNvSpPr/>
          <p:nvPr/>
        </p:nvSpPr>
        <p:spPr>
          <a:xfrm>
            <a:off x="1261872" y="4261104"/>
            <a:ext cx="1645920" cy="164592"/>
          </a:xfrm>
          <a:prstGeom prst="rect">
            <a:avLst/>
          </a:prstGeom>
          <a:noFill/>
          <a:ln/>
        </p:spPr>
        <p:txBody>
          <a:bodyPr wrap="square" rtlCol="0" anchor="ctr"/>
          <a:lstStyle/>
          <a:p>
            <a:pPr marL="0" indent="0">
              <a:buNone/>
            </a:pPr>
            <a:r>
              <a:rPr lang="en-US" sz="1600" b="1" dirty="0">
                <a:solidFill>
                  <a:srgbClr val="163A6B"/>
                </a:solidFill>
              </a:rPr>
              <a:t>Detector(s)</a:t>
            </a:r>
            <a:endParaRPr lang="en-US" sz="1600" dirty="0"/>
          </a:p>
        </p:txBody>
      </p:sp>
      <p:sp>
        <p:nvSpPr>
          <p:cNvPr id="24" name="Text 22"/>
          <p:cNvSpPr/>
          <p:nvPr/>
        </p:nvSpPr>
        <p:spPr>
          <a:xfrm>
            <a:off x="3291840" y="4261104"/>
            <a:ext cx="1920240" cy="164592"/>
          </a:xfrm>
          <a:prstGeom prst="rect">
            <a:avLst/>
          </a:prstGeom>
          <a:noFill/>
          <a:ln/>
        </p:spPr>
        <p:txBody>
          <a:bodyPr wrap="square" rtlCol="0" anchor="ctr"/>
          <a:lstStyle/>
          <a:p>
            <a:pPr marL="0" indent="0">
              <a:buNone/>
            </a:pPr>
            <a:r>
              <a:rPr lang="en-US" sz="1500" dirty="0">
                <a:solidFill>
                  <a:srgbClr val="1E293B"/>
                </a:solidFill>
              </a:rPr>
              <a:t>BF, HAADF, EDS</a:t>
            </a:r>
            <a:endParaRPr lang="en-US" sz="1500" dirty="0"/>
          </a:p>
        </p:txBody>
      </p:sp>
      <p:sp>
        <p:nvSpPr>
          <p:cNvPr id="25" name="Shape 23"/>
          <p:cNvSpPr/>
          <p:nvPr/>
        </p:nvSpPr>
        <p:spPr>
          <a:xfrm>
            <a:off x="1143000" y="4773168"/>
            <a:ext cx="1965960" cy="429768"/>
          </a:xfrm>
          <a:prstGeom prst="roundRect">
            <a:avLst>
              <a:gd name="adj" fmla="val 25532"/>
            </a:avLst>
          </a:prstGeom>
          <a:solidFill>
            <a:srgbClr val="EFF4FA"/>
          </a:solidFill>
          <a:ln w="12700">
            <a:solidFill>
              <a:srgbClr val="DCE7F2"/>
            </a:solidFill>
            <a:prstDash val="solid"/>
          </a:ln>
        </p:spPr>
        <p:txBody>
          <a:bodyPr/>
          <a:lstStyle/>
          <a:p>
            <a:endParaRPr lang="en-US"/>
          </a:p>
        </p:txBody>
      </p:sp>
      <p:sp>
        <p:nvSpPr>
          <p:cNvPr id="26" name="Shape 24"/>
          <p:cNvSpPr/>
          <p:nvPr/>
        </p:nvSpPr>
        <p:spPr>
          <a:xfrm>
            <a:off x="3154680" y="4773168"/>
            <a:ext cx="2331720" cy="429768"/>
          </a:xfrm>
          <a:prstGeom prst="roundRect">
            <a:avLst>
              <a:gd name="adj" fmla="val 25532"/>
            </a:avLst>
          </a:prstGeom>
          <a:solidFill>
            <a:srgbClr val="FFFFFF"/>
          </a:solidFill>
          <a:ln w="12700">
            <a:solidFill>
              <a:srgbClr val="E6EDF3"/>
            </a:solidFill>
            <a:prstDash val="solid"/>
          </a:ln>
        </p:spPr>
        <p:txBody>
          <a:bodyPr/>
          <a:lstStyle/>
          <a:p>
            <a:endParaRPr lang="en-US"/>
          </a:p>
        </p:txBody>
      </p:sp>
      <p:sp>
        <p:nvSpPr>
          <p:cNvPr id="27" name="Text 25"/>
          <p:cNvSpPr/>
          <p:nvPr/>
        </p:nvSpPr>
        <p:spPr>
          <a:xfrm>
            <a:off x="1261872" y="4882896"/>
            <a:ext cx="1645920" cy="164592"/>
          </a:xfrm>
          <a:prstGeom prst="rect">
            <a:avLst/>
          </a:prstGeom>
          <a:noFill/>
          <a:ln/>
        </p:spPr>
        <p:txBody>
          <a:bodyPr wrap="square" rtlCol="0" anchor="ctr"/>
          <a:lstStyle/>
          <a:p>
            <a:pPr marL="0" indent="0">
              <a:buNone/>
            </a:pPr>
            <a:r>
              <a:rPr lang="en-US" sz="1600" b="1" dirty="0">
                <a:solidFill>
                  <a:srgbClr val="163A6B"/>
                </a:solidFill>
              </a:rPr>
              <a:t>Acquisition date</a:t>
            </a:r>
            <a:endParaRPr lang="en-US" sz="1600" dirty="0"/>
          </a:p>
        </p:txBody>
      </p:sp>
      <p:sp>
        <p:nvSpPr>
          <p:cNvPr id="28" name="Text 26"/>
          <p:cNvSpPr/>
          <p:nvPr/>
        </p:nvSpPr>
        <p:spPr>
          <a:xfrm>
            <a:off x="3291840" y="4882896"/>
            <a:ext cx="1920240" cy="164592"/>
          </a:xfrm>
          <a:prstGeom prst="rect">
            <a:avLst/>
          </a:prstGeom>
          <a:noFill/>
          <a:ln/>
        </p:spPr>
        <p:txBody>
          <a:bodyPr wrap="square" rtlCol="0" anchor="ctr"/>
          <a:lstStyle/>
          <a:p>
            <a:pPr marL="0" indent="0">
              <a:buNone/>
            </a:pPr>
            <a:r>
              <a:rPr lang="en-US" sz="1500" dirty="0">
                <a:solidFill>
                  <a:srgbClr val="1E293B"/>
                </a:solidFill>
              </a:rPr>
              <a:t>2026-05-14</a:t>
            </a:r>
            <a:endParaRPr lang="en-US" sz="1500" dirty="0"/>
          </a:p>
        </p:txBody>
      </p:sp>
      <p:sp>
        <p:nvSpPr>
          <p:cNvPr id="29" name="Shape 27"/>
          <p:cNvSpPr/>
          <p:nvPr/>
        </p:nvSpPr>
        <p:spPr>
          <a:xfrm>
            <a:off x="6172200" y="1325880"/>
            <a:ext cx="4663440" cy="4526280"/>
          </a:xfrm>
          <a:prstGeom prst="roundRect">
            <a:avLst>
              <a:gd name="adj" fmla="val 2424"/>
            </a:avLst>
          </a:prstGeom>
          <a:solidFill>
            <a:srgbClr val="EAF3FB"/>
          </a:solidFill>
          <a:ln w="12700">
            <a:solidFill>
              <a:srgbClr val="D7E0EA"/>
            </a:solidFill>
            <a:prstDash val="solid"/>
          </a:ln>
        </p:spPr>
        <p:txBody>
          <a:bodyPr/>
          <a:lstStyle/>
          <a:p>
            <a:endParaRPr lang="en-US"/>
          </a:p>
        </p:txBody>
      </p:sp>
      <p:sp>
        <p:nvSpPr>
          <p:cNvPr id="30" name="Text 28"/>
          <p:cNvSpPr/>
          <p:nvPr/>
        </p:nvSpPr>
        <p:spPr>
          <a:xfrm>
            <a:off x="6492240" y="1737360"/>
            <a:ext cx="4023360" cy="292608"/>
          </a:xfrm>
          <a:prstGeom prst="rect">
            <a:avLst/>
          </a:prstGeom>
          <a:noFill/>
          <a:ln/>
        </p:spPr>
        <p:txBody>
          <a:bodyPr wrap="square" rtlCol="0" anchor="ctr"/>
          <a:lstStyle/>
          <a:p>
            <a:pPr marL="0" indent="0" algn="ctr">
              <a:buNone/>
            </a:pPr>
            <a:r>
              <a:rPr lang="en-US" sz="2600" b="1" dirty="0">
                <a:solidFill>
                  <a:srgbClr val="163A6B"/>
                </a:solidFill>
              </a:rPr>
              <a:t>Start small. Be consistent.</a:t>
            </a:r>
            <a:endParaRPr lang="en-US" sz="2600" dirty="0"/>
          </a:p>
        </p:txBody>
      </p:sp>
      <p:sp>
        <p:nvSpPr>
          <p:cNvPr id="31" name="Text 29"/>
          <p:cNvSpPr/>
          <p:nvPr/>
        </p:nvSpPr>
        <p:spPr>
          <a:xfrm>
            <a:off x="6583680" y="2514600"/>
            <a:ext cx="3749040" cy="1856232"/>
          </a:xfrm>
          <a:prstGeom prst="rect">
            <a:avLst/>
          </a:prstGeom>
          <a:noFill/>
          <a:ln/>
        </p:spPr>
        <p:txBody>
          <a:bodyPr wrap="square" lIns="254" tIns="254" rIns="254" bIns="254" rtlCol="0" anchor="ctr"/>
          <a:lstStyle/>
          <a:p>
            <a:r>
              <a:rPr lang="en-US" sz="1800" dirty="0">
                <a:solidFill>
                  <a:srgbClr val="4D8C57"/>
                </a:solidFill>
              </a:rPr>
              <a:t>● </a:t>
            </a:r>
            <a:r>
              <a:rPr lang="en-US" sz="1800" dirty="0">
                <a:solidFill>
                  <a:srgbClr val="1E293B"/>
                </a:solidFill>
              </a:rPr>
              <a:t>You do not need every possible field on day one.
</a:t>
            </a:r>
            <a:r>
              <a:rPr lang="en-US" sz="1800" dirty="0">
                <a:solidFill>
                  <a:srgbClr val="4D8C57"/>
                </a:solidFill>
              </a:rPr>
              <a:t>● </a:t>
            </a:r>
            <a:r>
              <a:rPr lang="en-US" sz="1800" dirty="0">
                <a:solidFill>
                  <a:srgbClr val="1E293B"/>
                </a:solidFill>
              </a:rPr>
              <a:t>You do need enough context for another person to understand the file.
</a:t>
            </a:r>
            <a:r>
              <a:rPr lang="en-US" sz="1800" dirty="0">
                <a:solidFill>
                  <a:srgbClr val="4D8C57"/>
                </a:solidFill>
              </a:rPr>
              <a:t>● </a:t>
            </a:r>
            <a:r>
              <a:rPr lang="en-US" dirty="0"/>
              <a:t>Simple file name conventions, augmented by links to metadata and associated units*</a:t>
            </a:r>
            <a:endParaRPr lang="en-US" sz="1800" dirty="0"/>
          </a:p>
        </p:txBody>
      </p:sp>
      <p:sp>
        <p:nvSpPr>
          <p:cNvPr id="32" name="Shape 30"/>
          <p:cNvSpPr/>
          <p:nvPr/>
        </p:nvSpPr>
        <p:spPr>
          <a:xfrm>
            <a:off x="6720840" y="4754880"/>
            <a:ext cx="3611880" cy="658368"/>
          </a:xfrm>
          <a:prstGeom prst="roundRect">
            <a:avLst>
              <a:gd name="adj" fmla="val 16667"/>
            </a:avLst>
          </a:prstGeom>
          <a:solidFill>
            <a:srgbClr val="FFF4E5"/>
          </a:solidFill>
          <a:ln w="12700">
            <a:solidFill>
              <a:srgbClr val="FFF4E5"/>
            </a:solidFill>
            <a:prstDash val="solid"/>
          </a:ln>
        </p:spPr>
        <p:txBody>
          <a:bodyPr/>
          <a:lstStyle/>
          <a:p>
            <a:endParaRPr lang="en-US"/>
          </a:p>
        </p:txBody>
      </p:sp>
      <p:sp>
        <p:nvSpPr>
          <p:cNvPr id="33" name="Text 31"/>
          <p:cNvSpPr/>
          <p:nvPr/>
        </p:nvSpPr>
        <p:spPr>
          <a:xfrm>
            <a:off x="6903720" y="4974336"/>
            <a:ext cx="3246120" cy="182880"/>
          </a:xfrm>
          <a:prstGeom prst="rect">
            <a:avLst/>
          </a:prstGeom>
          <a:noFill/>
          <a:ln/>
        </p:spPr>
        <p:txBody>
          <a:bodyPr wrap="square" rtlCol="0" anchor="ctr"/>
          <a:lstStyle/>
          <a:p>
            <a:pPr marL="0" indent="0" algn="ctr">
              <a:buNone/>
            </a:pPr>
            <a:r>
              <a:rPr lang="en-US" sz="1700" dirty="0">
                <a:solidFill>
                  <a:srgbClr val="1E293B"/>
                </a:solidFill>
              </a:rPr>
              <a:t>A short metadata template beats no template.</a:t>
            </a:r>
            <a:endParaRPr lang="en-US" sz="1700" dirty="0"/>
          </a:p>
        </p:txBody>
      </p:sp>
      <p:sp>
        <p:nvSpPr>
          <p:cNvPr id="34" name="Text 32"/>
          <p:cNvSpPr/>
          <p:nvPr/>
        </p:nvSpPr>
        <p:spPr>
          <a:xfrm>
            <a:off x="11495314" y="6309359"/>
            <a:ext cx="410174" cy="198293"/>
          </a:xfrm>
          <a:prstGeom prst="rect">
            <a:avLst/>
          </a:prstGeom>
          <a:noFill/>
          <a:ln/>
        </p:spPr>
        <p:txBody>
          <a:bodyPr wrap="square" rtlCol="0" anchor="ctr"/>
          <a:lstStyle/>
          <a:p>
            <a:pPr marL="0" indent="0" algn="r">
              <a:buNone/>
            </a:pPr>
            <a:r>
              <a:rPr lang="en-US" sz="900" dirty="0">
                <a:solidFill>
                  <a:srgbClr val="6B7280"/>
                </a:solidFill>
              </a:rPr>
              <a:t>10</a:t>
            </a:r>
            <a:endParaRPr lang="en-US" sz="900" dirty="0"/>
          </a:p>
        </p:txBody>
      </p:sp>
      <p:sp>
        <p:nvSpPr>
          <p:cNvPr id="36" name="Rectangle 2">
            <a:extLst>
              <a:ext uri="{FF2B5EF4-FFF2-40B4-BE49-F238E27FC236}">
                <a16:creationId xmlns:a16="http://schemas.microsoft.com/office/drawing/2014/main" id="{1909EA13-11B9-4297-9568-976805680B8C}"/>
              </a:ext>
            </a:extLst>
          </p:cNvPr>
          <p:cNvSpPr>
            <a:spLocks noChangeArrowheads="1"/>
          </p:cNvSpPr>
          <p:nvPr/>
        </p:nvSpPr>
        <p:spPr bwMode="auto">
          <a:xfrm>
            <a:off x="6172200" y="6185802"/>
            <a:ext cx="4877139" cy="3385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sng" strike="noStrike" cap="none" normalizeH="0" baseline="0" dirty="0">
                <a:ln>
                  <a:noFill/>
                </a:ln>
                <a:solidFill>
                  <a:srgbClr val="1155CC"/>
                </a:solidFill>
                <a:effectLst/>
                <a:latin typeface="Aptos" panose="020B0004020202020204" pitchFamily="34" charset="0"/>
                <a:hlinkClick r:id="rId3"/>
              </a:rPr>
              <a:t>* </a:t>
            </a:r>
            <a:r>
              <a:rPr kumimoji="0" lang="en-US" altLang="en-US" sz="1600" b="0" i="0" u="none" strike="noStrike" cap="none" normalizeH="0" baseline="0" dirty="0">
                <a:ln>
                  <a:noFill/>
                </a:ln>
                <a:solidFill>
                  <a:srgbClr val="1155CC"/>
                </a:solidFill>
                <a:effectLst/>
                <a:latin typeface="Aptos" panose="020B0004020202020204" pitchFamily="34" charset="0"/>
                <a:hlinkClick r:id="rId3"/>
              </a:rPr>
              <a:t>https://www.bipm.org/en/measurement-units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37" name="TextBox 36">
            <a:extLst>
              <a:ext uri="{FF2B5EF4-FFF2-40B4-BE49-F238E27FC236}">
                <a16:creationId xmlns:a16="http://schemas.microsoft.com/office/drawing/2014/main" id="{0CF3BF88-CD20-F24C-89D0-0FC6545EB10C}"/>
              </a:ext>
            </a:extLst>
          </p:cNvPr>
          <p:cNvSpPr txBox="1"/>
          <p:nvPr/>
        </p:nvSpPr>
        <p:spPr>
          <a:xfrm>
            <a:off x="533400" y="6124248"/>
            <a:ext cx="5516880" cy="430887"/>
          </a:xfrm>
          <a:prstGeom prst="rect">
            <a:avLst/>
          </a:prstGeom>
          <a:noFill/>
        </p:spPr>
        <p:txBody>
          <a:bodyPr wrap="square">
            <a:spAutoFit/>
          </a:bodyPr>
          <a:lstStyle/>
          <a:p>
            <a:r>
              <a:rPr lang="en-US" sz="1100" dirty="0"/>
              <a:t>**  Metadata recommendations grounded in </a:t>
            </a:r>
            <a:r>
              <a:rPr lang="en-US" sz="1100" dirty="0" err="1"/>
              <a:t>MaRDA</a:t>
            </a:r>
            <a:r>
              <a:rPr lang="en-US" sz="1100" dirty="0"/>
              <a:t> MRS Bulletin article: https://</a:t>
            </a:r>
            <a:r>
              <a:rPr lang="en-US" sz="1100" dirty="0" err="1"/>
              <a:t>link.springer.com</a:t>
            </a:r>
            <a:r>
              <a:rPr lang="en-US" sz="1100" dirty="0"/>
              <a:t>/article/10.1557/s43577-025-00882-2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Standard terms</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1938383" y="1325305"/>
            <a:ext cx="3017520" cy="4389090"/>
          </a:xfrm>
          <a:prstGeom prst="roundRect">
            <a:avLst>
              <a:gd name="adj" fmla="val 3243"/>
            </a:avLst>
          </a:prstGeom>
          <a:solidFill>
            <a:srgbClr val="FFF7F0"/>
          </a:solidFill>
          <a:ln w="12700">
            <a:solidFill>
              <a:srgbClr val="F0D0B4"/>
            </a:solidFill>
            <a:prstDash val="solid"/>
          </a:ln>
        </p:spPr>
        <p:txBody>
          <a:bodyPr/>
          <a:lstStyle/>
          <a:p>
            <a:endParaRPr lang="en-US"/>
          </a:p>
        </p:txBody>
      </p:sp>
      <p:sp>
        <p:nvSpPr>
          <p:cNvPr id="5" name="Text 3"/>
          <p:cNvSpPr/>
          <p:nvPr/>
        </p:nvSpPr>
        <p:spPr>
          <a:xfrm>
            <a:off x="2046757" y="1809876"/>
            <a:ext cx="2697480" cy="256032"/>
          </a:xfrm>
          <a:prstGeom prst="rect">
            <a:avLst/>
          </a:prstGeom>
          <a:noFill/>
          <a:ln/>
        </p:spPr>
        <p:txBody>
          <a:bodyPr wrap="square" rtlCol="0" anchor="ctr"/>
          <a:lstStyle/>
          <a:p>
            <a:pPr marL="0" indent="0" algn="ctr">
              <a:buNone/>
            </a:pPr>
            <a:r>
              <a:rPr lang="en-US" sz="2300" b="1" dirty="0">
                <a:solidFill>
                  <a:srgbClr val="163A6B"/>
                </a:solidFill>
              </a:rPr>
              <a:t>“Casual labels”</a:t>
            </a:r>
            <a:endParaRPr lang="en-US" sz="2300" dirty="0"/>
          </a:p>
        </p:txBody>
      </p:sp>
      <p:sp>
        <p:nvSpPr>
          <p:cNvPr id="6" name="Text 4"/>
          <p:cNvSpPr/>
          <p:nvPr/>
        </p:nvSpPr>
        <p:spPr>
          <a:xfrm>
            <a:off x="2304143" y="2285425"/>
            <a:ext cx="2651760" cy="2414016"/>
          </a:xfrm>
          <a:prstGeom prst="rect">
            <a:avLst/>
          </a:prstGeom>
          <a:noFill/>
          <a:ln/>
        </p:spPr>
        <p:txBody>
          <a:bodyPr wrap="square" lIns="254" tIns="254" rIns="254" bIns="254" rtlCol="0" anchor="ctr"/>
          <a:lstStyle/>
          <a:p>
            <a:pPr marL="0" indent="0">
              <a:buNone/>
            </a:pPr>
            <a:r>
              <a:rPr lang="en-US" sz="1800" dirty="0">
                <a:solidFill>
                  <a:srgbClr val="C84C4C"/>
                </a:solidFill>
              </a:rPr>
              <a:t>● </a:t>
            </a:r>
            <a:r>
              <a:rPr lang="en-US" sz="1800" dirty="0">
                <a:solidFill>
                  <a:srgbClr val="1E293B"/>
                </a:solidFill>
              </a:rPr>
              <a:t>“BF image”
</a:t>
            </a:r>
            <a:r>
              <a:rPr lang="en-US" sz="1800" dirty="0">
                <a:solidFill>
                  <a:srgbClr val="C84C4C"/>
                </a:solidFill>
              </a:rPr>
              <a:t>● </a:t>
            </a:r>
            <a:r>
              <a:rPr lang="en-US" sz="1800" dirty="0">
                <a:solidFill>
                  <a:srgbClr val="1E293B"/>
                </a:solidFill>
              </a:rPr>
              <a:t>“bright field”
</a:t>
            </a:r>
            <a:r>
              <a:rPr lang="en-US" sz="1800" dirty="0">
                <a:solidFill>
                  <a:srgbClr val="C84C4C"/>
                </a:solidFill>
              </a:rPr>
              <a:t>● </a:t>
            </a:r>
            <a:r>
              <a:rPr lang="en-US" sz="1800" dirty="0">
                <a:solidFill>
                  <a:srgbClr val="1E293B"/>
                </a:solidFill>
              </a:rPr>
              <a:t>“TEM BF”
</a:t>
            </a:r>
            <a:r>
              <a:rPr lang="en-US" sz="1800" dirty="0">
                <a:solidFill>
                  <a:srgbClr val="C84C4C"/>
                </a:solidFill>
              </a:rPr>
              <a:t>● </a:t>
            </a:r>
            <a:r>
              <a:rPr lang="en-US" sz="1800" dirty="0">
                <a:solidFill>
                  <a:srgbClr val="1E293B"/>
                </a:solidFill>
              </a:rPr>
              <a:t>“bf1_final_reallyfinal”</a:t>
            </a:r>
            <a:endParaRPr lang="en-US" sz="1800" dirty="0"/>
          </a:p>
        </p:txBody>
      </p:sp>
      <p:sp>
        <p:nvSpPr>
          <p:cNvPr id="7" name="Shape 5"/>
          <p:cNvSpPr/>
          <p:nvPr/>
        </p:nvSpPr>
        <p:spPr>
          <a:xfrm>
            <a:off x="5204107" y="3156470"/>
            <a:ext cx="914400" cy="384048"/>
          </a:xfrm>
          <a:prstGeom prst="roundRect">
            <a:avLst>
              <a:gd name="adj" fmla="val 28571"/>
            </a:avLst>
          </a:prstGeom>
          <a:solidFill>
            <a:srgbClr val="B6C7D8"/>
          </a:solidFill>
          <a:ln w="12700">
            <a:solidFill>
              <a:srgbClr val="B6C7D8"/>
            </a:solidFill>
            <a:prstDash val="solid"/>
          </a:ln>
        </p:spPr>
        <p:txBody>
          <a:bodyPr/>
          <a:lstStyle/>
          <a:p>
            <a:endParaRPr lang="en-US"/>
          </a:p>
        </p:txBody>
      </p:sp>
      <p:sp>
        <p:nvSpPr>
          <p:cNvPr id="8" name="Text 6"/>
          <p:cNvSpPr/>
          <p:nvPr/>
        </p:nvSpPr>
        <p:spPr>
          <a:xfrm>
            <a:off x="5524147" y="3338399"/>
            <a:ext cx="274320" cy="109728"/>
          </a:xfrm>
          <a:prstGeom prst="rect">
            <a:avLst/>
          </a:prstGeom>
          <a:noFill/>
          <a:ln/>
        </p:spPr>
        <p:txBody>
          <a:bodyPr wrap="square" rtlCol="0" anchor="ctr"/>
          <a:lstStyle/>
          <a:p>
            <a:pPr marL="0" indent="0" algn="ctr">
              <a:buNone/>
            </a:pPr>
            <a:r>
              <a:rPr lang="en-US" sz="1800" dirty="0">
                <a:solidFill>
                  <a:srgbClr val="FFFFFF"/>
                </a:solidFill>
              </a:rPr>
              <a:t>→</a:t>
            </a:r>
            <a:endParaRPr lang="en-US" sz="1800" dirty="0"/>
          </a:p>
        </p:txBody>
      </p:sp>
      <p:sp>
        <p:nvSpPr>
          <p:cNvPr id="9" name="Shape 7"/>
          <p:cNvSpPr/>
          <p:nvPr/>
        </p:nvSpPr>
        <p:spPr>
          <a:xfrm>
            <a:off x="6321576" y="1325305"/>
            <a:ext cx="3108960" cy="4389120"/>
          </a:xfrm>
          <a:prstGeom prst="roundRect">
            <a:avLst>
              <a:gd name="adj" fmla="val 3243"/>
            </a:avLst>
          </a:prstGeom>
          <a:solidFill>
            <a:srgbClr val="EDF7F3"/>
          </a:solidFill>
          <a:ln w="12700">
            <a:solidFill>
              <a:srgbClr val="CFE9DA"/>
            </a:solidFill>
            <a:prstDash val="solid"/>
          </a:ln>
        </p:spPr>
        <p:txBody>
          <a:bodyPr/>
          <a:lstStyle/>
          <a:p>
            <a:endParaRPr lang="en-US"/>
          </a:p>
        </p:txBody>
      </p:sp>
      <p:sp>
        <p:nvSpPr>
          <p:cNvPr id="10" name="Text 8"/>
          <p:cNvSpPr/>
          <p:nvPr/>
        </p:nvSpPr>
        <p:spPr>
          <a:xfrm>
            <a:off x="6458736" y="1874164"/>
            <a:ext cx="2834640" cy="256032"/>
          </a:xfrm>
          <a:prstGeom prst="rect">
            <a:avLst/>
          </a:prstGeom>
          <a:noFill/>
          <a:ln/>
        </p:spPr>
        <p:txBody>
          <a:bodyPr wrap="square" rtlCol="0" anchor="ctr"/>
          <a:lstStyle/>
          <a:p>
            <a:pPr marL="0" indent="0" algn="ctr">
              <a:buNone/>
            </a:pPr>
            <a:r>
              <a:rPr lang="en-US" sz="2300" b="1" dirty="0">
                <a:solidFill>
                  <a:srgbClr val="163A6B"/>
                </a:solidFill>
              </a:rPr>
              <a:t>Shared standard vocabulary</a:t>
            </a:r>
            <a:endParaRPr lang="en-US" sz="2300" dirty="0"/>
          </a:p>
        </p:txBody>
      </p:sp>
      <p:sp>
        <p:nvSpPr>
          <p:cNvPr id="11" name="Text 9"/>
          <p:cNvSpPr/>
          <p:nvPr/>
        </p:nvSpPr>
        <p:spPr>
          <a:xfrm>
            <a:off x="6641616" y="2285425"/>
            <a:ext cx="2697480" cy="2414016"/>
          </a:xfrm>
          <a:prstGeom prst="rect">
            <a:avLst/>
          </a:prstGeom>
          <a:noFill/>
          <a:ln/>
        </p:spPr>
        <p:txBody>
          <a:bodyPr wrap="square" lIns="254" tIns="254" rIns="254" bIns="254" rtlCol="0" anchor="ctr"/>
          <a:lstStyle/>
          <a:p>
            <a:pPr marL="0" indent="0">
              <a:buNone/>
            </a:pPr>
            <a:r>
              <a:rPr lang="en-US" sz="1800" dirty="0">
                <a:solidFill>
                  <a:srgbClr val="4D8C57"/>
                </a:solidFill>
              </a:rPr>
              <a:t>● </a:t>
            </a:r>
            <a:r>
              <a:rPr lang="en-US" sz="1800" dirty="0">
                <a:solidFill>
                  <a:srgbClr val="1E293B"/>
                </a:solidFill>
              </a:rPr>
              <a:t>bright-field TEM
</a:t>
            </a:r>
            <a:r>
              <a:rPr lang="en-US" sz="1800" dirty="0">
                <a:solidFill>
                  <a:srgbClr val="4D8C57"/>
                </a:solidFill>
              </a:rPr>
              <a:t>● </a:t>
            </a:r>
            <a:r>
              <a:rPr lang="en-US" sz="1800" dirty="0">
                <a:solidFill>
                  <a:srgbClr val="1E293B"/>
                </a:solidFill>
              </a:rPr>
              <a:t>detector = BF
</a:t>
            </a:r>
            <a:r>
              <a:rPr lang="en-US" sz="1800" dirty="0">
                <a:solidFill>
                  <a:srgbClr val="4D8C57"/>
                </a:solidFill>
              </a:rPr>
              <a:t>● </a:t>
            </a:r>
            <a:r>
              <a:rPr lang="en-US" sz="1800" dirty="0">
                <a:solidFill>
                  <a:srgbClr val="1E293B"/>
                </a:solidFill>
              </a:rPr>
              <a:t>technique = TEM
</a:t>
            </a:r>
            <a:r>
              <a:rPr lang="en-US" sz="1800" dirty="0">
                <a:solidFill>
                  <a:srgbClr val="4D8C57"/>
                </a:solidFill>
              </a:rPr>
              <a:t>● </a:t>
            </a:r>
            <a:r>
              <a:rPr lang="en-US" sz="1800" dirty="0">
                <a:solidFill>
                  <a:srgbClr val="1E293B"/>
                </a:solidFill>
              </a:rPr>
              <a:t>units = nm, kV</a:t>
            </a:r>
            <a:endParaRPr lang="en-US" sz="1800" dirty="0"/>
          </a:p>
        </p:txBody>
      </p:sp>
      <p:sp>
        <p:nvSpPr>
          <p:cNvPr id="15" name="Text 13"/>
          <p:cNvSpPr/>
          <p:nvPr/>
        </p:nvSpPr>
        <p:spPr>
          <a:xfrm>
            <a:off x="11340935" y="6309360"/>
            <a:ext cx="564553" cy="222048"/>
          </a:xfrm>
          <a:prstGeom prst="rect">
            <a:avLst/>
          </a:prstGeom>
          <a:noFill/>
          <a:ln/>
        </p:spPr>
        <p:txBody>
          <a:bodyPr wrap="square" rtlCol="0" anchor="ctr"/>
          <a:lstStyle/>
          <a:p>
            <a:pPr marL="0" indent="0" algn="r">
              <a:buNone/>
            </a:pPr>
            <a:r>
              <a:rPr lang="en-US" sz="900" dirty="0">
                <a:solidFill>
                  <a:srgbClr val="6B7280"/>
                </a:solidFill>
              </a:rPr>
              <a:t>11</a:t>
            </a:r>
            <a:endParaRPr lang="en-US" sz="900" dirty="0"/>
          </a:p>
        </p:txBody>
      </p:sp>
      <p:sp>
        <p:nvSpPr>
          <p:cNvPr id="17" name="TextBox 16">
            <a:extLst>
              <a:ext uri="{FF2B5EF4-FFF2-40B4-BE49-F238E27FC236}">
                <a16:creationId xmlns:a16="http://schemas.microsoft.com/office/drawing/2014/main" id="{423CB9D4-0665-EC22-ED2B-64D9A55FD2CE}"/>
              </a:ext>
            </a:extLst>
          </p:cNvPr>
          <p:cNvSpPr txBox="1"/>
          <p:nvPr/>
        </p:nvSpPr>
        <p:spPr>
          <a:xfrm>
            <a:off x="548640" y="6392908"/>
            <a:ext cx="11438852" cy="276999"/>
          </a:xfrm>
          <a:prstGeom prst="rect">
            <a:avLst/>
          </a:prstGeom>
          <a:noFill/>
        </p:spPr>
        <p:txBody>
          <a:bodyPr wrap="square">
            <a:spAutoFit/>
          </a:bodyPr>
          <a:lstStyle/>
          <a:p>
            <a:r>
              <a:rPr lang="en-US" sz="1200" dirty="0" err="1"/>
              <a:t>MaRDA</a:t>
            </a:r>
            <a:r>
              <a:rPr lang="en-US" sz="1200" dirty="0"/>
              <a:t> recommendations discuss comprehensive metadata, standardized vocabularies/identifiers: https://</a:t>
            </a:r>
            <a:r>
              <a:rPr lang="en-US" sz="1200" dirty="0" err="1"/>
              <a:t>link.springer.com</a:t>
            </a:r>
            <a:r>
              <a:rPr lang="en-US" sz="1200" dirty="0"/>
              <a:t>/article/10.1557/s43577-025-00882-2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Where do data and code go?</a:t>
            </a:r>
            <a:endParaRPr lang="en-US" sz="2400" dirty="0"/>
          </a:p>
        </p:txBody>
      </p:sp>
      <p:sp>
        <p:nvSpPr>
          <p:cNvPr id="3" name="Text 1"/>
          <p:cNvSpPr/>
          <p:nvPr/>
        </p:nvSpPr>
        <p:spPr>
          <a:xfrm>
            <a:off x="8823960" y="365760"/>
            <a:ext cx="2743200" cy="219456"/>
          </a:xfrm>
          <a:prstGeom prst="rect">
            <a:avLst/>
          </a:prstGeom>
          <a:noFill/>
          <a:ln/>
        </p:spPr>
        <p:txBody>
          <a:bodyPr wrap="square" rtlCol="0" anchor="ctr"/>
          <a:lstStyle/>
          <a:p>
            <a:pPr marL="0" indent="0" algn="r">
              <a:buNone/>
            </a:pPr>
            <a:r>
              <a:rPr lang="en-US" sz="1000" i="1" dirty="0">
                <a:solidFill>
                  <a:srgbClr val="6B7280"/>
                </a:solidFill>
              </a:rPr>
              <a:t>a simple repository map</a:t>
            </a:r>
            <a:endParaRPr lang="en-US" sz="1000" dirty="0"/>
          </a:p>
        </p:txBody>
      </p:sp>
      <p:sp>
        <p:nvSpPr>
          <p:cNvPr id="4" name="Shape 2"/>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5" name="Shape 3"/>
          <p:cNvSpPr/>
          <p:nvPr/>
        </p:nvSpPr>
        <p:spPr>
          <a:xfrm>
            <a:off x="914400" y="1828800"/>
            <a:ext cx="2926080" cy="2377440"/>
          </a:xfrm>
          <a:prstGeom prst="roundRect">
            <a:avLst>
              <a:gd name="adj" fmla="val 4615"/>
            </a:avLst>
          </a:prstGeom>
          <a:solidFill>
            <a:srgbClr val="F8E7C5"/>
          </a:solidFill>
          <a:ln w="12700">
            <a:solidFill>
              <a:srgbClr val="F8E7C5"/>
            </a:solidFill>
            <a:prstDash val="solid"/>
          </a:ln>
        </p:spPr>
        <p:txBody>
          <a:bodyPr/>
          <a:lstStyle/>
          <a:p>
            <a:endParaRPr lang="en-US"/>
          </a:p>
        </p:txBody>
      </p:sp>
      <p:sp>
        <p:nvSpPr>
          <p:cNvPr id="6" name="Text 4"/>
          <p:cNvSpPr/>
          <p:nvPr/>
        </p:nvSpPr>
        <p:spPr>
          <a:xfrm>
            <a:off x="1036320" y="2377440"/>
            <a:ext cx="2560320" cy="256032"/>
          </a:xfrm>
          <a:prstGeom prst="rect">
            <a:avLst/>
          </a:prstGeom>
          <a:noFill/>
          <a:ln/>
        </p:spPr>
        <p:txBody>
          <a:bodyPr wrap="square" rtlCol="0" anchor="ctr"/>
          <a:lstStyle/>
          <a:p>
            <a:pPr marL="0" indent="0" algn="ctr">
              <a:buNone/>
            </a:pPr>
            <a:r>
              <a:rPr lang="en-US" sz="2300" b="1" dirty="0">
                <a:solidFill>
                  <a:srgbClr val="163A6B"/>
                </a:solidFill>
              </a:rPr>
              <a:t>Working storage</a:t>
            </a:r>
            <a:endParaRPr lang="en-US" sz="2300" dirty="0"/>
          </a:p>
        </p:txBody>
      </p:sp>
      <p:sp>
        <p:nvSpPr>
          <p:cNvPr id="7" name="Text 5"/>
          <p:cNvSpPr/>
          <p:nvPr/>
        </p:nvSpPr>
        <p:spPr>
          <a:xfrm>
            <a:off x="1112520" y="3182111"/>
            <a:ext cx="2423160" cy="548640"/>
          </a:xfrm>
          <a:prstGeom prst="rect">
            <a:avLst/>
          </a:prstGeom>
          <a:noFill/>
          <a:ln/>
        </p:spPr>
        <p:txBody>
          <a:bodyPr wrap="square" rtlCol="0" anchor="ctr"/>
          <a:lstStyle/>
          <a:p>
            <a:pPr marL="0" indent="0" algn="ctr">
              <a:buNone/>
            </a:pPr>
            <a:r>
              <a:rPr lang="en-US" sz="1700" dirty="0">
                <a:solidFill>
                  <a:srgbClr val="1E293B"/>
                </a:solidFill>
              </a:rPr>
              <a:t>local / lab copy</a:t>
            </a:r>
            <a:endParaRPr lang="en-US" sz="1700" dirty="0"/>
          </a:p>
          <a:p>
            <a:pPr marL="0" indent="0" algn="ctr">
              <a:buNone/>
            </a:pPr>
            <a:r>
              <a:rPr lang="en-US" sz="1700" dirty="0">
                <a:solidFill>
                  <a:srgbClr val="1E293B"/>
                </a:solidFill>
              </a:rPr>
              <a:t>(active project)</a:t>
            </a:r>
            <a:endParaRPr lang="en-US" sz="1700" dirty="0"/>
          </a:p>
        </p:txBody>
      </p:sp>
      <p:sp>
        <p:nvSpPr>
          <p:cNvPr id="8" name="Shape 6"/>
          <p:cNvSpPr/>
          <p:nvPr/>
        </p:nvSpPr>
        <p:spPr>
          <a:xfrm>
            <a:off x="3977640" y="2743200"/>
            <a:ext cx="411480" cy="292608"/>
          </a:xfrm>
          <a:prstGeom prst="chevron">
            <a:avLst/>
          </a:prstGeom>
          <a:solidFill>
            <a:srgbClr val="9FB8D4"/>
          </a:solidFill>
          <a:ln w="12700">
            <a:solidFill>
              <a:srgbClr val="9FB8D4"/>
            </a:solidFill>
            <a:prstDash val="solid"/>
          </a:ln>
        </p:spPr>
        <p:txBody>
          <a:bodyPr/>
          <a:lstStyle/>
          <a:p>
            <a:endParaRPr lang="en-US"/>
          </a:p>
        </p:txBody>
      </p:sp>
      <p:sp>
        <p:nvSpPr>
          <p:cNvPr id="9" name="Shape 7"/>
          <p:cNvSpPr/>
          <p:nvPr/>
        </p:nvSpPr>
        <p:spPr>
          <a:xfrm>
            <a:off x="4663440" y="1828800"/>
            <a:ext cx="2926080" cy="2377440"/>
          </a:xfrm>
          <a:prstGeom prst="roundRect">
            <a:avLst>
              <a:gd name="adj" fmla="val 4615"/>
            </a:avLst>
          </a:prstGeom>
          <a:solidFill>
            <a:srgbClr val="E6F0FB"/>
          </a:solidFill>
          <a:ln w="12700">
            <a:solidFill>
              <a:srgbClr val="E6F0FB"/>
            </a:solidFill>
            <a:prstDash val="solid"/>
          </a:ln>
        </p:spPr>
        <p:txBody>
          <a:bodyPr/>
          <a:lstStyle/>
          <a:p>
            <a:endParaRPr lang="en-US"/>
          </a:p>
        </p:txBody>
      </p:sp>
      <p:sp>
        <p:nvSpPr>
          <p:cNvPr id="10" name="Text 8"/>
          <p:cNvSpPr/>
          <p:nvPr/>
        </p:nvSpPr>
        <p:spPr>
          <a:xfrm>
            <a:off x="4846320" y="2194560"/>
            <a:ext cx="2560320" cy="256032"/>
          </a:xfrm>
          <a:prstGeom prst="rect">
            <a:avLst/>
          </a:prstGeom>
          <a:noFill/>
          <a:ln/>
        </p:spPr>
        <p:txBody>
          <a:bodyPr wrap="square" rtlCol="0" anchor="ctr"/>
          <a:lstStyle/>
          <a:p>
            <a:pPr marL="0" indent="0" algn="ctr">
              <a:buNone/>
            </a:pPr>
            <a:r>
              <a:rPr lang="en-US" sz="2300" b="1" dirty="0">
                <a:solidFill>
                  <a:srgbClr val="163A6B"/>
                </a:solidFill>
              </a:rPr>
              <a:t>Group or institution</a:t>
            </a:r>
            <a:endParaRPr lang="en-US" sz="2300" dirty="0"/>
          </a:p>
        </p:txBody>
      </p:sp>
      <p:sp>
        <p:nvSpPr>
          <p:cNvPr id="11" name="Text 9"/>
          <p:cNvSpPr/>
          <p:nvPr/>
        </p:nvSpPr>
        <p:spPr>
          <a:xfrm>
            <a:off x="4884420" y="3063437"/>
            <a:ext cx="2423160" cy="548640"/>
          </a:xfrm>
          <a:prstGeom prst="rect">
            <a:avLst/>
          </a:prstGeom>
          <a:noFill/>
          <a:ln/>
        </p:spPr>
        <p:txBody>
          <a:bodyPr wrap="square" rtlCol="0" anchor="ctr"/>
          <a:lstStyle/>
          <a:p>
            <a:pPr marL="0" indent="0" algn="ctr">
              <a:buNone/>
            </a:pPr>
            <a:r>
              <a:rPr lang="en-US" sz="1700" dirty="0">
                <a:solidFill>
                  <a:srgbClr val="1E293B"/>
                </a:solidFill>
              </a:rPr>
              <a:t>shared backed-up copy</a:t>
            </a:r>
            <a:endParaRPr lang="en-US" sz="1700" dirty="0"/>
          </a:p>
          <a:p>
            <a:pPr marL="0" indent="0" algn="ctr">
              <a:buNone/>
            </a:pPr>
            <a:r>
              <a:rPr lang="en-US" sz="1700" dirty="0">
                <a:solidFill>
                  <a:srgbClr val="1E293B"/>
                </a:solidFill>
              </a:rPr>
              <a:t>(team and/or public access)</a:t>
            </a:r>
            <a:endParaRPr lang="en-US" sz="1700" dirty="0"/>
          </a:p>
        </p:txBody>
      </p:sp>
      <p:sp>
        <p:nvSpPr>
          <p:cNvPr id="12" name="Shape 10"/>
          <p:cNvSpPr/>
          <p:nvPr/>
        </p:nvSpPr>
        <p:spPr>
          <a:xfrm>
            <a:off x="7726680" y="2743200"/>
            <a:ext cx="411480" cy="292608"/>
          </a:xfrm>
          <a:prstGeom prst="chevron">
            <a:avLst/>
          </a:prstGeom>
          <a:solidFill>
            <a:srgbClr val="9FB8D4"/>
          </a:solidFill>
          <a:ln w="12700">
            <a:solidFill>
              <a:srgbClr val="9FB8D4"/>
            </a:solidFill>
            <a:prstDash val="solid"/>
          </a:ln>
        </p:spPr>
        <p:txBody>
          <a:bodyPr/>
          <a:lstStyle/>
          <a:p>
            <a:endParaRPr lang="en-US"/>
          </a:p>
        </p:txBody>
      </p:sp>
      <p:sp>
        <p:nvSpPr>
          <p:cNvPr id="13" name="Shape 11"/>
          <p:cNvSpPr/>
          <p:nvPr/>
        </p:nvSpPr>
        <p:spPr>
          <a:xfrm>
            <a:off x="8412480" y="1828800"/>
            <a:ext cx="2926080" cy="2377440"/>
          </a:xfrm>
          <a:prstGeom prst="roundRect">
            <a:avLst>
              <a:gd name="adj" fmla="val 4615"/>
            </a:avLst>
          </a:prstGeom>
          <a:solidFill>
            <a:srgbClr val="E5F5EC"/>
          </a:solidFill>
          <a:ln w="12700">
            <a:solidFill>
              <a:srgbClr val="E5F5EC"/>
            </a:solidFill>
            <a:prstDash val="solid"/>
          </a:ln>
        </p:spPr>
        <p:txBody>
          <a:bodyPr/>
          <a:lstStyle/>
          <a:p>
            <a:endParaRPr lang="en-US"/>
          </a:p>
        </p:txBody>
      </p:sp>
      <p:sp>
        <p:nvSpPr>
          <p:cNvPr id="14" name="Text 12"/>
          <p:cNvSpPr/>
          <p:nvPr/>
        </p:nvSpPr>
        <p:spPr>
          <a:xfrm>
            <a:off x="8595360" y="2194560"/>
            <a:ext cx="2560320" cy="256032"/>
          </a:xfrm>
          <a:prstGeom prst="rect">
            <a:avLst/>
          </a:prstGeom>
          <a:noFill/>
          <a:ln/>
        </p:spPr>
        <p:txBody>
          <a:bodyPr wrap="square" rtlCol="0" anchor="ctr"/>
          <a:lstStyle/>
          <a:p>
            <a:pPr marL="0" indent="0" algn="ctr">
              <a:buNone/>
            </a:pPr>
            <a:r>
              <a:rPr lang="en-US" sz="2300" b="1" dirty="0">
                <a:solidFill>
                  <a:srgbClr val="163A6B"/>
                </a:solidFill>
              </a:rPr>
              <a:t>Publication repository</a:t>
            </a:r>
            <a:endParaRPr lang="en-US" sz="2300" dirty="0"/>
          </a:p>
        </p:txBody>
      </p:sp>
      <p:sp>
        <p:nvSpPr>
          <p:cNvPr id="15" name="Text 13"/>
          <p:cNvSpPr/>
          <p:nvPr/>
        </p:nvSpPr>
        <p:spPr>
          <a:xfrm>
            <a:off x="8686800" y="3044951"/>
            <a:ext cx="2423160" cy="548640"/>
          </a:xfrm>
          <a:prstGeom prst="rect">
            <a:avLst/>
          </a:prstGeom>
          <a:noFill/>
          <a:ln/>
        </p:spPr>
        <p:txBody>
          <a:bodyPr wrap="square" rtlCol="0" anchor="ctr"/>
          <a:lstStyle/>
          <a:p>
            <a:pPr marL="0" indent="0" algn="ctr">
              <a:buNone/>
            </a:pPr>
            <a:r>
              <a:rPr lang="en-US" sz="1700" dirty="0">
                <a:solidFill>
                  <a:srgbClr val="1E293B"/>
                </a:solidFill>
              </a:rPr>
              <a:t>DOI + citation</a:t>
            </a:r>
            <a:endParaRPr lang="en-US" sz="1700" dirty="0"/>
          </a:p>
          <a:p>
            <a:pPr marL="0" indent="0" algn="ctr">
              <a:buNone/>
            </a:pPr>
            <a:r>
              <a:rPr lang="en-US" sz="1700" dirty="0">
                <a:solidFill>
                  <a:srgbClr val="1E293B"/>
                </a:solidFill>
              </a:rPr>
              <a:t>(long-term sharing)</a:t>
            </a:r>
            <a:endParaRPr lang="en-US" sz="1700" dirty="0"/>
          </a:p>
        </p:txBody>
      </p:sp>
      <p:sp>
        <p:nvSpPr>
          <p:cNvPr id="16" name="Shape 14"/>
          <p:cNvSpPr/>
          <p:nvPr/>
        </p:nvSpPr>
        <p:spPr>
          <a:xfrm>
            <a:off x="1920240" y="4800599"/>
            <a:ext cx="9235440" cy="780761"/>
          </a:xfrm>
          <a:prstGeom prst="roundRect">
            <a:avLst>
              <a:gd name="adj" fmla="val 16667"/>
            </a:avLst>
          </a:prstGeom>
          <a:solidFill>
            <a:srgbClr val="F3F5F8"/>
          </a:solidFill>
          <a:ln w="12700">
            <a:solidFill>
              <a:srgbClr val="F3F5F8"/>
            </a:solidFill>
            <a:prstDash val="solid"/>
          </a:ln>
        </p:spPr>
        <p:txBody>
          <a:bodyPr/>
          <a:lstStyle/>
          <a:p>
            <a:endParaRPr lang="en-US"/>
          </a:p>
        </p:txBody>
      </p:sp>
      <p:sp>
        <p:nvSpPr>
          <p:cNvPr id="17" name="Text 15"/>
          <p:cNvSpPr/>
          <p:nvPr/>
        </p:nvSpPr>
        <p:spPr>
          <a:xfrm>
            <a:off x="2148839" y="5001768"/>
            <a:ext cx="8740833" cy="377754"/>
          </a:xfrm>
          <a:prstGeom prst="rect">
            <a:avLst/>
          </a:prstGeom>
          <a:noFill/>
          <a:ln/>
        </p:spPr>
        <p:txBody>
          <a:bodyPr wrap="square" rtlCol="0" anchor="ctr"/>
          <a:lstStyle/>
          <a:p>
            <a:pPr marL="0" indent="0" algn="ctr">
              <a:buNone/>
            </a:pPr>
            <a:r>
              <a:rPr lang="en-US" sz="1900" i="1" dirty="0">
                <a:solidFill>
                  <a:srgbClr val="1E293B"/>
                </a:solidFill>
              </a:rPr>
              <a:t>Best habit: publish the data and the analysis code together whenever possible.</a:t>
            </a:r>
            <a:endParaRPr lang="en-US" sz="1900" dirty="0"/>
          </a:p>
        </p:txBody>
      </p:sp>
      <p:sp>
        <p:nvSpPr>
          <p:cNvPr id="18" name="Text 16"/>
          <p:cNvSpPr/>
          <p:nvPr/>
        </p:nvSpPr>
        <p:spPr>
          <a:xfrm>
            <a:off x="11567160" y="6309359"/>
            <a:ext cx="338328" cy="182877"/>
          </a:xfrm>
          <a:prstGeom prst="rect">
            <a:avLst/>
          </a:prstGeom>
          <a:noFill/>
          <a:ln/>
        </p:spPr>
        <p:txBody>
          <a:bodyPr wrap="square" rtlCol="0" anchor="ctr"/>
          <a:lstStyle/>
          <a:p>
            <a:pPr marL="0" indent="0" algn="r">
              <a:buNone/>
            </a:pPr>
            <a:r>
              <a:rPr lang="en-US" sz="900" dirty="0">
                <a:solidFill>
                  <a:srgbClr val="6B7280"/>
                </a:solidFill>
              </a:rPr>
              <a:t>12</a:t>
            </a:r>
            <a:endParaRPr lang="en-US" sz="900" dirty="0"/>
          </a:p>
        </p:txBody>
      </p:sp>
      <p:sp>
        <p:nvSpPr>
          <p:cNvPr id="20" name="TextBox 19">
            <a:extLst>
              <a:ext uri="{FF2B5EF4-FFF2-40B4-BE49-F238E27FC236}">
                <a16:creationId xmlns:a16="http://schemas.microsoft.com/office/drawing/2014/main" id="{9917F592-58D2-9702-FCC1-82E07EF8492B}"/>
              </a:ext>
            </a:extLst>
          </p:cNvPr>
          <p:cNvSpPr txBox="1"/>
          <p:nvPr/>
        </p:nvSpPr>
        <p:spPr>
          <a:xfrm>
            <a:off x="3441229" y="6260372"/>
            <a:ext cx="8982382" cy="461665"/>
          </a:xfrm>
          <a:prstGeom prst="rect">
            <a:avLst/>
          </a:prstGeom>
          <a:noFill/>
        </p:spPr>
        <p:txBody>
          <a:bodyPr wrap="square">
            <a:spAutoFit/>
          </a:bodyPr>
          <a:lstStyle/>
          <a:p>
            <a:r>
              <a:rPr lang="en-US" sz="1200" dirty="0"/>
              <a:t>- General best-practice synthesis from FAIR data/software sources: https://</a:t>
            </a:r>
            <a:r>
              <a:rPr lang="en-US" sz="1200" dirty="0" err="1"/>
              <a:t>www.nature.com</a:t>
            </a:r>
            <a:r>
              <a:rPr lang="en-US" sz="1200" dirty="0"/>
              <a:t>/articles/sdata201618
- Research software FAIR principles overview: https://</a:t>
            </a:r>
            <a:r>
              <a:rPr lang="en-US" sz="1200" dirty="0" err="1"/>
              <a:t>www.nature.com</a:t>
            </a:r>
            <a:r>
              <a:rPr lang="en-US" sz="1200" dirty="0"/>
              <a:t>/articles/s41597-022-01710-x</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Example repository: EMPIAR</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868680" y="1417320"/>
            <a:ext cx="3994265" cy="4060761"/>
          </a:xfrm>
          <a:prstGeom prst="roundRect">
            <a:avLst>
              <a:gd name="adj" fmla="val 2727"/>
            </a:avLst>
          </a:prstGeom>
          <a:solidFill>
            <a:srgbClr val="EAF3FB"/>
          </a:solidFill>
          <a:ln w="12700">
            <a:solidFill>
              <a:srgbClr val="D7E0EA"/>
            </a:solidFill>
            <a:prstDash val="solid"/>
          </a:ln>
        </p:spPr>
        <p:txBody>
          <a:bodyPr/>
          <a:lstStyle/>
          <a:p>
            <a:endParaRPr lang="en-US"/>
          </a:p>
        </p:txBody>
      </p:sp>
      <p:sp>
        <p:nvSpPr>
          <p:cNvPr id="5" name="Text 3"/>
          <p:cNvSpPr/>
          <p:nvPr/>
        </p:nvSpPr>
        <p:spPr>
          <a:xfrm>
            <a:off x="1143000" y="1755648"/>
            <a:ext cx="3474720" cy="274320"/>
          </a:xfrm>
          <a:prstGeom prst="rect">
            <a:avLst/>
          </a:prstGeom>
          <a:noFill/>
          <a:ln/>
        </p:spPr>
        <p:txBody>
          <a:bodyPr wrap="square" rtlCol="0" anchor="ctr"/>
          <a:lstStyle/>
          <a:p>
            <a:pPr marL="0" indent="0">
              <a:buNone/>
            </a:pPr>
            <a:r>
              <a:rPr lang="en-US" sz="2500" b="1" dirty="0">
                <a:solidFill>
                  <a:srgbClr val="163A6B"/>
                </a:solidFill>
              </a:rPr>
              <a:t>What it is</a:t>
            </a:r>
            <a:endParaRPr lang="en-US" sz="2500" dirty="0"/>
          </a:p>
        </p:txBody>
      </p:sp>
      <p:sp>
        <p:nvSpPr>
          <p:cNvPr id="6" name="Text 4"/>
          <p:cNvSpPr/>
          <p:nvPr/>
        </p:nvSpPr>
        <p:spPr>
          <a:xfrm>
            <a:off x="1143000" y="2510057"/>
            <a:ext cx="3383280" cy="1650492"/>
          </a:xfrm>
          <a:prstGeom prst="rect">
            <a:avLst/>
          </a:prstGeom>
          <a:noFill/>
          <a:ln/>
        </p:spPr>
        <p:txBody>
          <a:bodyPr wrap="square" lIns="254" tIns="254" rIns="254" bIns="254" rtlCol="0" anchor="ctr"/>
          <a:lstStyle/>
          <a:p>
            <a:pPr marL="285750" indent="-285750">
              <a:buClr>
                <a:schemeClr val="accent1"/>
              </a:buClr>
              <a:buSzPct val="102000"/>
              <a:buFont typeface="Arial" panose="020B0604020202020204" pitchFamily="34" charset="0"/>
              <a:buChar char="•"/>
            </a:pPr>
            <a:r>
              <a:rPr lang="en-US" sz="1700" dirty="0">
                <a:solidFill>
                  <a:srgbClr val="2E6AA6"/>
                </a:solidFill>
              </a:rPr>
              <a:t> </a:t>
            </a:r>
            <a:r>
              <a:rPr lang="en-US" sz="1700" dirty="0">
                <a:solidFill>
                  <a:srgbClr val="1E293B"/>
                </a:solidFill>
              </a:rPr>
              <a:t>public archive for raw EM image data
supports images underlying EMDB / cryo-EM and volume EM workflows
entries are openly reusable under CC0</a:t>
            </a:r>
            <a:endParaRPr lang="en-US" sz="1700" dirty="0"/>
          </a:p>
        </p:txBody>
      </p:sp>
      <p:sp>
        <p:nvSpPr>
          <p:cNvPr id="7" name="Shape 5"/>
          <p:cNvSpPr/>
          <p:nvPr/>
        </p:nvSpPr>
        <p:spPr>
          <a:xfrm>
            <a:off x="5486400" y="1828800"/>
            <a:ext cx="5303520" cy="3337560"/>
          </a:xfrm>
          <a:prstGeom prst="roundRect">
            <a:avLst>
              <a:gd name="adj" fmla="val 3288"/>
            </a:avLst>
          </a:prstGeom>
          <a:solidFill>
            <a:srgbClr val="FDFDFD"/>
          </a:solidFill>
          <a:ln w="12700">
            <a:solidFill>
              <a:srgbClr val="D7E0EA"/>
            </a:solidFill>
            <a:prstDash val="solid"/>
          </a:ln>
        </p:spPr>
        <p:txBody>
          <a:bodyPr/>
          <a:lstStyle/>
          <a:p>
            <a:endParaRPr lang="en-US"/>
          </a:p>
        </p:txBody>
      </p:sp>
      <p:sp>
        <p:nvSpPr>
          <p:cNvPr id="8" name="Shape 6"/>
          <p:cNvSpPr/>
          <p:nvPr/>
        </p:nvSpPr>
        <p:spPr>
          <a:xfrm>
            <a:off x="5897880" y="2240280"/>
            <a:ext cx="4480560" cy="640080"/>
          </a:xfrm>
          <a:prstGeom prst="roundRect">
            <a:avLst>
              <a:gd name="adj" fmla="val 17143"/>
            </a:avLst>
          </a:prstGeom>
          <a:solidFill>
            <a:srgbClr val="E8F0FA"/>
          </a:solidFill>
          <a:ln w="12700">
            <a:solidFill>
              <a:srgbClr val="DCE7F2"/>
            </a:solidFill>
            <a:prstDash val="solid"/>
          </a:ln>
        </p:spPr>
        <p:txBody>
          <a:bodyPr/>
          <a:lstStyle/>
          <a:p>
            <a:endParaRPr lang="en-US"/>
          </a:p>
        </p:txBody>
      </p:sp>
      <p:sp>
        <p:nvSpPr>
          <p:cNvPr id="9" name="Text 7"/>
          <p:cNvSpPr/>
          <p:nvPr/>
        </p:nvSpPr>
        <p:spPr>
          <a:xfrm>
            <a:off x="6126480" y="2441448"/>
            <a:ext cx="3931920" cy="201168"/>
          </a:xfrm>
          <a:prstGeom prst="rect">
            <a:avLst/>
          </a:prstGeom>
          <a:noFill/>
          <a:ln/>
        </p:spPr>
        <p:txBody>
          <a:bodyPr wrap="square" rtlCol="0" anchor="ctr"/>
          <a:lstStyle/>
          <a:p>
            <a:pPr marL="0" indent="0">
              <a:buNone/>
            </a:pPr>
            <a:r>
              <a:rPr lang="en-US" sz="2000" b="1" dirty="0">
                <a:solidFill>
                  <a:srgbClr val="163A6B"/>
                </a:solidFill>
              </a:rPr>
              <a:t>1  Prepare metadata</a:t>
            </a:r>
            <a:endParaRPr lang="en-US" sz="2000" dirty="0"/>
          </a:p>
        </p:txBody>
      </p:sp>
      <p:sp>
        <p:nvSpPr>
          <p:cNvPr id="10" name="Shape 8"/>
          <p:cNvSpPr/>
          <p:nvPr/>
        </p:nvSpPr>
        <p:spPr>
          <a:xfrm>
            <a:off x="5897880" y="2971800"/>
            <a:ext cx="4480560" cy="640080"/>
          </a:xfrm>
          <a:prstGeom prst="roundRect">
            <a:avLst>
              <a:gd name="adj" fmla="val 17143"/>
            </a:avLst>
          </a:prstGeom>
          <a:solidFill>
            <a:srgbClr val="EEF6EC"/>
          </a:solidFill>
          <a:ln w="12700">
            <a:solidFill>
              <a:srgbClr val="D7E8D9"/>
            </a:solidFill>
            <a:prstDash val="solid"/>
          </a:ln>
        </p:spPr>
        <p:txBody>
          <a:bodyPr/>
          <a:lstStyle/>
          <a:p>
            <a:endParaRPr lang="en-US"/>
          </a:p>
        </p:txBody>
      </p:sp>
      <p:sp>
        <p:nvSpPr>
          <p:cNvPr id="11" name="Text 9"/>
          <p:cNvSpPr/>
          <p:nvPr/>
        </p:nvSpPr>
        <p:spPr>
          <a:xfrm>
            <a:off x="6126480" y="3172968"/>
            <a:ext cx="3931920" cy="201168"/>
          </a:xfrm>
          <a:prstGeom prst="rect">
            <a:avLst/>
          </a:prstGeom>
          <a:noFill/>
          <a:ln/>
        </p:spPr>
        <p:txBody>
          <a:bodyPr wrap="square" rtlCol="0" anchor="ctr"/>
          <a:lstStyle/>
          <a:p>
            <a:pPr marL="0" indent="0">
              <a:buNone/>
            </a:pPr>
            <a:r>
              <a:rPr lang="en-US" sz="2000" b="1" dirty="0">
                <a:solidFill>
                  <a:srgbClr val="163A6B"/>
                </a:solidFill>
              </a:rPr>
              <a:t>2  Upload files</a:t>
            </a:r>
            <a:endParaRPr lang="en-US" sz="2000" dirty="0"/>
          </a:p>
        </p:txBody>
      </p:sp>
      <p:sp>
        <p:nvSpPr>
          <p:cNvPr id="12" name="Shape 10"/>
          <p:cNvSpPr/>
          <p:nvPr/>
        </p:nvSpPr>
        <p:spPr>
          <a:xfrm>
            <a:off x="5897880" y="3703320"/>
            <a:ext cx="4480560" cy="640080"/>
          </a:xfrm>
          <a:prstGeom prst="roundRect">
            <a:avLst>
              <a:gd name="adj" fmla="val 17143"/>
            </a:avLst>
          </a:prstGeom>
          <a:solidFill>
            <a:srgbClr val="FFF4E5"/>
          </a:solidFill>
          <a:ln w="12700">
            <a:solidFill>
              <a:srgbClr val="F3DFC2"/>
            </a:solidFill>
            <a:prstDash val="solid"/>
          </a:ln>
        </p:spPr>
        <p:txBody>
          <a:bodyPr/>
          <a:lstStyle/>
          <a:p>
            <a:endParaRPr lang="en-US"/>
          </a:p>
        </p:txBody>
      </p:sp>
      <p:sp>
        <p:nvSpPr>
          <p:cNvPr id="13" name="Text 11"/>
          <p:cNvSpPr/>
          <p:nvPr/>
        </p:nvSpPr>
        <p:spPr>
          <a:xfrm>
            <a:off x="6126480" y="3904488"/>
            <a:ext cx="3886200" cy="201168"/>
          </a:xfrm>
          <a:prstGeom prst="rect">
            <a:avLst/>
          </a:prstGeom>
          <a:noFill/>
          <a:ln/>
        </p:spPr>
        <p:txBody>
          <a:bodyPr wrap="square" rtlCol="0" anchor="ctr"/>
          <a:lstStyle/>
          <a:p>
            <a:pPr marL="0" indent="0">
              <a:buNone/>
            </a:pPr>
            <a:r>
              <a:rPr lang="en-US" sz="1900" b="1" dirty="0">
                <a:solidFill>
                  <a:srgbClr val="163A6B"/>
                </a:solidFill>
              </a:rPr>
              <a:t>3  Publish and make the dataset discoverable</a:t>
            </a:r>
            <a:endParaRPr lang="en-US" sz="1900" dirty="0"/>
          </a:p>
        </p:txBody>
      </p:sp>
      <p:sp>
        <p:nvSpPr>
          <p:cNvPr id="14" name="Text 12"/>
          <p:cNvSpPr/>
          <p:nvPr/>
        </p:nvSpPr>
        <p:spPr>
          <a:xfrm>
            <a:off x="2971800" y="1303050"/>
            <a:ext cx="10332720" cy="128016"/>
          </a:xfrm>
          <a:prstGeom prst="rect">
            <a:avLst/>
          </a:prstGeom>
          <a:noFill/>
          <a:ln/>
        </p:spPr>
        <p:txBody>
          <a:bodyPr wrap="square" rtlCol="0" anchor="ctr"/>
          <a:lstStyle/>
          <a:p>
            <a:pPr marL="0" indent="0" algn="ctr">
              <a:buNone/>
            </a:pPr>
            <a:r>
              <a:rPr lang="en-US" sz="1300" dirty="0">
                <a:solidFill>
                  <a:srgbClr val="1E293B"/>
                </a:solidFill>
              </a:rPr>
              <a:t>A repository is not just storage; it is discovery + citation + reuse.</a:t>
            </a:r>
            <a:endParaRPr lang="en-US" sz="1300" dirty="0"/>
          </a:p>
        </p:txBody>
      </p:sp>
      <p:sp>
        <p:nvSpPr>
          <p:cNvPr id="15" name="Text 13"/>
          <p:cNvSpPr/>
          <p:nvPr/>
        </p:nvSpPr>
        <p:spPr>
          <a:xfrm>
            <a:off x="11495314" y="6309359"/>
            <a:ext cx="410174" cy="198301"/>
          </a:xfrm>
          <a:prstGeom prst="rect">
            <a:avLst/>
          </a:prstGeom>
          <a:noFill/>
          <a:ln/>
        </p:spPr>
        <p:txBody>
          <a:bodyPr wrap="square" rtlCol="0" anchor="ctr"/>
          <a:lstStyle/>
          <a:p>
            <a:pPr marL="0" indent="0" algn="r">
              <a:buNone/>
            </a:pPr>
            <a:r>
              <a:rPr lang="en-US" sz="900" dirty="0">
                <a:solidFill>
                  <a:srgbClr val="6B7280"/>
                </a:solidFill>
              </a:rPr>
              <a:t>13</a:t>
            </a:r>
            <a:endParaRPr lang="en-US" sz="900" dirty="0"/>
          </a:p>
        </p:txBody>
      </p:sp>
      <p:sp>
        <p:nvSpPr>
          <p:cNvPr id="17" name="TextBox 16">
            <a:extLst>
              <a:ext uri="{FF2B5EF4-FFF2-40B4-BE49-F238E27FC236}">
                <a16:creationId xmlns:a16="http://schemas.microsoft.com/office/drawing/2014/main" id="{8395BFBD-BA86-1301-0C10-EAF8739956A9}"/>
              </a:ext>
            </a:extLst>
          </p:cNvPr>
          <p:cNvSpPr txBox="1"/>
          <p:nvPr/>
        </p:nvSpPr>
        <p:spPr>
          <a:xfrm>
            <a:off x="5809488" y="5545805"/>
            <a:ext cx="6096000" cy="646331"/>
          </a:xfrm>
          <a:prstGeom prst="rect">
            <a:avLst/>
          </a:prstGeom>
          <a:noFill/>
        </p:spPr>
        <p:txBody>
          <a:bodyPr wrap="square">
            <a:spAutoFit/>
          </a:bodyPr>
          <a:lstStyle/>
          <a:p>
            <a:r>
              <a:rPr lang="en-US" sz="1200" dirty="0"/>
              <a:t>- EMPIAR homepage: https://</a:t>
            </a:r>
            <a:r>
              <a:rPr lang="en-US" sz="1200" dirty="0" err="1"/>
              <a:t>www.ebi.ac.uk</a:t>
            </a:r>
            <a:r>
              <a:rPr lang="en-US" sz="1200" dirty="0"/>
              <a:t>/</a:t>
            </a:r>
            <a:r>
              <a:rPr lang="en-US" sz="1200" dirty="0" err="1"/>
              <a:t>empiar</a:t>
            </a:r>
            <a:r>
              <a:rPr lang="en-US" sz="1200" dirty="0"/>
              <a:t>/
- EMPIAR about page / CC0 reuse: https://</a:t>
            </a:r>
            <a:r>
              <a:rPr lang="en-US" sz="1200" dirty="0" err="1"/>
              <a:t>www.ebi.ac.uk</a:t>
            </a:r>
            <a:r>
              <a:rPr lang="en-US" sz="1200" dirty="0"/>
              <a:t>/</a:t>
            </a:r>
            <a:r>
              <a:rPr lang="en-US" sz="1200" dirty="0" err="1"/>
              <a:t>empiar</a:t>
            </a:r>
            <a:r>
              <a:rPr lang="en-US" sz="1200" dirty="0"/>
              <a:t>/about/
- EMPIAR policies: https://</a:t>
            </a:r>
            <a:r>
              <a:rPr lang="en-US" sz="1200" dirty="0" err="1"/>
              <a:t>www.ebi.ac.uk</a:t>
            </a:r>
            <a:r>
              <a:rPr lang="en-US" sz="1200" dirty="0"/>
              <a:t>/</a:t>
            </a:r>
            <a:r>
              <a:rPr lang="en-US" sz="1200" dirty="0" err="1"/>
              <a:t>empiar</a:t>
            </a:r>
            <a:r>
              <a:rPr lang="en-US" sz="1200" dirty="0"/>
              <a:t>/policies/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Materials data in the bigger picture</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868680" y="1371600"/>
            <a:ext cx="4846320" cy="4480560"/>
          </a:xfrm>
          <a:prstGeom prst="roundRect">
            <a:avLst>
              <a:gd name="adj" fmla="val 2449"/>
            </a:avLst>
          </a:prstGeom>
          <a:solidFill>
            <a:srgbClr val="FDFDFD"/>
          </a:solidFill>
          <a:ln w="12700">
            <a:solidFill>
              <a:srgbClr val="D7E0EA"/>
            </a:solidFill>
            <a:prstDash val="solid"/>
          </a:ln>
        </p:spPr>
        <p:txBody>
          <a:bodyPr/>
          <a:lstStyle/>
          <a:p>
            <a:endParaRPr lang="en-US"/>
          </a:p>
        </p:txBody>
      </p:sp>
      <p:sp>
        <p:nvSpPr>
          <p:cNvPr id="5" name="Text 3"/>
          <p:cNvSpPr/>
          <p:nvPr/>
        </p:nvSpPr>
        <p:spPr>
          <a:xfrm>
            <a:off x="1143000" y="1949637"/>
            <a:ext cx="4297680" cy="292608"/>
          </a:xfrm>
          <a:prstGeom prst="rect">
            <a:avLst/>
          </a:prstGeom>
          <a:noFill/>
          <a:ln/>
        </p:spPr>
        <p:txBody>
          <a:bodyPr wrap="square" rtlCol="0" anchor="ctr"/>
          <a:lstStyle/>
          <a:p>
            <a:pPr marL="0" indent="0" algn="ctr">
              <a:buNone/>
            </a:pPr>
            <a:r>
              <a:rPr lang="en-US" sz="2500" b="1" dirty="0">
                <a:solidFill>
                  <a:srgbClr val="163A6B"/>
                </a:solidFill>
              </a:rPr>
              <a:t>Materials Data Facility (MDF)</a:t>
            </a:r>
            <a:endParaRPr lang="en-US" sz="2500" dirty="0"/>
          </a:p>
        </p:txBody>
      </p:sp>
      <p:sp>
        <p:nvSpPr>
          <p:cNvPr id="6" name="Text 4"/>
          <p:cNvSpPr/>
          <p:nvPr/>
        </p:nvSpPr>
        <p:spPr>
          <a:xfrm>
            <a:off x="1044316" y="2786634"/>
            <a:ext cx="4251960" cy="1650492"/>
          </a:xfrm>
          <a:prstGeom prst="rect">
            <a:avLst/>
          </a:prstGeom>
          <a:noFill/>
          <a:ln/>
        </p:spPr>
        <p:txBody>
          <a:bodyPr wrap="square" lIns="254" tIns="254" rIns="254" bIns="254" rtlCol="0" anchor="ctr"/>
          <a:lstStyle/>
          <a:p>
            <a:pPr marL="0" indent="0">
              <a:buNone/>
            </a:pPr>
            <a:r>
              <a:rPr lang="en-US" sz="1700" dirty="0">
                <a:solidFill>
                  <a:srgbClr val="4D8C57"/>
                </a:solidFill>
              </a:rPr>
              <a:t>● </a:t>
            </a:r>
            <a:r>
              <a:rPr lang="en-US" sz="1700" dirty="0">
                <a:solidFill>
                  <a:srgbClr val="1E293B"/>
                </a:solidFill>
              </a:rPr>
              <a:t>example of a platform for publishing and discovering materials datasets
</a:t>
            </a:r>
            <a:r>
              <a:rPr lang="en-US" sz="1700" dirty="0">
                <a:solidFill>
                  <a:srgbClr val="4D8C57"/>
                </a:solidFill>
              </a:rPr>
              <a:t>● </a:t>
            </a:r>
            <a:r>
              <a:rPr lang="en-US" sz="1700" dirty="0">
                <a:solidFill>
                  <a:srgbClr val="1E293B"/>
                </a:solidFill>
              </a:rPr>
              <a:t>connects data with code, publications, and community schemas
</a:t>
            </a:r>
            <a:r>
              <a:rPr lang="en-US" sz="1700" dirty="0">
                <a:solidFill>
                  <a:srgbClr val="4D8C57"/>
                </a:solidFill>
              </a:rPr>
              <a:t>● </a:t>
            </a:r>
            <a:r>
              <a:rPr lang="en-US" sz="1700" dirty="0">
                <a:solidFill>
                  <a:srgbClr val="1E293B"/>
                </a:solidFill>
              </a:rPr>
              <a:t>shows what “data infrastructure” looks like beyond a single lab</a:t>
            </a:r>
            <a:endParaRPr lang="en-US" sz="1700" dirty="0"/>
          </a:p>
        </p:txBody>
      </p:sp>
      <p:sp>
        <p:nvSpPr>
          <p:cNvPr id="7" name="Shape 5"/>
          <p:cNvSpPr/>
          <p:nvPr/>
        </p:nvSpPr>
        <p:spPr>
          <a:xfrm>
            <a:off x="6035040" y="1371600"/>
            <a:ext cx="4754880" cy="4480560"/>
          </a:xfrm>
          <a:prstGeom prst="roundRect">
            <a:avLst>
              <a:gd name="adj" fmla="val 2449"/>
            </a:avLst>
          </a:prstGeom>
          <a:solidFill>
            <a:srgbClr val="EAF3FB"/>
          </a:solidFill>
          <a:ln w="12700">
            <a:solidFill>
              <a:srgbClr val="D7E0EA"/>
            </a:solidFill>
            <a:prstDash val="solid"/>
          </a:ln>
        </p:spPr>
        <p:txBody>
          <a:bodyPr/>
          <a:lstStyle/>
          <a:p>
            <a:endParaRPr lang="en-US"/>
          </a:p>
        </p:txBody>
      </p:sp>
      <p:sp>
        <p:nvSpPr>
          <p:cNvPr id="8" name="Text 6"/>
          <p:cNvSpPr/>
          <p:nvPr/>
        </p:nvSpPr>
        <p:spPr>
          <a:xfrm>
            <a:off x="6400800" y="1900650"/>
            <a:ext cx="4023360" cy="292608"/>
          </a:xfrm>
          <a:prstGeom prst="rect">
            <a:avLst/>
          </a:prstGeom>
          <a:noFill/>
          <a:ln/>
        </p:spPr>
        <p:txBody>
          <a:bodyPr wrap="square" rtlCol="0" anchor="ctr"/>
          <a:lstStyle/>
          <a:p>
            <a:pPr marL="0" indent="0" algn="ctr">
              <a:buNone/>
            </a:pPr>
            <a:r>
              <a:rPr lang="en-US" sz="2500" b="1" dirty="0">
                <a:solidFill>
                  <a:srgbClr val="163A6B"/>
                </a:solidFill>
              </a:rPr>
              <a:t>Bring it home for TEM</a:t>
            </a:r>
            <a:endParaRPr lang="en-US" sz="2500" dirty="0"/>
          </a:p>
        </p:txBody>
      </p:sp>
      <p:sp>
        <p:nvSpPr>
          <p:cNvPr id="9" name="Text 7"/>
          <p:cNvSpPr/>
          <p:nvPr/>
        </p:nvSpPr>
        <p:spPr>
          <a:xfrm>
            <a:off x="6355080" y="2935224"/>
            <a:ext cx="4069080" cy="1261872"/>
          </a:xfrm>
          <a:prstGeom prst="rect">
            <a:avLst/>
          </a:prstGeom>
          <a:noFill/>
          <a:ln/>
        </p:spPr>
        <p:txBody>
          <a:bodyPr wrap="square" lIns="254" tIns="254" rIns="254" bIns="254" rtlCol="0" anchor="ctr"/>
          <a:lstStyle/>
          <a:p>
            <a:pPr marL="0" indent="0">
              <a:buNone/>
            </a:pPr>
            <a:r>
              <a:rPr lang="en-US" sz="1800" dirty="0">
                <a:solidFill>
                  <a:srgbClr val="D97706"/>
                </a:solidFill>
              </a:rPr>
              <a:t>● </a:t>
            </a:r>
            <a:r>
              <a:rPr lang="en-US" sz="1800" dirty="0">
                <a:solidFill>
                  <a:srgbClr val="1E293B"/>
                </a:solidFill>
              </a:rPr>
              <a:t>TEM users benefit from the same ecosystem logic: repositories, standards, metadata, and tooling all reinforce one another.
</a:t>
            </a:r>
            <a:r>
              <a:rPr lang="en-US" sz="1800" dirty="0">
                <a:solidFill>
                  <a:srgbClr val="D97706"/>
                </a:solidFill>
              </a:rPr>
              <a:t>● </a:t>
            </a:r>
            <a:r>
              <a:rPr lang="en-US" sz="1800" dirty="0">
                <a:solidFill>
                  <a:srgbClr val="1E293B"/>
                </a:solidFill>
              </a:rPr>
              <a:t>This is why workshop skills matter.</a:t>
            </a:r>
            <a:endParaRPr lang="en-US" sz="1800" dirty="0"/>
          </a:p>
        </p:txBody>
      </p:sp>
      <p:sp>
        <p:nvSpPr>
          <p:cNvPr id="10" name="Text 8"/>
          <p:cNvSpPr/>
          <p:nvPr/>
        </p:nvSpPr>
        <p:spPr>
          <a:xfrm>
            <a:off x="11495314" y="6309359"/>
            <a:ext cx="410174" cy="198295"/>
          </a:xfrm>
          <a:prstGeom prst="rect">
            <a:avLst/>
          </a:prstGeom>
          <a:noFill/>
          <a:ln/>
        </p:spPr>
        <p:txBody>
          <a:bodyPr wrap="square" rtlCol="0" anchor="ctr"/>
          <a:lstStyle/>
          <a:p>
            <a:pPr marL="0" indent="0" algn="r">
              <a:buNone/>
            </a:pPr>
            <a:r>
              <a:rPr lang="en-US" sz="900" dirty="0">
                <a:solidFill>
                  <a:srgbClr val="6B7280"/>
                </a:solidFill>
              </a:rPr>
              <a:t>14</a:t>
            </a:r>
            <a:endParaRPr lang="en-US" sz="900" dirty="0"/>
          </a:p>
        </p:txBody>
      </p:sp>
      <p:sp>
        <p:nvSpPr>
          <p:cNvPr id="12" name="TextBox 11">
            <a:extLst>
              <a:ext uri="{FF2B5EF4-FFF2-40B4-BE49-F238E27FC236}">
                <a16:creationId xmlns:a16="http://schemas.microsoft.com/office/drawing/2014/main" id="{760818B5-2DA2-E614-73A8-06449B007D45}"/>
              </a:ext>
            </a:extLst>
          </p:cNvPr>
          <p:cNvSpPr txBox="1"/>
          <p:nvPr/>
        </p:nvSpPr>
        <p:spPr>
          <a:xfrm>
            <a:off x="3494317" y="6160669"/>
            <a:ext cx="8216537" cy="830997"/>
          </a:xfrm>
          <a:prstGeom prst="rect">
            <a:avLst/>
          </a:prstGeom>
          <a:noFill/>
        </p:spPr>
        <p:txBody>
          <a:bodyPr wrap="square">
            <a:spAutoFit/>
          </a:bodyPr>
          <a:lstStyle/>
          <a:p>
            <a:r>
              <a:rPr lang="en-US" sz="1200" dirty="0"/>
              <a:t>- Materials Data Facility site: https://</a:t>
            </a:r>
            <a:r>
              <a:rPr lang="en-US" sz="1200" dirty="0" err="1"/>
              <a:t>www.materialsdatafacility.org</a:t>
            </a:r>
            <a:r>
              <a:rPr lang="en-US" sz="1200" dirty="0"/>
              <a:t>/
- Campo et al., “Now Is the Time to Build a National Data Ecosystem for Materials Science and Chemistry Research Data,” ACS Omega (2022): https://</a:t>
            </a:r>
            <a:r>
              <a:rPr lang="en-US" sz="1200" dirty="0" err="1"/>
              <a:t>pubs.acs.org</a:t>
            </a:r>
            <a:r>
              <a:rPr lang="en-US" sz="1200" dirty="0"/>
              <a:t>/</a:t>
            </a:r>
            <a:r>
              <a:rPr lang="en-US" sz="1200" dirty="0" err="1"/>
              <a:t>doi</a:t>
            </a:r>
            <a:r>
              <a:rPr lang="en-US" sz="1200" dirty="0"/>
              <a:t>/10.1021/acsomega.2c00905</a:t>
            </a:r>
          </a:p>
          <a:p>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1825F5-58E4-D45A-025B-91FB785579C3}"/>
              </a:ext>
            </a:extLst>
          </p:cNvPr>
          <p:cNvSpPr txBox="1"/>
          <p:nvPr/>
        </p:nvSpPr>
        <p:spPr>
          <a:xfrm>
            <a:off x="9153525" y="6498194"/>
            <a:ext cx="2930568" cy="276999"/>
          </a:xfrm>
          <a:prstGeom prst="rect">
            <a:avLst/>
          </a:prstGeom>
          <a:noFill/>
        </p:spPr>
        <p:txBody>
          <a:bodyPr wrap="square">
            <a:spAutoFit/>
          </a:bodyPr>
          <a:lstStyle/>
          <a:p>
            <a:r>
              <a:rPr lang="en-US" sz="1200" dirty="0"/>
              <a:t>https://</a:t>
            </a:r>
            <a:r>
              <a:rPr lang="en-US" sz="1200" dirty="0" err="1"/>
              <a:t>zenodo.org</a:t>
            </a:r>
            <a:r>
              <a:rPr lang="en-US" sz="1200" dirty="0"/>
              <a:t>/records/11175299</a:t>
            </a:r>
          </a:p>
        </p:txBody>
      </p:sp>
      <p:pic>
        <p:nvPicPr>
          <p:cNvPr id="4" name="Picture 3">
            <a:extLst>
              <a:ext uri="{FF2B5EF4-FFF2-40B4-BE49-F238E27FC236}">
                <a16:creationId xmlns:a16="http://schemas.microsoft.com/office/drawing/2014/main" id="{5A134B29-AACE-4DB6-7199-B172DE065D0D}"/>
              </a:ext>
            </a:extLst>
          </p:cNvPr>
          <p:cNvPicPr>
            <a:picLocks noChangeAspect="1"/>
          </p:cNvPicPr>
          <p:nvPr/>
        </p:nvPicPr>
        <p:blipFill>
          <a:blip r:embed="rId2"/>
          <a:stretch>
            <a:fillRect/>
          </a:stretch>
        </p:blipFill>
        <p:spPr>
          <a:xfrm>
            <a:off x="2209800" y="461208"/>
            <a:ext cx="7772400" cy="5935584"/>
          </a:xfrm>
          <a:prstGeom prst="rect">
            <a:avLst/>
          </a:prstGeom>
        </p:spPr>
      </p:pic>
    </p:spTree>
    <p:extLst>
      <p:ext uri="{BB962C8B-B14F-4D97-AF65-F5344CB8AC3E}">
        <p14:creationId xmlns:p14="http://schemas.microsoft.com/office/powerpoint/2010/main" val="4364563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8E2F263E-7BE9-253C-752A-DC4ED0725CA4}"/>
              </a:ext>
            </a:extLst>
          </p:cNvPr>
          <p:cNvPicPr>
            <a:picLocks noChangeAspect="1"/>
          </p:cNvPicPr>
          <p:nvPr/>
        </p:nvPicPr>
        <p:blipFill>
          <a:blip r:embed="rId2"/>
          <a:srcRect b="24257"/>
          <a:stretch>
            <a:fillRect/>
          </a:stretch>
        </p:blipFill>
        <p:spPr>
          <a:xfrm>
            <a:off x="20" y="1282"/>
            <a:ext cx="12191980" cy="6856718"/>
          </a:xfrm>
          <a:prstGeom prst="rect">
            <a:avLst/>
          </a:prstGeom>
        </p:spPr>
      </p:pic>
    </p:spTree>
    <p:extLst>
      <p:ext uri="{BB962C8B-B14F-4D97-AF65-F5344CB8AC3E}">
        <p14:creationId xmlns:p14="http://schemas.microsoft.com/office/powerpoint/2010/main" val="1560372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8138160" cy="347472"/>
          </a:xfrm>
          <a:prstGeom prst="rect">
            <a:avLst/>
          </a:prstGeom>
          <a:noFill/>
          <a:ln/>
        </p:spPr>
        <p:txBody>
          <a:bodyPr wrap="square" rtlCol="0" anchor="ctr"/>
          <a:lstStyle/>
          <a:p>
            <a:pPr marL="0" indent="0">
              <a:buNone/>
            </a:pPr>
            <a:r>
              <a:rPr lang="en-US" sz="2400" b="1" dirty="0">
                <a:solidFill>
                  <a:srgbClr val="163A6B"/>
                </a:solidFill>
                <a:latin typeface="Aptos Display" pitchFamily="34" charset="0"/>
                <a:ea typeface="Aptos Display" pitchFamily="34" charset="-122"/>
                <a:cs typeface="Aptos Display" pitchFamily="34" charset="-120"/>
              </a:rPr>
              <a:t>What you should leave with today</a:t>
            </a:r>
            <a:endParaRPr lang="en-US" sz="2400" dirty="0"/>
          </a:p>
        </p:txBody>
      </p:sp>
      <p:sp>
        <p:nvSpPr>
          <p:cNvPr id="3" name="Shape 1"/>
          <p:cNvSpPr/>
          <p:nvPr/>
        </p:nvSpPr>
        <p:spPr>
          <a:xfrm>
            <a:off x="548640" y="822960"/>
            <a:ext cx="11064240" cy="0"/>
          </a:xfrm>
          <a:prstGeom prst="line">
            <a:avLst/>
          </a:prstGeom>
          <a:noFill/>
          <a:ln w="12700">
            <a:solidFill>
              <a:srgbClr val="D7E0EA"/>
            </a:solidFill>
            <a:prstDash val="solid"/>
          </a:ln>
        </p:spPr>
        <p:txBody>
          <a:bodyPr/>
          <a:lstStyle/>
          <a:p>
            <a:endParaRPr lang="en-US"/>
          </a:p>
        </p:txBody>
      </p:sp>
      <p:sp>
        <p:nvSpPr>
          <p:cNvPr id="4" name="Shape 2"/>
          <p:cNvSpPr/>
          <p:nvPr/>
        </p:nvSpPr>
        <p:spPr>
          <a:xfrm>
            <a:off x="868680" y="1417320"/>
            <a:ext cx="10424160" cy="4526280"/>
          </a:xfrm>
          <a:prstGeom prst="roundRect">
            <a:avLst>
              <a:gd name="adj" fmla="val 2424"/>
            </a:avLst>
          </a:prstGeom>
          <a:solidFill>
            <a:srgbClr val="163A6B"/>
          </a:solidFill>
          <a:ln w="12700">
            <a:solidFill>
              <a:srgbClr val="163A6B"/>
            </a:solidFill>
            <a:prstDash val="solid"/>
          </a:ln>
        </p:spPr>
        <p:txBody>
          <a:bodyPr/>
          <a:lstStyle/>
          <a:p>
            <a:endParaRPr lang="en-US"/>
          </a:p>
        </p:txBody>
      </p:sp>
      <p:sp>
        <p:nvSpPr>
          <p:cNvPr id="5" name="Shape 3"/>
          <p:cNvSpPr/>
          <p:nvPr/>
        </p:nvSpPr>
        <p:spPr>
          <a:xfrm>
            <a:off x="1325880" y="1828800"/>
            <a:ext cx="329184" cy="329184"/>
          </a:xfrm>
          <a:prstGeom prst="ellipse">
            <a:avLst/>
          </a:prstGeom>
          <a:solidFill>
            <a:srgbClr val="E4B13B"/>
          </a:solidFill>
          <a:ln w="12700">
            <a:solidFill>
              <a:srgbClr val="E4B13B"/>
            </a:solidFill>
            <a:prstDash val="solid"/>
          </a:ln>
        </p:spPr>
        <p:txBody>
          <a:bodyPr/>
          <a:lstStyle/>
          <a:p>
            <a:endParaRPr lang="en-US"/>
          </a:p>
        </p:txBody>
      </p:sp>
      <p:sp>
        <p:nvSpPr>
          <p:cNvPr id="6" name="Text 4"/>
          <p:cNvSpPr/>
          <p:nvPr/>
        </p:nvSpPr>
        <p:spPr>
          <a:xfrm>
            <a:off x="1408176" y="1901952"/>
            <a:ext cx="137160" cy="10972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7" name="Text 5"/>
          <p:cNvSpPr/>
          <p:nvPr/>
        </p:nvSpPr>
        <p:spPr>
          <a:xfrm>
            <a:off x="1755648" y="1810512"/>
            <a:ext cx="5669280" cy="256032"/>
          </a:xfrm>
          <a:prstGeom prst="rect">
            <a:avLst/>
          </a:prstGeom>
          <a:noFill/>
          <a:ln/>
        </p:spPr>
        <p:txBody>
          <a:bodyPr wrap="square" rtlCol="0" anchor="ctr"/>
          <a:lstStyle/>
          <a:p>
            <a:pPr marL="0" indent="0">
              <a:buNone/>
            </a:pPr>
            <a:r>
              <a:rPr lang="en-US" sz="2100" b="1" dirty="0">
                <a:solidFill>
                  <a:srgbClr val="FFFFFF"/>
                </a:solidFill>
              </a:rPr>
              <a:t>A practical TEM workflow you can repeat</a:t>
            </a:r>
            <a:endParaRPr lang="en-US" sz="2100" dirty="0"/>
          </a:p>
        </p:txBody>
      </p:sp>
      <p:sp>
        <p:nvSpPr>
          <p:cNvPr id="8" name="Shape 6"/>
          <p:cNvSpPr/>
          <p:nvPr/>
        </p:nvSpPr>
        <p:spPr>
          <a:xfrm>
            <a:off x="1325880" y="2670048"/>
            <a:ext cx="329184" cy="329184"/>
          </a:xfrm>
          <a:prstGeom prst="ellipse">
            <a:avLst/>
          </a:prstGeom>
          <a:solidFill>
            <a:srgbClr val="E4B13B"/>
          </a:solidFill>
          <a:ln w="12700">
            <a:solidFill>
              <a:srgbClr val="E4B13B"/>
            </a:solidFill>
            <a:prstDash val="solid"/>
          </a:ln>
        </p:spPr>
        <p:txBody>
          <a:bodyPr/>
          <a:lstStyle/>
          <a:p>
            <a:endParaRPr lang="en-US"/>
          </a:p>
        </p:txBody>
      </p:sp>
      <p:sp>
        <p:nvSpPr>
          <p:cNvPr id="9" name="Text 7"/>
          <p:cNvSpPr/>
          <p:nvPr/>
        </p:nvSpPr>
        <p:spPr>
          <a:xfrm>
            <a:off x="1408176" y="2743200"/>
            <a:ext cx="137160" cy="10972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0" name="Text 8"/>
          <p:cNvSpPr/>
          <p:nvPr/>
        </p:nvSpPr>
        <p:spPr>
          <a:xfrm>
            <a:off x="1755648" y="2651760"/>
            <a:ext cx="5669280" cy="256032"/>
          </a:xfrm>
          <a:prstGeom prst="rect">
            <a:avLst/>
          </a:prstGeom>
          <a:noFill/>
          <a:ln/>
        </p:spPr>
        <p:txBody>
          <a:bodyPr wrap="square" rtlCol="0" anchor="ctr"/>
          <a:lstStyle/>
          <a:p>
            <a:pPr marL="0" indent="0">
              <a:buNone/>
            </a:pPr>
            <a:r>
              <a:rPr lang="en-US" sz="2100" b="1" dirty="0">
                <a:solidFill>
                  <a:srgbClr val="FFFFFF"/>
                </a:solidFill>
              </a:rPr>
              <a:t>A minimum metadata template to describe your files</a:t>
            </a:r>
            <a:endParaRPr lang="en-US" sz="2100" dirty="0"/>
          </a:p>
        </p:txBody>
      </p:sp>
      <p:sp>
        <p:nvSpPr>
          <p:cNvPr id="11" name="Shape 9"/>
          <p:cNvSpPr/>
          <p:nvPr/>
        </p:nvSpPr>
        <p:spPr>
          <a:xfrm>
            <a:off x="1325880" y="3511296"/>
            <a:ext cx="329184" cy="329184"/>
          </a:xfrm>
          <a:prstGeom prst="ellipse">
            <a:avLst/>
          </a:prstGeom>
          <a:solidFill>
            <a:srgbClr val="E4B13B"/>
          </a:solidFill>
          <a:ln w="12700">
            <a:solidFill>
              <a:srgbClr val="E4B13B"/>
            </a:solidFill>
            <a:prstDash val="solid"/>
          </a:ln>
        </p:spPr>
        <p:txBody>
          <a:bodyPr/>
          <a:lstStyle/>
          <a:p>
            <a:endParaRPr lang="en-US"/>
          </a:p>
        </p:txBody>
      </p:sp>
      <p:sp>
        <p:nvSpPr>
          <p:cNvPr id="12" name="Text 10"/>
          <p:cNvSpPr/>
          <p:nvPr/>
        </p:nvSpPr>
        <p:spPr>
          <a:xfrm>
            <a:off x="1408176" y="3584448"/>
            <a:ext cx="137160" cy="10972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3" name="Text 11"/>
          <p:cNvSpPr/>
          <p:nvPr/>
        </p:nvSpPr>
        <p:spPr>
          <a:xfrm>
            <a:off x="1755648" y="3493007"/>
            <a:ext cx="5669280" cy="457201"/>
          </a:xfrm>
          <a:prstGeom prst="rect">
            <a:avLst/>
          </a:prstGeom>
          <a:noFill/>
          <a:ln/>
        </p:spPr>
        <p:txBody>
          <a:bodyPr wrap="square" rtlCol="0" anchor="ctr"/>
          <a:lstStyle/>
          <a:p>
            <a:pPr marL="0" indent="0">
              <a:buNone/>
            </a:pPr>
            <a:r>
              <a:rPr lang="en-US" sz="2100" b="1" dirty="0">
                <a:solidFill>
                  <a:srgbClr val="FFFFFF"/>
                </a:solidFill>
              </a:rPr>
              <a:t>Basic notebooks you can run and modify</a:t>
            </a:r>
            <a:endParaRPr lang="en-US" sz="2100" dirty="0"/>
          </a:p>
        </p:txBody>
      </p:sp>
      <p:sp>
        <p:nvSpPr>
          <p:cNvPr id="14" name="Shape 12"/>
          <p:cNvSpPr/>
          <p:nvPr/>
        </p:nvSpPr>
        <p:spPr>
          <a:xfrm>
            <a:off x="1325880" y="4352544"/>
            <a:ext cx="329184" cy="329184"/>
          </a:xfrm>
          <a:prstGeom prst="ellipse">
            <a:avLst/>
          </a:prstGeom>
          <a:solidFill>
            <a:srgbClr val="E4B13B"/>
          </a:solidFill>
          <a:ln w="12700">
            <a:solidFill>
              <a:srgbClr val="E4B13B"/>
            </a:solidFill>
            <a:prstDash val="solid"/>
          </a:ln>
        </p:spPr>
        <p:txBody>
          <a:bodyPr/>
          <a:lstStyle/>
          <a:p>
            <a:endParaRPr lang="en-US"/>
          </a:p>
        </p:txBody>
      </p:sp>
      <p:sp>
        <p:nvSpPr>
          <p:cNvPr id="15" name="Text 13"/>
          <p:cNvSpPr/>
          <p:nvPr/>
        </p:nvSpPr>
        <p:spPr>
          <a:xfrm>
            <a:off x="1408176" y="4425696"/>
            <a:ext cx="137160" cy="10972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6" name="Text 14"/>
          <p:cNvSpPr/>
          <p:nvPr/>
        </p:nvSpPr>
        <p:spPr>
          <a:xfrm>
            <a:off x="1755648" y="4363752"/>
            <a:ext cx="5669280" cy="256032"/>
          </a:xfrm>
          <a:prstGeom prst="rect">
            <a:avLst/>
          </a:prstGeom>
          <a:noFill/>
          <a:ln/>
        </p:spPr>
        <p:txBody>
          <a:bodyPr wrap="square" rtlCol="0" anchor="ctr"/>
          <a:lstStyle/>
          <a:p>
            <a:pPr marL="0" indent="0">
              <a:buNone/>
            </a:pPr>
            <a:r>
              <a:rPr lang="en-US" sz="2100" b="1" dirty="0">
                <a:solidFill>
                  <a:srgbClr val="FFFFFF"/>
                </a:solidFill>
              </a:rPr>
              <a:t>A clearer path to sharing code and data responsibly</a:t>
            </a:r>
          </a:p>
        </p:txBody>
      </p:sp>
      <p:sp>
        <p:nvSpPr>
          <p:cNvPr id="17" name="Shape 15"/>
          <p:cNvSpPr/>
          <p:nvPr/>
        </p:nvSpPr>
        <p:spPr>
          <a:xfrm>
            <a:off x="7863839" y="1828800"/>
            <a:ext cx="2812077" cy="3611880"/>
          </a:xfrm>
          <a:prstGeom prst="roundRect">
            <a:avLst>
              <a:gd name="adj" fmla="val 4615"/>
            </a:avLst>
          </a:prstGeom>
          <a:solidFill>
            <a:srgbClr val="234C7F"/>
          </a:solidFill>
          <a:ln w="12700">
            <a:solidFill>
              <a:srgbClr val="234C7F"/>
            </a:solidFill>
            <a:prstDash val="solid"/>
          </a:ln>
        </p:spPr>
        <p:txBody>
          <a:bodyPr/>
          <a:lstStyle/>
          <a:p>
            <a:endParaRPr lang="en-US"/>
          </a:p>
        </p:txBody>
      </p:sp>
      <p:sp>
        <p:nvSpPr>
          <p:cNvPr id="18" name="Text 16"/>
          <p:cNvSpPr/>
          <p:nvPr/>
        </p:nvSpPr>
        <p:spPr>
          <a:xfrm>
            <a:off x="7968343" y="2244435"/>
            <a:ext cx="2707573" cy="1864543"/>
          </a:xfrm>
          <a:prstGeom prst="rect">
            <a:avLst/>
          </a:prstGeom>
          <a:noFill/>
          <a:ln/>
        </p:spPr>
        <p:txBody>
          <a:bodyPr wrap="square" rtlCol="0" anchor="ctr"/>
          <a:lstStyle/>
          <a:p>
            <a:pPr marL="0" indent="0" algn="ctr">
              <a:buNone/>
            </a:pPr>
            <a:r>
              <a:rPr lang="en-US" sz="2000" b="1" dirty="0">
                <a:solidFill>
                  <a:srgbClr val="FDE7AF"/>
                </a:solidFill>
              </a:rPr>
              <a:t>Open, well-managed data</a:t>
            </a:r>
            <a:endParaRPr lang="en-US" sz="2000" dirty="0"/>
          </a:p>
          <a:p>
            <a:pPr marL="0" indent="0" algn="ctr">
              <a:buNone/>
            </a:pPr>
            <a:r>
              <a:rPr lang="en-US" sz="2000" b="1" dirty="0">
                <a:solidFill>
                  <a:srgbClr val="FDE7AF"/>
                </a:solidFill>
              </a:rPr>
              <a:t>= better science, improved efficiency, better return on investment- given potential for re-use.</a:t>
            </a:r>
            <a:endParaRPr lang="en-US" sz="2000" dirty="0"/>
          </a:p>
        </p:txBody>
      </p:sp>
      <p:sp>
        <p:nvSpPr>
          <p:cNvPr id="19" name="Text 17"/>
          <p:cNvSpPr/>
          <p:nvPr/>
        </p:nvSpPr>
        <p:spPr>
          <a:xfrm>
            <a:off x="8077892" y="4391787"/>
            <a:ext cx="2488474" cy="1039091"/>
          </a:xfrm>
          <a:prstGeom prst="rect">
            <a:avLst/>
          </a:prstGeom>
          <a:noFill/>
          <a:ln/>
        </p:spPr>
        <p:txBody>
          <a:bodyPr wrap="square" rtlCol="0" anchor="ctr"/>
          <a:lstStyle/>
          <a:p>
            <a:pPr marL="0" indent="0" algn="ctr">
              <a:buNone/>
            </a:pPr>
            <a:r>
              <a:rPr lang="en-US" sz="1600" i="1" dirty="0">
                <a:solidFill>
                  <a:srgbClr val="DCEAF7"/>
                </a:solidFill>
              </a:rPr>
              <a:t>Let the workflow carry some of the cognitive load so you can focus on the science.</a:t>
            </a:r>
            <a:endParaRPr lang="en-US" sz="1600" dirty="0"/>
          </a:p>
        </p:txBody>
      </p:sp>
      <p:sp>
        <p:nvSpPr>
          <p:cNvPr id="20" name="Text 18"/>
          <p:cNvSpPr/>
          <p:nvPr/>
        </p:nvSpPr>
        <p:spPr>
          <a:xfrm>
            <a:off x="11292840" y="6309359"/>
            <a:ext cx="612648" cy="228597"/>
          </a:xfrm>
          <a:prstGeom prst="rect">
            <a:avLst/>
          </a:prstGeom>
          <a:noFill/>
          <a:ln/>
        </p:spPr>
        <p:txBody>
          <a:bodyPr wrap="square" rtlCol="0" anchor="ctr"/>
          <a:lstStyle/>
          <a:p>
            <a:pPr marL="0" indent="0" algn="r">
              <a:buNone/>
            </a:pPr>
            <a:r>
              <a:rPr lang="en-US" sz="900" dirty="0">
                <a:solidFill>
                  <a:srgbClr val="6B7280"/>
                </a:solidFill>
              </a:rPr>
              <a:t>15</a:t>
            </a:r>
            <a:endParaRPr lang="en-US" sz="900" dirty="0"/>
          </a:p>
        </p:txBody>
      </p:sp>
      <p:sp>
        <p:nvSpPr>
          <p:cNvPr id="21" name="Text 14">
            <a:extLst>
              <a:ext uri="{FF2B5EF4-FFF2-40B4-BE49-F238E27FC236}">
                <a16:creationId xmlns:a16="http://schemas.microsoft.com/office/drawing/2014/main" id="{1556DA15-24D2-D638-C29F-1CF79339AFCC}"/>
              </a:ext>
            </a:extLst>
          </p:cNvPr>
          <p:cNvSpPr/>
          <p:nvPr/>
        </p:nvSpPr>
        <p:spPr>
          <a:xfrm>
            <a:off x="1755648" y="5086127"/>
            <a:ext cx="5669280" cy="256032"/>
          </a:xfrm>
          <a:prstGeom prst="rect">
            <a:avLst/>
          </a:prstGeom>
          <a:noFill/>
          <a:ln/>
        </p:spPr>
        <p:txBody>
          <a:bodyPr wrap="square" rtlCol="0" anchor="ctr"/>
          <a:lstStyle/>
          <a:p>
            <a:pPr marL="0" indent="0">
              <a:buNone/>
            </a:pPr>
            <a:r>
              <a:rPr lang="en-US" sz="2100" b="1" dirty="0">
                <a:solidFill>
                  <a:srgbClr val="FFFFFF"/>
                </a:solidFill>
              </a:rPr>
              <a:t>Appreciation for the value of open science</a:t>
            </a:r>
          </a:p>
        </p:txBody>
      </p:sp>
      <p:sp>
        <p:nvSpPr>
          <p:cNvPr id="22" name="Shape 12">
            <a:extLst>
              <a:ext uri="{FF2B5EF4-FFF2-40B4-BE49-F238E27FC236}">
                <a16:creationId xmlns:a16="http://schemas.microsoft.com/office/drawing/2014/main" id="{EEA7704A-8925-E94C-7333-8FC92E09DE33}"/>
              </a:ext>
            </a:extLst>
          </p:cNvPr>
          <p:cNvSpPr/>
          <p:nvPr/>
        </p:nvSpPr>
        <p:spPr>
          <a:xfrm>
            <a:off x="1286556" y="5021136"/>
            <a:ext cx="329184" cy="329184"/>
          </a:xfrm>
          <a:prstGeom prst="ellipse">
            <a:avLst/>
          </a:prstGeom>
          <a:solidFill>
            <a:srgbClr val="E4B13B"/>
          </a:solidFill>
          <a:ln w="12700">
            <a:solidFill>
              <a:srgbClr val="E4B13B"/>
            </a:solidFill>
            <a:prstDash val="solid"/>
          </a:ln>
        </p:spPr>
        <p:txBody>
          <a:bodyPr/>
          <a:lstStyle/>
          <a:p>
            <a:endParaRPr lang="en-US"/>
          </a:p>
        </p:txBody>
      </p:sp>
      <p:sp>
        <p:nvSpPr>
          <p:cNvPr id="23" name="Text 13">
            <a:extLst>
              <a:ext uri="{FF2B5EF4-FFF2-40B4-BE49-F238E27FC236}">
                <a16:creationId xmlns:a16="http://schemas.microsoft.com/office/drawing/2014/main" id="{4C75FC2F-949C-E2A0-78D7-DF0B1D9DFFF6}"/>
              </a:ext>
            </a:extLst>
          </p:cNvPr>
          <p:cNvSpPr/>
          <p:nvPr/>
        </p:nvSpPr>
        <p:spPr>
          <a:xfrm>
            <a:off x="1368852" y="5094288"/>
            <a:ext cx="137160" cy="10972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42081</TotalTime>
  <Words>2760</Words>
  <Application>Microsoft Macintosh PowerPoint</Application>
  <PresentationFormat>Widescreen</PresentationFormat>
  <Paragraphs>214</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Foundations of TEM Data Management &amp; Analysis</dc:title>
  <dc:subject>CITEAM workshop open science and TEM workflows</dc:subject>
  <dc:creator>OpenAI</dc:creator>
  <cp:lastModifiedBy>Karan Vahi</cp:lastModifiedBy>
  <cp:revision>18</cp:revision>
  <dcterms:created xsi:type="dcterms:W3CDTF">2026-04-16T12:34:14Z</dcterms:created>
  <dcterms:modified xsi:type="dcterms:W3CDTF">2026-05-20T18:38:56Z</dcterms:modified>
</cp:coreProperties>
</file>