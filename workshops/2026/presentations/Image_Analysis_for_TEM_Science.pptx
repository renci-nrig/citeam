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3"/>
    <p:sldMasterId id="214748367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12192000"/>
  <p:notesSz cx="6858000" cy="9144000"/>
  <p:embeddedFontLst>
    <p:embeddedFont>
      <p:font typeface="Play"/>
      <p:regular r:id="rId41"/>
      <p:bold r:id="rId42"/>
    </p:embeddedFont>
    <p:embeddedFont>
      <p:font typeface="Google Sans"/>
      <p:regular r:id="rId43"/>
      <p:bold r:id="rId44"/>
      <p:italic r:id="rId45"/>
      <p:boldItalic r:id="rId46"/>
    </p:embeddedFont>
    <p:embeddedFont>
      <p:font typeface="Cambria Math"/>
      <p:regular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Play-bold.fntdata"/><Relationship Id="rId41" Type="http://schemas.openxmlformats.org/officeDocument/2006/relationships/font" Target="fonts/Play-regular.fntdata"/><Relationship Id="rId22" Type="http://schemas.openxmlformats.org/officeDocument/2006/relationships/slide" Target="slides/slide17.xml"/><Relationship Id="rId44" Type="http://schemas.openxmlformats.org/officeDocument/2006/relationships/font" Target="fonts/GoogleSans-bold.fntdata"/><Relationship Id="rId21" Type="http://schemas.openxmlformats.org/officeDocument/2006/relationships/slide" Target="slides/slide16.xml"/><Relationship Id="rId43" Type="http://schemas.openxmlformats.org/officeDocument/2006/relationships/font" Target="fonts/GoogleSans-regular.fntdata"/><Relationship Id="rId24" Type="http://schemas.openxmlformats.org/officeDocument/2006/relationships/slide" Target="slides/slide19.xml"/><Relationship Id="rId46" Type="http://schemas.openxmlformats.org/officeDocument/2006/relationships/font" Target="fonts/GoogleSans-boldItalic.fntdata"/><Relationship Id="rId23" Type="http://schemas.openxmlformats.org/officeDocument/2006/relationships/slide" Target="slides/slide18.xml"/><Relationship Id="rId45" Type="http://schemas.openxmlformats.org/officeDocument/2006/relationships/font" Target="fonts/GoogleSans-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font" Target="fonts/CambriaMath-regular.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07" name="Google Shape;20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3" name="Google Shape;84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9" name="Google Shape;84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9" name="Google Shape;85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8" name="Google Shape;86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4" name="Google Shape;87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2" name="Google Shape;88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9" name="Google Shape;88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5" name="Google Shape;89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2" name="Google Shape;90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4" name="Google Shape;92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0" name="Google Shape;93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7" name="Google Shape;94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3" name="Google Shape;95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8" name="Google Shape;96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3" name="Google Shape;98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2" name="Google Shape;99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1" name="Google Shape;100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7" name="Google Shape;100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hyperlink" Target="https://citeamcourse.org/" TargetMode="External"/><Relationship Id="rId4" Type="http://schemas.openxmlformats.org/officeDocument/2006/relationships/image" Target="../media/image2.png"/><Relationship Id="rId10" Type="http://schemas.openxmlformats.org/officeDocument/2006/relationships/hyperlink" Target="https://www.nsf.gov/awardsearch/showAward?AWD_ID=2519467" TargetMode="External"/><Relationship Id="rId9" Type="http://schemas.openxmlformats.org/officeDocument/2006/relationships/hyperlink" Target="https://www.nsf.gov/awardsearch/showAward?AWD_ID=2519466" TargetMode="External"/><Relationship Id="rId5" Type="http://schemas.openxmlformats.org/officeDocument/2006/relationships/image" Target="../media/image7.jpg"/><Relationship Id="rId6" Type="http://schemas.openxmlformats.org/officeDocument/2006/relationships/image" Target="../media/image1.png"/><Relationship Id="rId7" Type="http://schemas.openxmlformats.org/officeDocument/2006/relationships/image" Target="../media/image8.jpg"/><Relationship Id="rId8" Type="http://schemas.openxmlformats.org/officeDocument/2006/relationships/hyperlink" Target="https://www.nsf.gov/awardsearch/showAward?AWD_ID=2519465"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hyperlink" Target="https://citeamcourse.org/" TargetMode="Externa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type="titleOnly">
  <p:cSld name="TITLE_ONLY">
    <p:spTree>
      <p:nvGrpSpPr>
        <p:cNvPr id="15" name="Shape 15"/>
        <p:cNvGrpSpPr/>
        <p:nvPr/>
      </p:nvGrpSpPr>
      <p:grpSpPr>
        <a:xfrm>
          <a:off x="0" y="0"/>
          <a:ext cx="0" cy="0"/>
          <a:chOff x="0" y="0"/>
          <a:chExt cx="0" cy="0"/>
        </a:xfrm>
      </p:grpSpPr>
      <p:sp>
        <p:nvSpPr>
          <p:cNvPr id="16" name="Google Shape;16;p2"/>
          <p:cNvSpPr txBox="1"/>
          <p:nvPr>
            <p:ph type="title"/>
          </p:nvPr>
        </p:nvSpPr>
        <p:spPr>
          <a:xfrm>
            <a:off x="1741734" y="2725511"/>
            <a:ext cx="8401775" cy="5334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rgbClr val="C00000"/>
              </a:buClr>
              <a:buSzPts val="4000"/>
              <a:buFont typeface="Play"/>
              <a:buNone/>
              <a:defRPr b="1" sz="4000">
                <a:solidFill>
                  <a:srgbClr val="C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mdbar" id="17" name="Google Shape;17;p2"/>
          <p:cNvPicPr preferRelativeResize="0"/>
          <p:nvPr/>
        </p:nvPicPr>
        <p:blipFill rotWithShape="1">
          <a:blip r:embed="rId2">
            <a:alphaModFix/>
          </a:blip>
          <a:srcRect b="0" l="0" r="0" t="0"/>
          <a:stretch/>
        </p:blipFill>
        <p:spPr>
          <a:xfrm>
            <a:off x="1741734" y="603767"/>
            <a:ext cx="9505951" cy="63500"/>
          </a:xfrm>
          <a:prstGeom prst="rect">
            <a:avLst/>
          </a:prstGeom>
          <a:noFill/>
          <a:ln>
            <a:noFill/>
          </a:ln>
        </p:spPr>
      </p:pic>
      <p:sp>
        <p:nvSpPr>
          <p:cNvPr id="18" name="Google Shape;18;p2"/>
          <p:cNvSpPr txBox="1"/>
          <p:nvPr/>
        </p:nvSpPr>
        <p:spPr>
          <a:xfrm>
            <a:off x="273615" y="150763"/>
            <a:ext cx="1340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sng" cap="none" strike="noStrike">
                <a:solidFill>
                  <a:schemeClr val="hlink"/>
                </a:solidFill>
                <a:latin typeface="Arial"/>
                <a:ea typeface="Arial"/>
                <a:cs typeface="Arial"/>
                <a:sym typeface="Arial"/>
                <a:hlinkClick r:id="rId3"/>
              </a:rPr>
              <a:t>CITEAM</a:t>
            </a:r>
            <a:endParaRPr sz="1800">
              <a:solidFill>
                <a:schemeClr val="dk1"/>
              </a:solidFill>
              <a:latin typeface="Arial"/>
              <a:ea typeface="Arial"/>
              <a:cs typeface="Arial"/>
              <a:sym typeface="Arial"/>
            </a:endParaRPr>
          </a:p>
        </p:txBody>
      </p:sp>
      <p:pic>
        <p:nvPicPr>
          <p:cNvPr descr="A logo of a globe with a gold cogwheel&#10;&#10;AI-generated content may be incorrect." id="19" name="Google Shape;19;p2"/>
          <p:cNvPicPr preferRelativeResize="0"/>
          <p:nvPr/>
        </p:nvPicPr>
        <p:blipFill rotWithShape="1">
          <a:blip r:embed="rId4">
            <a:alphaModFix/>
          </a:blip>
          <a:srcRect b="0" l="0" r="0" t="0"/>
          <a:stretch/>
        </p:blipFill>
        <p:spPr>
          <a:xfrm>
            <a:off x="544494" y="6051823"/>
            <a:ext cx="779658" cy="779658"/>
          </a:xfrm>
          <a:prstGeom prst="rect">
            <a:avLst/>
          </a:prstGeom>
          <a:noFill/>
          <a:ln>
            <a:noFill/>
          </a:ln>
        </p:spPr>
      </p:pic>
      <p:pic>
        <p:nvPicPr>
          <p:cNvPr descr="Blue text on a white background&#10;&#10;AI-generated content may be incorrect." id="20" name="Google Shape;20;p2"/>
          <p:cNvPicPr preferRelativeResize="0"/>
          <p:nvPr/>
        </p:nvPicPr>
        <p:blipFill rotWithShape="1">
          <a:blip r:embed="rId5">
            <a:alphaModFix/>
          </a:blip>
          <a:srcRect b="0" l="0" r="0" t="0"/>
          <a:stretch/>
        </p:blipFill>
        <p:spPr>
          <a:xfrm>
            <a:off x="2845956" y="6128941"/>
            <a:ext cx="2183183" cy="729059"/>
          </a:xfrm>
          <a:prstGeom prst="rect">
            <a:avLst/>
          </a:prstGeom>
          <a:noFill/>
          <a:ln>
            <a:noFill/>
          </a:ln>
        </p:spPr>
      </p:pic>
      <p:pic>
        <p:nvPicPr>
          <p:cNvPr descr="A close-up of a logo&#10;&#10;AI-generated content may be incorrect." id="21" name="Google Shape;21;p2"/>
          <p:cNvPicPr preferRelativeResize="0"/>
          <p:nvPr/>
        </p:nvPicPr>
        <p:blipFill rotWithShape="1">
          <a:blip r:embed="rId6">
            <a:alphaModFix/>
          </a:blip>
          <a:srcRect b="0" l="0" r="0" t="0"/>
          <a:stretch/>
        </p:blipFill>
        <p:spPr>
          <a:xfrm>
            <a:off x="5477395" y="6333019"/>
            <a:ext cx="2183183" cy="491216"/>
          </a:xfrm>
          <a:prstGeom prst="rect">
            <a:avLst/>
          </a:prstGeom>
          <a:noFill/>
          <a:ln>
            <a:noFill/>
          </a:ln>
        </p:spPr>
      </p:pic>
      <p:pic>
        <p:nvPicPr>
          <p:cNvPr descr="A close-up of a logo&#10;&#10;AI-generated content may be incorrect." id="22" name="Google Shape;22;p2"/>
          <p:cNvPicPr preferRelativeResize="0"/>
          <p:nvPr/>
        </p:nvPicPr>
        <p:blipFill rotWithShape="1">
          <a:blip r:embed="rId7">
            <a:alphaModFix/>
          </a:blip>
          <a:srcRect b="0" l="0" r="0" t="0"/>
          <a:stretch/>
        </p:blipFill>
        <p:spPr>
          <a:xfrm>
            <a:off x="8152721" y="6221238"/>
            <a:ext cx="2183183" cy="636762"/>
          </a:xfrm>
          <a:prstGeom prst="rect">
            <a:avLst/>
          </a:prstGeom>
          <a:noFill/>
          <a:ln>
            <a:noFill/>
          </a:ln>
        </p:spPr>
      </p:pic>
      <p:sp>
        <p:nvSpPr>
          <p:cNvPr id="23" name="Google Shape;23;p2"/>
          <p:cNvSpPr txBox="1"/>
          <p:nvPr/>
        </p:nvSpPr>
        <p:spPr>
          <a:xfrm>
            <a:off x="1447187" y="5957672"/>
            <a:ext cx="115269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rgbClr val="666666"/>
                </a:solidFill>
                <a:latin typeface="Arial"/>
                <a:ea typeface="Arial"/>
                <a:cs typeface="Arial"/>
                <a:sym typeface="Arial"/>
              </a:rPr>
              <a:t> </a:t>
            </a:r>
            <a:r>
              <a:rPr b="0" i="0" lang="en-US" sz="1800" u="sng">
                <a:solidFill>
                  <a:schemeClr val="hlink"/>
                </a:solidFill>
                <a:latin typeface="Arial"/>
                <a:ea typeface="Arial"/>
                <a:cs typeface="Arial"/>
                <a:sym typeface="Arial"/>
                <a:hlinkClick r:id="rId8"/>
              </a:rPr>
              <a:t>2519465</a:t>
            </a:r>
            <a:r>
              <a:rPr b="0" i="0" lang="en-US" sz="1800">
                <a:solidFill>
                  <a:srgbClr val="666666"/>
                </a:solidFill>
                <a:latin typeface="Arial"/>
                <a:ea typeface="Arial"/>
                <a:cs typeface="Arial"/>
                <a:sym typeface="Arial"/>
              </a:rPr>
              <a:t>, </a:t>
            </a:r>
            <a:endParaRPr/>
          </a:p>
          <a:p>
            <a:pPr indent="0" lvl="0" marL="0" marR="0" rtl="0" algn="l">
              <a:spcBef>
                <a:spcPts val="0"/>
              </a:spcBef>
              <a:spcAft>
                <a:spcPts val="0"/>
              </a:spcAft>
              <a:buNone/>
            </a:pPr>
            <a:r>
              <a:rPr b="0" i="0" lang="en-US" sz="1800" u="sng">
                <a:solidFill>
                  <a:schemeClr val="hlink"/>
                </a:solidFill>
                <a:latin typeface="Arial"/>
                <a:ea typeface="Arial"/>
                <a:cs typeface="Arial"/>
                <a:sym typeface="Arial"/>
                <a:hlinkClick r:id="rId9"/>
              </a:rPr>
              <a:t> 2519466</a:t>
            </a:r>
            <a:r>
              <a:rPr b="0" i="0" lang="en-US" sz="1800">
                <a:solidFill>
                  <a:srgbClr val="666666"/>
                </a:solidFill>
                <a:latin typeface="Arial"/>
                <a:ea typeface="Arial"/>
                <a:cs typeface="Arial"/>
                <a:sym typeface="Arial"/>
              </a:rPr>
              <a:t>, </a:t>
            </a:r>
            <a:endParaRPr/>
          </a:p>
          <a:p>
            <a:pPr indent="0" lvl="0" marL="0" marR="0" rtl="0" algn="l">
              <a:spcBef>
                <a:spcPts val="0"/>
              </a:spcBef>
              <a:spcAft>
                <a:spcPts val="0"/>
              </a:spcAft>
              <a:buNone/>
            </a:pPr>
            <a:r>
              <a:rPr b="0" i="0" lang="en-US" sz="1800">
                <a:solidFill>
                  <a:srgbClr val="666666"/>
                </a:solidFill>
                <a:latin typeface="Arial"/>
                <a:ea typeface="Arial"/>
                <a:cs typeface="Arial"/>
                <a:sym typeface="Arial"/>
              </a:rPr>
              <a:t> </a:t>
            </a:r>
            <a:r>
              <a:rPr b="0" i="0" lang="en-US" sz="1800" u="sng">
                <a:solidFill>
                  <a:schemeClr val="hlink"/>
                </a:solidFill>
                <a:latin typeface="Arial"/>
                <a:ea typeface="Arial"/>
                <a:cs typeface="Arial"/>
                <a:sym typeface="Arial"/>
                <a:hlinkClick r:id="rId10"/>
              </a:rPr>
              <a:t>2519467</a:t>
            </a:r>
            <a:r>
              <a:rPr b="0" i="0" lang="en-US" sz="1800">
                <a:solidFill>
                  <a:srgbClr val="666666"/>
                </a:solidFill>
                <a:latin typeface="Arial"/>
                <a:ea typeface="Arial"/>
                <a:cs typeface="Arial"/>
                <a:sym typeface="Arial"/>
              </a:rPr>
              <a:t>.</a:t>
            </a:r>
            <a:endParaRPr sz="1800">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
        <p:nvSpPr>
          <p:cNvPr id="25" name="Google Shape;25;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8" name="Shape 28"/>
        <p:cNvGrpSpPr/>
        <p:nvPr/>
      </p:nvGrpSpPr>
      <p:grpSpPr>
        <a:xfrm>
          <a:off x="0" y="0"/>
          <a:ext cx="0" cy="0"/>
          <a:chOff x="0" y="0"/>
          <a:chExt cx="0" cy="0"/>
        </a:xfrm>
      </p:grpSpPr>
      <p:sp>
        <p:nvSpPr>
          <p:cNvPr id="29" name="Google Shape;29;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1" name="Google Shape;31;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4" name="Shape 34"/>
        <p:cNvGrpSpPr/>
        <p:nvPr/>
      </p:nvGrpSpPr>
      <p:grpSpPr>
        <a:xfrm>
          <a:off x="0" y="0"/>
          <a:ext cx="0" cy="0"/>
          <a:chOff x="0" y="0"/>
          <a:chExt cx="0" cy="0"/>
        </a:xfrm>
      </p:grpSpPr>
      <p:sp>
        <p:nvSpPr>
          <p:cNvPr id="35" name="Google Shape;35;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43" name="Google Shape;43;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sp>
        <p:nvSpPr>
          <p:cNvPr id="47" name="Google Shape;47;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3" name="Shape 53"/>
        <p:cNvGrpSpPr/>
        <p:nvPr/>
      </p:nvGrpSpPr>
      <p:grpSpPr>
        <a:xfrm>
          <a:off x="0" y="0"/>
          <a:ext cx="0" cy="0"/>
          <a:chOff x="0" y="0"/>
          <a:chExt cx="0" cy="0"/>
        </a:xfrm>
      </p:grpSpPr>
      <p:sp>
        <p:nvSpPr>
          <p:cNvPr id="54" name="Google Shape;54;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8" name="Google Shape;58;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2" name="Shape 62"/>
        <p:cNvGrpSpPr/>
        <p:nvPr/>
      </p:nvGrpSpPr>
      <p:grpSpPr>
        <a:xfrm>
          <a:off x="0" y="0"/>
          <a:ext cx="0" cy="0"/>
          <a:chOff x="0" y="0"/>
          <a:chExt cx="0" cy="0"/>
        </a:xfrm>
      </p:grpSpPr>
      <p:sp>
        <p:nvSpPr>
          <p:cNvPr id="63" name="Google Shape;63;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7" name="Shape 67"/>
        <p:cNvGrpSpPr/>
        <p:nvPr/>
      </p:nvGrpSpPr>
      <p:grpSpPr>
        <a:xfrm>
          <a:off x="0" y="0"/>
          <a:ext cx="0" cy="0"/>
          <a:chOff x="0" y="0"/>
          <a:chExt cx="0" cy="0"/>
        </a:xfrm>
      </p:grpSpPr>
      <p:sp>
        <p:nvSpPr>
          <p:cNvPr id="68" name="Google Shape;6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0" name="Google Shape;70;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4" name="Shape 74"/>
        <p:cNvGrpSpPr/>
        <p:nvPr/>
      </p:nvGrpSpPr>
      <p:grpSpPr>
        <a:xfrm>
          <a:off x="0" y="0"/>
          <a:ext cx="0" cy="0"/>
          <a:chOff x="0" y="0"/>
          <a:chExt cx="0" cy="0"/>
        </a:xfrm>
      </p:grpSpPr>
      <p:sp>
        <p:nvSpPr>
          <p:cNvPr id="75" name="Google Shape;75;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1"/>
          <p:cNvSpPr/>
          <p:nvPr>
            <p:ph idx="2" type="pic"/>
          </p:nvPr>
        </p:nvSpPr>
        <p:spPr>
          <a:xfrm>
            <a:off x="5183188" y="987425"/>
            <a:ext cx="6172200" cy="4873625"/>
          </a:xfrm>
          <a:prstGeom prst="rect">
            <a:avLst/>
          </a:prstGeom>
          <a:noFill/>
          <a:ln>
            <a:noFill/>
          </a:ln>
        </p:spPr>
      </p:sp>
      <p:sp>
        <p:nvSpPr>
          <p:cNvPr id="77" name="Google Shape;77;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8" name="Google Shape;7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通常スライド">
  <p:cSld name="通常スライド">
    <p:bg>
      <p:bgPr>
        <a:blipFill>
          <a:blip r:embed="rId2">
            <a:alphaModFix/>
          </a:blip>
          <a:stretch>
            <a:fillRect/>
          </a:stretch>
        </a:blipFill>
      </p:bgPr>
    </p:bg>
    <p:spTree>
      <p:nvGrpSpPr>
        <p:cNvPr id="93" name="Shape 93"/>
        <p:cNvGrpSpPr/>
        <p:nvPr/>
      </p:nvGrpSpPr>
      <p:grpSpPr>
        <a:xfrm>
          <a:off x="0" y="0"/>
          <a:ext cx="0" cy="0"/>
          <a:chOff x="0" y="0"/>
          <a:chExt cx="0" cy="0"/>
        </a:xfrm>
      </p:grpSpPr>
      <p:sp>
        <p:nvSpPr>
          <p:cNvPr id="94" name="Google Shape;94;p14"/>
          <p:cNvSpPr txBox="1"/>
          <p:nvPr>
            <p:ph idx="12" type="sldNum"/>
          </p:nvPr>
        </p:nvSpPr>
        <p:spPr>
          <a:xfrm>
            <a:off x="305000" y="6602718"/>
            <a:ext cx="990467" cy="173820"/>
          </a:xfrm>
          <a:prstGeom prst="rect">
            <a:avLst/>
          </a:prstGeom>
          <a:noFill/>
          <a:ln>
            <a:noFill/>
          </a:ln>
        </p:spPr>
        <p:txBody>
          <a:bodyPr anchorCtr="0" anchor="ctr" bIns="0" lIns="0" spcFirstLastPara="1" rIns="0" wrap="square" tIns="0">
            <a:noAutofit/>
          </a:bodyPr>
          <a:lstStyle>
            <a:lvl1pPr indent="0" lvl="0" marL="0" algn="l">
              <a:spcBef>
                <a:spcPts val="0"/>
              </a:spcBef>
              <a:buNone/>
              <a:defRPr sz="1100">
                <a:solidFill>
                  <a:srgbClr val="323232"/>
                </a:solidFill>
                <a:latin typeface="Meiryo"/>
                <a:ea typeface="Meiryo"/>
                <a:cs typeface="Meiryo"/>
                <a:sym typeface="Meiryo"/>
              </a:defRPr>
            </a:lvl1pPr>
            <a:lvl2pPr indent="0" lvl="1" marL="0" algn="l">
              <a:spcBef>
                <a:spcPts val="0"/>
              </a:spcBef>
              <a:buNone/>
              <a:defRPr sz="1100">
                <a:solidFill>
                  <a:srgbClr val="323232"/>
                </a:solidFill>
                <a:latin typeface="Meiryo"/>
                <a:ea typeface="Meiryo"/>
                <a:cs typeface="Meiryo"/>
                <a:sym typeface="Meiryo"/>
              </a:defRPr>
            </a:lvl2pPr>
            <a:lvl3pPr indent="0" lvl="2" marL="0" algn="l">
              <a:spcBef>
                <a:spcPts val="0"/>
              </a:spcBef>
              <a:buNone/>
              <a:defRPr sz="1100">
                <a:solidFill>
                  <a:srgbClr val="323232"/>
                </a:solidFill>
                <a:latin typeface="Meiryo"/>
                <a:ea typeface="Meiryo"/>
                <a:cs typeface="Meiryo"/>
                <a:sym typeface="Meiryo"/>
              </a:defRPr>
            </a:lvl3pPr>
            <a:lvl4pPr indent="0" lvl="3" marL="0" algn="l">
              <a:spcBef>
                <a:spcPts val="0"/>
              </a:spcBef>
              <a:buNone/>
              <a:defRPr sz="1100">
                <a:solidFill>
                  <a:srgbClr val="323232"/>
                </a:solidFill>
                <a:latin typeface="Meiryo"/>
                <a:ea typeface="Meiryo"/>
                <a:cs typeface="Meiryo"/>
                <a:sym typeface="Meiryo"/>
              </a:defRPr>
            </a:lvl4pPr>
            <a:lvl5pPr indent="0" lvl="4" marL="0" algn="l">
              <a:spcBef>
                <a:spcPts val="0"/>
              </a:spcBef>
              <a:buNone/>
              <a:defRPr sz="1100">
                <a:solidFill>
                  <a:srgbClr val="323232"/>
                </a:solidFill>
                <a:latin typeface="Meiryo"/>
                <a:ea typeface="Meiryo"/>
                <a:cs typeface="Meiryo"/>
                <a:sym typeface="Meiryo"/>
              </a:defRPr>
            </a:lvl5pPr>
            <a:lvl6pPr indent="0" lvl="5" marL="0" algn="l">
              <a:spcBef>
                <a:spcPts val="0"/>
              </a:spcBef>
              <a:buNone/>
              <a:defRPr sz="1100">
                <a:solidFill>
                  <a:srgbClr val="323232"/>
                </a:solidFill>
                <a:latin typeface="Meiryo"/>
                <a:ea typeface="Meiryo"/>
                <a:cs typeface="Meiryo"/>
                <a:sym typeface="Meiryo"/>
              </a:defRPr>
            </a:lvl6pPr>
            <a:lvl7pPr indent="0" lvl="6" marL="0" algn="l">
              <a:spcBef>
                <a:spcPts val="0"/>
              </a:spcBef>
              <a:buNone/>
              <a:defRPr sz="1100">
                <a:solidFill>
                  <a:srgbClr val="323232"/>
                </a:solidFill>
                <a:latin typeface="Meiryo"/>
                <a:ea typeface="Meiryo"/>
                <a:cs typeface="Meiryo"/>
                <a:sym typeface="Meiryo"/>
              </a:defRPr>
            </a:lvl7pPr>
            <a:lvl8pPr indent="0" lvl="7" marL="0" algn="l">
              <a:spcBef>
                <a:spcPts val="0"/>
              </a:spcBef>
              <a:buNone/>
              <a:defRPr sz="1100">
                <a:solidFill>
                  <a:srgbClr val="323232"/>
                </a:solidFill>
                <a:latin typeface="Meiryo"/>
                <a:ea typeface="Meiryo"/>
                <a:cs typeface="Meiryo"/>
                <a:sym typeface="Meiryo"/>
              </a:defRPr>
            </a:lvl8pPr>
            <a:lvl9pPr indent="0" lvl="8" marL="0" algn="l">
              <a:spcBef>
                <a:spcPts val="0"/>
              </a:spcBef>
              <a:buNone/>
              <a:defRPr sz="1100">
                <a:solidFill>
                  <a:srgbClr val="323232"/>
                </a:solidFill>
                <a:latin typeface="Meiryo"/>
                <a:ea typeface="Meiryo"/>
                <a:cs typeface="Meiryo"/>
                <a:sym typeface="Meiryo"/>
              </a:defRPr>
            </a:lvl9pPr>
          </a:lstStyle>
          <a:p>
            <a:pPr indent="0" lvl="0" marL="0" rtl="0" algn="l">
              <a:spcBef>
                <a:spcPts val="0"/>
              </a:spcBef>
              <a:spcAft>
                <a:spcPts val="0"/>
              </a:spcAft>
              <a:buNone/>
            </a:pPr>
            <a:fld id="{00000000-1234-1234-1234-123412341234}" type="slidenum">
              <a:rPr lang="en-US"/>
              <a:t>‹#›</a:t>
            </a:fld>
            <a:endParaRPr/>
          </a:p>
        </p:txBody>
      </p:sp>
      <p:cxnSp>
        <p:nvCxnSpPr>
          <p:cNvPr id="95" name="Google Shape;95;p14"/>
          <p:cNvCxnSpPr/>
          <p:nvPr/>
        </p:nvCxnSpPr>
        <p:spPr>
          <a:xfrm>
            <a:off x="623392" y="844352"/>
            <a:ext cx="11568608" cy="0"/>
          </a:xfrm>
          <a:prstGeom prst="straightConnector1">
            <a:avLst/>
          </a:prstGeom>
          <a:noFill/>
          <a:ln cap="flat" cmpd="sng" w="12700">
            <a:solidFill>
              <a:schemeClr val="dk1"/>
            </a:solidFill>
            <a:prstDash val="solid"/>
            <a:miter lim="800000"/>
            <a:headEnd len="sm" w="sm" type="none"/>
            <a:tailEnd len="sm" w="sm" type="none"/>
          </a:ln>
        </p:spPr>
      </p:cxnSp>
      <p:sp>
        <p:nvSpPr>
          <p:cNvPr id="96" name="Google Shape;96;p14"/>
          <p:cNvSpPr txBox="1"/>
          <p:nvPr>
            <p:ph type="title"/>
          </p:nvPr>
        </p:nvSpPr>
        <p:spPr>
          <a:xfrm>
            <a:off x="623392" y="153908"/>
            <a:ext cx="10730408" cy="6858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3" name="Shape 103"/>
        <p:cNvGrpSpPr/>
        <p:nvPr/>
      </p:nvGrpSpPr>
      <p:grpSpPr>
        <a:xfrm>
          <a:off x="0" y="0"/>
          <a:ext cx="0" cy="0"/>
          <a:chOff x="0" y="0"/>
          <a:chExt cx="0" cy="0"/>
        </a:xfrm>
      </p:grpSpPr>
      <p:sp>
        <p:nvSpPr>
          <p:cNvPr id="104" name="Google Shape;104;p16"/>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05" name="Google Shape;105;p16"/>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b="1" sz="3600">
                <a:solidFill>
                  <a:srgbClr val="C00000"/>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pic>
        <p:nvPicPr>
          <p:cNvPr descr="mdbar" id="106" name="Google Shape;106;p16"/>
          <p:cNvPicPr preferRelativeResize="0"/>
          <p:nvPr/>
        </p:nvPicPr>
        <p:blipFill rotWithShape="1">
          <a:blip r:embed="rId2">
            <a:alphaModFix/>
          </a:blip>
          <a:srcRect b="0" l="0" r="0" t="0"/>
          <a:stretch/>
        </p:blipFill>
        <p:spPr>
          <a:xfrm>
            <a:off x="1828801" y="762000"/>
            <a:ext cx="9505951" cy="63500"/>
          </a:xfrm>
          <a:prstGeom prst="rect">
            <a:avLst/>
          </a:prstGeom>
          <a:noFill/>
          <a:ln>
            <a:noFill/>
          </a:ln>
        </p:spPr>
      </p:pic>
      <p:sp>
        <p:nvSpPr>
          <p:cNvPr id="107" name="Google Shape;107;p16"/>
          <p:cNvSpPr txBox="1"/>
          <p:nvPr/>
        </p:nvSpPr>
        <p:spPr>
          <a:xfrm>
            <a:off x="1219200" y="1143000"/>
            <a:ext cx="9855200" cy="369332"/>
          </a:xfrm>
          <a:prstGeom prst="rect">
            <a:avLst/>
          </a:prstGeom>
          <a:noFill/>
          <a:ln>
            <a:noFill/>
          </a:ln>
        </p:spPr>
        <p:txBody>
          <a:bodyPr anchorCtr="0" anchor="t" bIns="45700" lIns="91425" spcFirstLastPara="1" rIns="91425" wrap="square" tIns="45700">
            <a:spAutoFit/>
          </a:bodyPr>
          <a:lstStyle/>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108" name="Google Shape;108;p16"/>
          <p:cNvSpPr txBox="1"/>
          <p:nvPr/>
        </p:nvSpPr>
        <p:spPr>
          <a:xfrm>
            <a:off x="277898" y="234434"/>
            <a:ext cx="9809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sng" strike="noStrike">
                <a:solidFill>
                  <a:schemeClr val="hlink"/>
                </a:solidFill>
                <a:latin typeface="Arial"/>
                <a:ea typeface="Arial"/>
                <a:cs typeface="Arial"/>
                <a:sym typeface="Arial"/>
                <a:hlinkClick r:id="rId3"/>
              </a:rPr>
              <a:t>CITEAM</a:t>
            </a:r>
            <a:endParaRPr sz="1800">
              <a:solidFill>
                <a:schemeClr val="dk1"/>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9" name="Shape 109"/>
        <p:cNvGrpSpPr/>
        <p:nvPr/>
      </p:nvGrpSpPr>
      <p:grpSpPr>
        <a:xfrm>
          <a:off x="0" y="0"/>
          <a:ext cx="0" cy="0"/>
          <a:chOff x="0" y="0"/>
          <a:chExt cx="0" cy="0"/>
        </a:xfrm>
      </p:grpSpPr>
      <p:sp>
        <p:nvSpPr>
          <p:cNvPr id="110" name="Google Shape;110;p1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3" name="Shape 113"/>
        <p:cNvGrpSpPr/>
        <p:nvPr/>
      </p:nvGrpSpPr>
      <p:grpSpPr>
        <a:xfrm>
          <a:off x="0" y="0"/>
          <a:ext cx="0" cy="0"/>
          <a:chOff x="0" y="0"/>
          <a:chExt cx="0" cy="0"/>
        </a:xfrm>
      </p:grpSpPr>
      <p:sp>
        <p:nvSpPr>
          <p:cNvPr id="114" name="Google Shape;114;p18"/>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5" name="Google Shape;115;p18"/>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16" name="Google Shape;116;p1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9" name="Shape 119"/>
        <p:cNvGrpSpPr/>
        <p:nvPr/>
      </p:nvGrpSpPr>
      <p:grpSpPr>
        <a:xfrm>
          <a:off x="0" y="0"/>
          <a:ext cx="0" cy="0"/>
          <a:chOff x="0" y="0"/>
          <a:chExt cx="0" cy="0"/>
        </a:xfrm>
      </p:grpSpPr>
      <p:sp>
        <p:nvSpPr>
          <p:cNvPr id="120" name="Google Shape;120;p1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1" name="Google Shape;121;p19"/>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2" name="Google Shape;122;p1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5" name="Shape 125"/>
        <p:cNvGrpSpPr/>
        <p:nvPr/>
      </p:nvGrpSpPr>
      <p:grpSpPr>
        <a:xfrm>
          <a:off x="0" y="0"/>
          <a:ext cx="0" cy="0"/>
          <a:chOff x="0" y="0"/>
          <a:chExt cx="0" cy="0"/>
        </a:xfrm>
      </p:grpSpPr>
      <p:sp>
        <p:nvSpPr>
          <p:cNvPr id="126" name="Google Shape;126;p20"/>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7" name="Google Shape;127;p20"/>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28" name="Google Shape;128;p2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2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1" name="Shape 131"/>
        <p:cNvGrpSpPr/>
        <p:nvPr/>
      </p:nvGrpSpPr>
      <p:grpSpPr>
        <a:xfrm>
          <a:off x="0" y="0"/>
          <a:ext cx="0" cy="0"/>
          <a:chOff x="0" y="0"/>
          <a:chExt cx="0" cy="0"/>
        </a:xfrm>
      </p:grpSpPr>
      <p:sp>
        <p:nvSpPr>
          <p:cNvPr id="132" name="Google Shape;132;p2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3" name="Google Shape;133;p21"/>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34" name="Google Shape;134;p21"/>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35" name="Google Shape;135;p2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2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8" name="Shape 138"/>
        <p:cNvGrpSpPr/>
        <p:nvPr/>
      </p:nvGrpSpPr>
      <p:grpSpPr>
        <a:xfrm>
          <a:off x="0" y="0"/>
          <a:ext cx="0" cy="0"/>
          <a:chOff x="0" y="0"/>
          <a:chExt cx="0" cy="0"/>
        </a:xfrm>
      </p:grpSpPr>
      <p:sp>
        <p:nvSpPr>
          <p:cNvPr id="139" name="Google Shape;139;p2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0" name="Google Shape;140;p22"/>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41" name="Google Shape;141;p22"/>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42" name="Google Shape;142;p22"/>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43" name="Google Shape;143;p22"/>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44" name="Google Shape;144;p2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22"/>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2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7" name="Shape 147"/>
        <p:cNvGrpSpPr/>
        <p:nvPr/>
      </p:nvGrpSpPr>
      <p:grpSpPr>
        <a:xfrm>
          <a:off x="0" y="0"/>
          <a:ext cx="0" cy="0"/>
          <a:chOff x="0" y="0"/>
          <a:chExt cx="0" cy="0"/>
        </a:xfrm>
      </p:grpSpPr>
      <p:sp>
        <p:nvSpPr>
          <p:cNvPr id="148" name="Google Shape;148;p2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9" name="Google Shape;149;p23"/>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23"/>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2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2" name="Shape 152"/>
        <p:cNvGrpSpPr/>
        <p:nvPr/>
      </p:nvGrpSpPr>
      <p:grpSpPr>
        <a:xfrm>
          <a:off x="0" y="0"/>
          <a:ext cx="0" cy="0"/>
          <a:chOff x="0" y="0"/>
          <a:chExt cx="0" cy="0"/>
        </a:xfrm>
      </p:grpSpPr>
      <p:sp>
        <p:nvSpPr>
          <p:cNvPr id="153" name="Google Shape;153;p24"/>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4" name="Google Shape;154;p24"/>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55" name="Google Shape;155;p24"/>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56" name="Google Shape;156;p2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2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2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9" name="Shape 159"/>
        <p:cNvGrpSpPr/>
        <p:nvPr/>
      </p:nvGrpSpPr>
      <p:grpSpPr>
        <a:xfrm>
          <a:off x="0" y="0"/>
          <a:ext cx="0" cy="0"/>
          <a:chOff x="0" y="0"/>
          <a:chExt cx="0" cy="0"/>
        </a:xfrm>
      </p:grpSpPr>
      <p:sp>
        <p:nvSpPr>
          <p:cNvPr id="160" name="Google Shape;160;p25"/>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1" name="Google Shape;161;p25"/>
          <p:cNvSpPr/>
          <p:nvPr>
            <p:ph idx="2" type="pic"/>
          </p:nvPr>
        </p:nvSpPr>
        <p:spPr>
          <a:xfrm>
            <a:off x="2389717" y="612775"/>
            <a:ext cx="7315200" cy="4114800"/>
          </a:xfrm>
          <a:prstGeom prst="rect">
            <a:avLst/>
          </a:prstGeom>
          <a:noFill/>
          <a:ln>
            <a:noFill/>
          </a:ln>
        </p:spPr>
      </p:sp>
      <p:sp>
        <p:nvSpPr>
          <p:cNvPr id="162" name="Google Shape;162;p25"/>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63" name="Google Shape;163;p2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2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2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6" name="Shape 166"/>
        <p:cNvGrpSpPr/>
        <p:nvPr/>
      </p:nvGrpSpPr>
      <p:grpSpPr>
        <a:xfrm>
          <a:off x="0" y="0"/>
          <a:ext cx="0" cy="0"/>
          <a:chOff x="0" y="0"/>
          <a:chExt cx="0" cy="0"/>
        </a:xfrm>
      </p:grpSpPr>
      <p:sp>
        <p:nvSpPr>
          <p:cNvPr id="167" name="Google Shape;167;p2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8" name="Google Shape;168;p26"/>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9" name="Google Shape;169;p2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2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2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72" name="Shape 172"/>
        <p:cNvGrpSpPr/>
        <p:nvPr/>
      </p:nvGrpSpPr>
      <p:grpSpPr>
        <a:xfrm>
          <a:off x="0" y="0"/>
          <a:ext cx="0" cy="0"/>
          <a:chOff x="0" y="0"/>
          <a:chExt cx="0" cy="0"/>
        </a:xfrm>
      </p:grpSpPr>
      <p:sp>
        <p:nvSpPr>
          <p:cNvPr id="173" name="Google Shape;173;p27"/>
          <p:cNvSpPr txBox="1"/>
          <p:nvPr>
            <p:ph type="title"/>
          </p:nvPr>
        </p:nvSpPr>
        <p:spPr>
          <a:xfrm rot="5400000">
            <a:off x="7285038" y="1828802"/>
            <a:ext cx="5851525" cy="2743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4" name="Google Shape;174;p27"/>
          <p:cNvSpPr txBox="1"/>
          <p:nvPr>
            <p:ph idx="1" type="body"/>
          </p:nvPr>
        </p:nvSpPr>
        <p:spPr>
          <a:xfrm rot="5400000">
            <a:off x="1697038" y="-812799"/>
            <a:ext cx="5851525" cy="8026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5" name="Google Shape;175;p2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2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2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通常スライド">
  <p:cSld name="通常スライド">
    <p:bg>
      <p:bgPr>
        <a:blipFill>
          <a:blip r:embed="rId2">
            <a:alphaModFix/>
          </a:blip>
          <a:stretch>
            <a:fillRect/>
          </a:stretch>
        </a:blipFill>
      </p:bgPr>
    </p:bg>
    <p:spTree>
      <p:nvGrpSpPr>
        <p:cNvPr id="178" name="Shape 178"/>
        <p:cNvGrpSpPr/>
        <p:nvPr/>
      </p:nvGrpSpPr>
      <p:grpSpPr>
        <a:xfrm>
          <a:off x="0" y="0"/>
          <a:ext cx="0" cy="0"/>
          <a:chOff x="0" y="0"/>
          <a:chExt cx="0" cy="0"/>
        </a:xfrm>
      </p:grpSpPr>
      <p:sp>
        <p:nvSpPr>
          <p:cNvPr id="179" name="Google Shape;179;p28"/>
          <p:cNvSpPr txBox="1"/>
          <p:nvPr>
            <p:ph idx="12" type="sldNum"/>
          </p:nvPr>
        </p:nvSpPr>
        <p:spPr>
          <a:xfrm>
            <a:off x="305000" y="6602718"/>
            <a:ext cx="990467" cy="173820"/>
          </a:xfrm>
          <a:prstGeom prst="rect">
            <a:avLst/>
          </a:prstGeom>
          <a:noFill/>
          <a:ln>
            <a:noFill/>
          </a:ln>
        </p:spPr>
        <p:txBody>
          <a:bodyPr anchorCtr="0" anchor="ctr" bIns="0" lIns="0" spcFirstLastPara="1" rIns="0" wrap="square" tIns="0">
            <a:noAutofit/>
          </a:bodyPr>
          <a:lstStyle>
            <a:lvl1pPr indent="0" lvl="0" marL="0" algn="l">
              <a:spcBef>
                <a:spcPts val="0"/>
              </a:spcBef>
              <a:buNone/>
              <a:defRPr sz="1100">
                <a:solidFill>
                  <a:srgbClr val="323232"/>
                </a:solidFill>
                <a:latin typeface="Meiryo"/>
                <a:ea typeface="Meiryo"/>
                <a:cs typeface="Meiryo"/>
                <a:sym typeface="Meiryo"/>
              </a:defRPr>
            </a:lvl1pPr>
            <a:lvl2pPr indent="0" lvl="1" marL="0" algn="l">
              <a:spcBef>
                <a:spcPts val="0"/>
              </a:spcBef>
              <a:buNone/>
              <a:defRPr sz="1100">
                <a:solidFill>
                  <a:srgbClr val="323232"/>
                </a:solidFill>
                <a:latin typeface="Meiryo"/>
                <a:ea typeface="Meiryo"/>
                <a:cs typeface="Meiryo"/>
                <a:sym typeface="Meiryo"/>
              </a:defRPr>
            </a:lvl2pPr>
            <a:lvl3pPr indent="0" lvl="2" marL="0" algn="l">
              <a:spcBef>
                <a:spcPts val="0"/>
              </a:spcBef>
              <a:buNone/>
              <a:defRPr sz="1100">
                <a:solidFill>
                  <a:srgbClr val="323232"/>
                </a:solidFill>
                <a:latin typeface="Meiryo"/>
                <a:ea typeface="Meiryo"/>
                <a:cs typeface="Meiryo"/>
                <a:sym typeface="Meiryo"/>
              </a:defRPr>
            </a:lvl3pPr>
            <a:lvl4pPr indent="0" lvl="3" marL="0" algn="l">
              <a:spcBef>
                <a:spcPts val="0"/>
              </a:spcBef>
              <a:buNone/>
              <a:defRPr sz="1100">
                <a:solidFill>
                  <a:srgbClr val="323232"/>
                </a:solidFill>
                <a:latin typeface="Meiryo"/>
                <a:ea typeface="Meiryo"/>
                <a:cs typeface="Meiryo"/>
                <a:sym typeface="Meiryo"/>
              </a:defRPr>
            </a:lvl4pPr>
            <a:lvl5pPr indent="0" lvl="4" marL="0" algn="l">
              <a:spcBef>
                <a:spcPts val="0"/>
              </a:spcBef>
              <a:buNone/>
              <a:defRPr sz="1100">
                <a:solidFill>
                  <a:srgbClr val="323232"/>
                </a:solidFill>
                <a:latin typeface="Meiryo"/>
                <a:ea typeface="Meiryo"/>
                <a:cs typeface="Meiryo"/>
                <a:sym typeface="Meiryo"/>
              </a:defRPr>
            </a:lvl5pPr>
            <a:lvl6pPr indent="0" lvl="5" marL="0" algn="l">
              <a:spcBef>
                <a:spcPts val="0"/>
              </a:spcBef>
              <a:buNone/>
              <a:defRPr sz="1100">
                <a:solidFill>
                  <a:srgbClr val="323232"/>
                </a:solidFill>
                <a:latin typeface="Meiryo"/>
                <a:ea typeface="Meiryo"/>
                <a:cs typeface="Meiryo"/>
                <a:sym typeface="Meiryo"/>
              </a:defRPr>
            </a:lvl6pPr>
            <a:lvl7pPr indent="0" lvl="6" marL="0" algn="l">
              <a:spcBef>
                <a:spcPts val="0"/>
              </a:spcBef>
              <a:buNone/>
              <a:defRPr sz="1100">
                <a:solidFill>
                  <a:srgbClr val="323232"/>
                </a:solidFill>
                <a:latin typeface="Meiryo"/>
                <a:ea typeface="Meiryo"/>
                <a:cs typeface="Meiryo"/>
                <a:sym typeface="Meiryo"/>
              </a:defRPr>
            </a:lvl7pPr>
            <a:lvl8pPr indent="0" lvl="7" marL="0" algn="l">
              <a:spcBef>
                <a:spcPts val="0"/>
              </a:spcBef>
              <a:buNone/>
              <a:defRPr sz="1100">
                <a:solidFill>
                  <a:srgbClr val="323232"/>
                </a:solidFill>
                <a:latin typeface="Meiryo"/>
                <a:ea typeface="Meiryo"/>
                <a:cs typeface="Meiryo"/>
                <a:sym typeface="Meiryo"/>
              </a:defRPr>
            </a:lvl8pPr>
            <a:lvl9pPr indent="0" lvl="8" marL="0" algn="l">
              <a:spcBef>
                <a:spcPts val="0"/>
              </a:spcBef>
              <a:buNone/>
              <a:defRPr sz="1100">
                <a:solidFill>
                  <a:srgbClr val="323232"/>
                </a:solidFill>
                <a:latin typeface="Meiryo"/>
                <a:ea typeface="Meiryo"/>
                <a:cs typeface="Meiryo"/>
                <a:sym typeface="Meiryo"/>
              </a:defRPr>
            </a:lvl9pPr>
          </a:lstStyle>
          <a:p>
            <a:pPr indent="0" lvl="0" marL="0" rtl="0" algn="l">
              <a:spcBef>
                <a:spcPts val="0"/>
              </a:spcBef>
              <a:spcAft>
                <a:spcPts val="0"/>
              </a:spcAft>
              <a:buNone/>
            </a:pPr>
            <a:fld id="{00000000-1234-1234-1234-123412341234}" type="slidenum">
              <a:rPr lang="en-US"/>
              <a:t>‹#›</a:t>
            </a:fld>
            <a:endParaRPr/>
          </a:p>
        </p:txBody>
      </p:sp>
      <p:cxnSp>
        <p:nvCxnSpPr>
          <p:cNvPr id="180" name="Google Shape;180;p28"/>
          <p:cNvCxnSpPr/>
          <p:nvPr/>
        </p:nvCxnSpPr>
        <p:spPr>
          <a:xfrm>
            <a:off x="623392" y="844352"/>
            <a:ext cx="11568608" cy="0"/>
          </a:xfrm>
          <a:prstGeom prst="straightConnector1">
            <a:avLst/>
          </a:prstGeom>
          <a:noFill/>
          <a:ln cap="flat" cmpd="sng" w="12700">
            <a:solidFill>
              <a:schemeClr val="dk1"/>
            </a:solidFill>
            <a:prstDash val="solid"/>
            <a:miter lim="800000"/>
            <a:headEnd len="sm" w="sm" type="none"/>
            <a:tailEnd len="sm" w="sm" type="none"/>
          </a:ln>
        </p:spPr>
      </p:cxnSp>
      <p:sp>
        <p:nvSpPr>
          <p:cNvPr id="181" name="Google Shape;181;p28"/>
          <p:cNvSpPr txBox="1"/>
          <p:nvPr>
            <p:ph type="title"/>
          </p:nvPr>
        </p:nvSpPr>
        <p:spPr>
          <a:xfrm>
            <a:off x="623392" y="153908"/>
            <a:ext cx="10730408" cy="685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3.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1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99" name="Google Shape;99;p15"/>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00" name="Google Shape;100;p1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1" name="Google Shape;101;p1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 name="Google Shape;102;p1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98989"/>
                </a:solidFill>
                <a:latin typeface="Calibri"/>
                <a:ea typeface="Calibri"/>
                <a:cs typeface="Calibri"/>
                <a:sym typeface="Calibri"/>
              </a:defRPr>
            </a:lvl1pPr>
            <a:lvl2pPr indent="0" lvl="1" marL="0" marR="0" rtl="0" algn="r">
              <a:spcBef>
                <a:spcPts val="0"/>
              </a:spcBef>
              <a:buNone/>
              <a:defRPr sz="1200">
                <a:solidFill>
                  <a:srgbClr val="898989"/>
                </a:solidFill>
                <a:latin typeface="Calibri"/>
                <a:ea typeface="Calibri"/>
                <a:cs typeface="Calibri"/>
                <a:sym typeface="Calibri"/>
              </a:defRPr>
            </a:lvl2pPr>
            <a:lvl3pPr indent="0" lvl="2" marL="0" marR="0" rtl="0" algn="r">
              <a:spcBef>
                <a:spcPts val="0"/>
              </a:spcBef>
              <a:buNone/>
              <a:defRPr sz="1200">
                <a:solidFill>
                  <a:srgbClr val="898989"/>
                </a:solidFill>
                <a:latin typeface="Calibri"/>
                <a:ea typeface="Calibri"/>
                <a:cs typeface="Calibri"/>
                <a:sym typeface="Calibri"/>
              </a:defRPr>
            </a:lvl3pPr>
            <a:lvl4pPr indent="0" lvl="3" marL="0" marR="0" rtl="0" algn="r">
              <a:spcBef>
                <a:spcPts val="0"/>
              </a:spcBef>
              <a:buNone/>
              <a:defRPr sz="1200">
                <a:solidFill>
                  <a:srgbClr val="898989"/>
                </a:solidFill>
                <a:latin typeface="Calibri"/>
                <a:ea typeface="Calibri"/>
                <a:cs typeface="Calibri"/>
                <a:sym typeface="Calibri"/>
              </a:defRPr>
            </a:lvl4pPr>
            <a:lvl5pPr indent="0" lvl="4" marL="0" marR="0" rtl="0" algn="r">
              <a:spcBef>
                <a:spcPts val="0"/>
              </a:spcBef>
              <a:buNone/>
              <a:defRPr sz="1200">
                <a:solidFill>
                  <a:srgbClr val="898989"/>
                </a:solidFill>
                <a:latin typeface="Calibri"/>
                <a:ea typeface="Calibri"/>
                <a:cs typeface="Calibri"/>
                <a:sym typeface="Calibri"/>
              </a:defRPr>
            </a:lvl5pPr>
            <a:lvl6pPr indent="0" lvl="5" marL="0" marR="0" rtl="0" algn="r">
              <a:spcBef>
                <a:spcPts val="0"/>
              </a:spcBef>
              <a:buNone/>
              <a:defRPr sz="1200">
                <a:solidFill>
                  <a:srgbClr val="898989"/>
                </a:solidFill>
                <a:latin typeface="Calibri"/>
                <a:ea typeface="Calibri"/>
                <a:cs typeface="Calibri"/>
                <a:sym typeface="Calibri"/>
              </a:defRPr>
            </a:lvl6pPr>
            <a:lvl7pPr indent="0" lvl="6" marL="0" marR="0" rtl="0" algn="r">
              <a:spcBef>
                <a:spcPts val="0"/>
              </a:spcBef>
              <a:buNone/>
              <a:defRPr sz="1200">
                <a:solidFill>
                  <a:srgbClr val="898989"/>
                </a:solidFill>
                <a:latin typeface="Calibri"/>
                <a:ea typeface="Calibri"/>
                <a:cs typeface="Calibri"/>
                <a:sym typeface="Calibri"/>
              </a:defRPr>
            </a:lvl7pPr>
            <a:lvl8pPr indent="0" lvl="7" marL="0" marR="0" rtl="0" algn="r">
              <a:spcBef>
                <a:spcPts val="0"/>
              </a:spcBef>
              <a:buNone/>
              <a:defRPr sz="1200">
                <a:solidFill>
                  <a:srgbClr val="898989"/>
                </a:solidFill>
                <a:latin typeface="Calibri"/>
                <a:ea typeface="Calibri"/>
                <a:cs typeface="Calibri"/>
                <a:sym typeface="Calibri"/>
              </a:defRPr>
            </a:lvl8pPr>
            <a:lvl9pPr indent="0" lvl="8" marL="0" marR="0" rt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2.jpg"/><Relationship Id="rId4" Type="http://schemas.openxmlformats.org/officeDocument/2006/relationships/image" Target="../media/image3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1.jpg"/><Relationship Id="rId4" Type="http://schemas.openxmlformats.org/officeDocument/2006/relationships/image" Target="../media/image9.png"/><Relationship Id="rId5" Type="http://schemas.openxmlformats.org/officeDocument/2006/relationships/hyperlink" Target="https://www.nanocenter.umd.edu/aimlab/equipment/detail.php?id=sc144ef1db89bbfc"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13.png"/><Relationship Id="rId5" Type="http://schemas.openxmlformats.org/officeDocument/2006/relationships/image" Target="../media/image1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0.jpg"/><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33.png"/><Relationship Id="rId4" Type="http://schemas.openxmlformats.org/officeDocument/2006/relationships/image" Target="../media/image23.png"/><Relationship Id="rId5" Type="http://schemas.openxmlformats.org/officeDocument/2006/relationships/image" Target="../media/image27.png"/><Relationship Id="rId6"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26.jpg"/><Relationship Id="rId4" Type="http://schemas.openxmlformats.org/officeDocument/2006/relationships/image" Target="../media/image2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9.jpg"/><Relationship Id="rId4" Type="http://schemas.openxmlformats.org/officeDocument/2006/relationships/image" Target="../media/image21.jpg"/><Relationship Id="rId5" Type="http://schemas.openxmlformats.org/officeDocument/2006/relationships/image" Target="../media/image4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25.jpg"/><Relationship Id="rId4" Type="http://schemas.openxmlformats.org/officeDocument/2006/relationships/image" Target="../media/image30.jpg"/><Relationship Id="rId5" Type="http://schemas.openxmlformats.org/officeDocument/2006/relationships/image" Target="../media/image34.jpg"/><Relationship Id="rId6" Type="http://schemas.openxmlformats.org/officeDocument/2006/relationships/image" Target="../media/image32.jpg"/><Relationship Id="rId7"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51.jpg"/><Relationship Id="rId4" Type="http://schemas.openxmlformats.org/officeDocument/2006/relationships/image" Target="../media/image52.jpg"/><Relationship Id="rId5" Type="http://schemas.openxmlformats.org/officeDocument/2006/relationships/image" Target="../media/image41.jpg"/><Relationship Id="rId6" Type="http://schemas.openxmlformats.org/officeDocument/2006/relationships/image" Target="../media/image3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5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3.png"/><Relationship Id="rId4" Type="http://schemas.openxmlformats.org/officeDocument/2006/relationships/image" Target="../media/image23.png"/><Relationship Id="rId5" Type="http://schemas.openxmlformats.org/officeDocument/2006/relationships/image" Target="../media/image27.png"/><Relationship Id="rId6"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7.jpg"/><Relationship Id="rId4" Type="http://schemas.openxmlformats.org/officeDocument/2006/relationships/image" Target="../media/image38.jpg"/><Relationship Id="rId5" Type="http://schemas.openxmlformats.org/officeDocument/2006/relationships/image" Target="../media/image37.jpg"/><Relationship Id="rId6" Type="http://schemas.openxmlformats.org/officeDocument/2006/relationships/image" Target="../media/image42.jpg"/><Relationship Id="rId7" Type="http://schemas.openxmlformats.org/officeDocument/2006/relationships/image" Target="../media/image4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45.png"/><Relationship Id="rId4" Type="http://schemas.openxmlformats.org/officeDocument/2006/relationships/image" Target="../media/image44.png"/><Relationship Id="rId5" Type="http://schemas.openxmlformats.org/officeDocument/2006/relationships/image" Target="../media/image3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40.png"/><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4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9"/>
          <p:cNvSpPr txBox="1"/>
          <p:nvPr>
            <p:ph type="title"/>
          </p:nvPr>
        </p:nvSpPr>
        <p:spPr>
          <a:xfrm>
            <a:off x="1508758" y="2158991"/>
            <a:ext cx="8401775" cy="267494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C00000"/>
              </a:buClr>
              <a:buSzPct val="100000"/>
              <a:buFont typeface="Play"/>
              <a:buNone/>
            </a:pPr>
            <a:r>
              <a:rPr lang="en-US"/>
              <a:t>CITEAM Workshop 2026</a:t>
            </a:r>
            <a:br>
              <a:rPr lang="en-US"/>
            </a:br>
            <a:br>
              <a:rPr lang="en-US"/>
            </a:br>
            <a:r>
              <a:rPr lang="en-US"/>
              <a:t>Lourdes Salamanca-Riba</a:t>
            </a:r>
            <a:br>
              <a:rPr lang="en-US"/>
            </a:br>
            <a:br>
              <a:rPr lang="en-US"/>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0"/>
          <p:cNvSpPr txBox="1"/>
          <p:nvPr>
            <p:ph type="title"/>
          </p:nvPr>
        </p:nvSpPr>
        <p:spPr>
          <a:xfrm>
            <a:off x="1438805" y="60459"/>
            <a:ext cx="9588736" cy="5334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C00000"/>
              </a:buClr>
              <a:buSzPct val="100000"/>
              <a:buFont typeface="Play"/>
              <a:buNone/>
            </a:pPr>
            <a:r>
              <a:rPr lang="en-US"/>
              <a:t>Section 0.1.1 Introduction to TEM/STEM</a:t>
            </a:r>
            <a:endParaRPr/>
          </a:p>
        </p:txBody>
      </p:sp>
      <p:sp>
        <p:nvSpPr>
          <p:cNvPr id="192" name="Google Shape;192;p30"/>
          <p:cNvSpPr txBox="1"/>
          <p:nvPr>
            <p:ph idx="4294967295" type="sldNum"/>
          </p:nvPr>
        </p:nvSpPr>
        <p:spPr>
          <a:xfrm>
            <a:off x="9347200" y="6383338"/>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93" name="Google Shape;193;p30"/>
          <p:cNvPicPr preferRelativeResize="0"/>
          <p:nvPr/>
        </p:nvPicPr>
        <p:blipFill rotWithShape="1">
          <a:blip r:embed="rId3">
            <a:alphaModFix/>
          </a:blip>
          <a:srcRect b="69332" l="53691" r="5390" t="4502"/>
          <a:stretch/>
        </p:blipFill>
        <p:spPr>
          <a:xfrm rot="-60000">
            <a:off x="2776889" y="846789"/>
            <a:ext cx="5430271" cy="4809852"/>
          </a:xfrm>
          <a:prstGeom prst="rect">
            <a:avLst/>
          </a:prstGeom>
          <a:noFill/>
          <a:ln>
            <a:noFill/>
          </a:ln>
        </p:spPr>
      </p:pic>
      <p:sp>
        <p:nvSpPr>
          <p:cNvPr id="194" name="Google Shape;194;p30"/>
          <p:cNvSpPr txBox="1"/>
          <p:nvPr/>
        </p:nvSpPr>
        <p:spPr>
          <a:xfrm>
            <a:off x="979336" y="5663741"/>
            <a:ext cx="102333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Transmission Electron Microscopy, A textbook for Materials Science, David B Williams and C Barry Carter, Springer, 2</a:t>
            </a:r>
            <a:r>
              <a:rPr baseline="30000" lang="en-US" sz="1400">
                <a:solidFill>
                  <a:schemeClr val="dk1"/>
                </a:solidFill>
                <a:latin typeface="Arial"/>
                <a:ea typeface="Arial"/>
                <a:cs typeface="Arial"/>
                <a:sym typeface="Arial"/>
              </a:rPr>
              <a:t>nd</a:t>
            </a:r>
            <a:r>
              <a:rPr lang="en-US" sz="1400">
                <a:solidFill>
                  <a:schemeClr val="dk1"/>
                </a:solidFill>
                <a:latin typeface="Arial"/>
                <a:ea typeface="Arial"/>
                <a:cs typeface="Arial"/>
                <a:sym typeface="Arial"/>
              </a:rPr>
              <a:t> edition 2009</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Evolution of  TEMs</a:t>
            </a:r>
            <a:endParaRPr/>
          </a:p>
        </p:txBody>
      </p:sp>
      <p:grpSp>
        <p:nvGrpSpPr>
          <p:cNvPr id="200" name="Google Shape;200;p31"/>
          <p:cNvGrpSpPr/>
          <p:nvPr/>
        </p:nvGrpSpPr>
        <p:grpSpPr>
          <a:xfrm>
            <a:off x="1383561" y="832790"/>
            <a:ext cx="8681371" cy="5620280"/>
            <a:chOff x="152399" y="1039524"/>
            <a:chExt cx="8681371" cy="5620280"/>
          </a:xfrm>
        </p:grpSpPr>
        <p:pic>
          <p:nvPicPr>
            <p:cNvPr id="201" name="Google Shape;201;p31"/>
            <p:cNvPicPr preferRelativeResize="0"/>
            <p:nvPr/>
          </p:nvPicPr>
          <p:blipFill rotWithShape="1">
            <a:blip r:embed="rId3">
              <a:alphaModFix/>
            </a:blip>
            <a:srcRect b="7208" l="2704" r="9160" t="3999"/>
            <a:stretch/>
          </p:blipFill>
          <p:spPr>
            <a:xfrm rot="-120000">
              <a:off x="246938" y="1106464"/>
              <a:ext cx="3931920" cy="5486400"/>
            </a:xfrm>
            <a:prstGeom prst="rect">
              <a:avLst/>
            </a:prstGeom>
            <a:noFill/>
            <a:ln>
              <a:noFill/>
            </a:ln>
          </p:spPr>
        </p:pic>
        <p:pic>
          <p:nvPicPr>
            <p:cNvPr id="202" name="Google Shape;202;p31"/>
            <p:cNvPicPr preferRelativeResize="0"/>
            <p:nvPr/>
          </p:nvPicPr>
          <p:blipFill rotWithShape="1">
            <a:blip r:embed="rId4">
              <a:alphaModFix/>
            </a:blip>
            <a:srcRect b="36000" l="6600" r="6600" t="1334"/>
            <a:stretch/>
          </p:blipFill>
          <p:spPr>
            <a:xfrm>
              <a:off x="4536090" y="1107507"/>
              <a:ext cx="4297680" cy="4297680"/>
            </a:xfrm>
            <a:prstGeom prst="rect">
              <a:avLst/>
            </a:prstGeom>
            <a:noFill/>
            <a:ln>
              <a:noFill/>
            </a:ln>
          </p:spPr>
        </p:pic>
      </p:grpSp>
      <p:sp>
        <p:nvSpPr>
          <p:cNvPr id="203" name="Google Shape;203;p31"/>
          <p:cNvSpPr txBox="1"/>
          <p:nvPr/>
        </p:nvSpPr>
        <p:spPr>
          <a:xfrm>
            <a:off x="812359" y="6397822"/>
            <a:ext cx="102333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Transmission Electron Microscopy, A textbook for Materials Science, David B Williams and C Barry Carter, Springer, 2</a:t>
            </a:r>
            <a:r>
              <a:rPr baseline="30000" lang="en-US" sz="1400">
                <a:solidFill>
                  <a:schemeClr val="dk1"/>
                </a:solidFill>
                <a:latin typeface="Calibri"/>
                <a:ea typeface="Calibri"/>
                <a:cs typeface="Calibri"/>
                <a:sym typeface="Calibri"/>
              </a:rPr>
              <a:t>nd</a:t>
            </a:r>
            <a:r>
              <a:rPr lang="en-US" sz="1400">
                <a:solidFill>
                  <a:schemeClr val="dk1"/>
                </a:solidFill>
                <a:latin typeface="Calibri"/>
                <a:ea typeface="Calibri"/>
                <a:cs typeface="Calibri"/>
                <a:sym typeface="Calibri"/>
              </a:rPr>
              <a:t> edition 2009</a:t>
            </a:r>
            <a:endParaRPr/>
          </a:p>
        </p:txBody>
      </p:sp>
      <p:sp>
        <p:nvSpPr>
          <p:cNvPr id="204" name="Google Shape;204;p31"/>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2"/>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Cross section of the JEOL 2100F  TEM</a:t>
            </a:r>
            <a:endParaRPr/>
          </a:p>
        </p:txBody>
      </p:sp>
      <p:grpSp>
        <p:nvGrpSpPr>
          <p:cNvPr id="211" name="Google Shape;211;p32"/>
          <p:cNvGrpSpPr/>
          <p:nvPr/>
        </p:nvGrpSpPr>
        <p:grpSpPr>
          <a:xfrm>
            <a:off x="6524182" y="953155"/>
            <a:ext cx="5104209" cy="5229225"/>
            <a:chOff x="540" y="1878"/>
            <a:chExt cx="11520" cy="11802"/>
          </a:xfrm>
        </p:grpSpPr>
        <p:pic>
          <p:nvPicPr>
            <p:cNvPr descr="microscope001" id="212" name="Google Shape;212;p32"/>
            <p:cNvPicPr preferRelativeResize="0"/>
            <p:nvPr/>
          </p:nvPicPr>
          <p:blipFill rotWithShape="1">
            <a:blip r:embed="rId3">
              <a:alphaModFix/>
            </a:blip>
            <a:srcRect b="0" l="0" r="0" t="0"/>
            <a:stretch/>
          </p:blipFill>
          <p:spPr>
            <a:xfrm>
              <a:off x="1080" y="1878"/>
              <a:ext cx="10052" cy="11802"/>
            </a:xfrm>
            <a:prstGeom prst="rect">
              <a:avLst/>
            </a:prstGeom>
            <a:noFill/>
            <a:ln>
              <a:noFill/>
            </a:ln>
          </p:spPr>
        </p:pic>
        <p:sp>
          <p:nvSpPr>
            <p:cNvPr id="213" name="Google Shape;213;p32"/>
            <p:cNvSpPr txBox="1"/>
            <p:nvPr/>
          </p:nvSpPr>
          <p:spPr>
            <a:xfrm>
              <a:off x="10800" y="4245"/>
              <a:ext cx="1080" cy="9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GUN 1</a:t>
              </a:r>
              <a:endParaRPr/>
            </a:p>
            <a:p>
              <a:pPr indent="0" lvl="0" marL="0" marR="0" rtl="0" algn="l">
                <a:spcBef>
                  <a:spcPts val="0"/>
                </a:spcBef>
                <a:spcAft>
                  <a:spcPts val="0"/>
                </a:spcAft>
                <a:buNone/>
              </a:pPr>
              <a:r>
                <a:rPr b="1" lang="en-US" sz="675">
                  <a:solidFill>
                    <a:schemeClr val="dk1"/>
                  </a:solidFill>
                  <a:latin typeface="Arial"/>
                  <a:ea typeface="Arial"/>
                  <a:cs typeface="Arial"/>
                  <a:sym typeface="Arial"/>
                </a:rPr>
                <a:t>GUN 2</a:t>
              </a:r>
              <a:endParaRPr sz="1350">
                <a:solidFill>
                  <a:schemeClr val="dk1"/>
                </a:solidFill>
                <a:latin typeface="Arial"/>
                <a:ea typeface="Arial"/>
                <a:cs typeface="Arial"/>
                <a:sym typeface="Arial"/>
              </a:endParaRPr>
            </a:p>
          </p:txBody>
        </p:sp>
        <p:sp>
          <p:nvSpPr>
            <p:cNvPr id="214" name="Google Shape;214;p32"/>
            <p:cNvSpPr txBox="1"/>
            <p:nvPr/>
          </p:nvSpPr>
          <p:spPr>
            <a:xfrm>
              <a:off x="870" y="7695"/>
              <a:ext cx="1080" cy="40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OL1</a:t>
              </a:r>
              <a:endParaRPr sz="1350">
                <a:solidFill>
                  <a:schemeClr val="dk1"/>
                </a:solidFill>
                <a:latin typeface="Arial"/>
                <a:ea typeface="Arial"/>
                <a:cs typeface="Arial"/>
                <a:sym typeface="Arial"/>
              </a:endParaRPr>
            </a:p>
          </p:txBody>
        </p:sp>
        <p:sp>
          <p:nvSpPr>
            <p:cNvPr id="215" name="Google Shape;215;p32"/>
            <p:cNvSpPr txBox="1"/>
            <p:nvPr/>
          </p:nvSpPr>
          <p:spPr>
            <a:xfrm>
              <a:off x="900" y="5370"/>
              <a:ext cx="1080" cy="5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CL1~3</a:t>
              </a:r>
              <a:endParaRPr sz="1350">
                <a:solidFill>
                  <a:schemeClr val="dk1"/>
                </a:solidFill>
                <a:latin typeface="Arial"/>
                <a:ea typeface="Arial"/>
                <a:cs typeface="Arial"/>
                <a:sym typeface="Arial"/>
              </a:endParaRPr>
            </a:p>
          </p:txBody>
        </p:sp>
        <p:sp>
          <p:nvSpPr>
            <p:cNvPr id="216" name="Google Shape;216;p32"/>
            <p:cNvSpPr txBox="1"/>
            <p:nvPr/>
          </p:nvSpPr>
          <p:spPr>
            <a:xfrm>
              <a:off x="10980" y="5430"/>
              <a:ext cx="1080" cy="5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CLS</a:t>
              </a:r>
              <a:endParaRPr sz="1350">
                <a:solidFill>
                  <a:schemeClr val="dk1"/>
                </a:solidFill>
                <a:latin typeface="Arial"/>
                <a:ea typeface="Arial"/>
                <a:cs typeface="Arial"/>
                <a:sym typeface="Arial"/>
              </a:endParaRPr>
            </a:p>
          </p:txBody>
        </p:sp>
        <p:sp>
          <p:nvSpPr>
            <p:cNvPr id="217" name="Google Shape;217;p32"/>
            <p:cNvSpPr txBox="1"/>
            <p:nvPr/>
          </p:nvSpPr>
          <p:spPr>
            <a:xfrm>
              <a:off x="10980" y="5865"/>
              <a:ext cx="1080" cy="5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CLA1</a:t>
              </a:r>
              <a:endParaRPr sz="1350">
                <a:solidFill>
                  <a:schemeClr val="dk1"/>
                </a:solidFill>
                <a:latin typeface="Arial"/>
                <a:ea typeface="Arial"/>
                <a:cs typeface="Arial"/>
                <a:sym typeface="Arial"/>
              </a:endParaRPr>
            </a:p>
          </p:txBody>
        </p:sp>
        <p:sp>
          <p:nvSpPr>
            <p:cNvPr id="218" name="Google Shape;218;p32"/>
            <p:cNvSpPr txBox="1"/>
            <p:nvPr/>
          </p:nvSpPr>
          <p:spPr>
            <a:xfrm>
              <a:off x="10440" y="7020"/>
              <a:ext cx="1080" cy="5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OBS</a:t>
              </a:r>
              <a:endParaRPr sz="1350">
                <a:solidFill>
                  <a:schemeClr val="dk1"/>
                </a:solidFill>
                <a:latin typeface="Arial"/>
                <a:ea typeface="Arial"/>
                <a:cs typeface="Arial"/>
                <a:sym typeface="Arial"/>
              </a:endParaRPr>
            </a:p>
          </p:txBody>
        </p:sp>
        <p:sp>
          <p:nvSpPr>
            <p:cNvPr id="219" name="Google Shape;219;p32"/>
            <p:cNvSpPr txBox="1"/>
            <p:nvPr/>
          </p:nvSpPr>
          <p:spPr>
            <a:xfrm>
              <a:off x="7800" y="4245"/>
              <a:ext cx="3180" cy="5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750">
                  <a:solidFill>
                    <a:schemeClr val="dk1"/>
                  </a:solidFill>
                  <a:latin typeface="Arial"/>
                  <a:ea typeface="Arial"/>
                  <a:cs typeface="Arial"/>
                  <a:sym typeface="Arial"/>
                </a:rPr>
                <a:t>Electron gun 1</a:t>
              </a:r>
              <a:r>
                <a:rPr baseline="30000" lang="en-US" sz="750">
                  <a:solidFill>
                    <a:schemeClr val="dk1"/>
                  </a:solidFill>
                  <a:latin typeface="Arial"/>
                  <a:ea typeface="Arial"/>
                  <a:cs typeface="Arial"/>
                  <a:sym typeface="Arial"/>
                </a:rPr>
                <a:t>st</a:t>
              </a:r>
              <a:r>
                <a:rPr lang="en-US" sz="750">
                  <a:solidFill>
                    <a:schemeClr val="dk1"/>
                  </a:solidFill>
                  <a:latin typeface="Arial"/>
                  <a:ea typeface="Arial"/>
                  <a:cs typeface="Arial"/>
                  <a:sym typeface="Arial"/>
                </a:rPr>
                <a:t> beam deflector</a:t>
              </a:r>
              <a:endParaRPr sz="1350">
                <a:solidFill>
                  <a:schemeClr val="dk1"/>
                </a:solidFill>
                <a:latin typeface="Arial"/>
                <a:ea typeface="Arial"/>
                <a:cs typeface="Arial"/>
                <a:sym typeface="Arial"/>
              </a:endParaRPr>
            </a:p>
          </p:txBody>
        </p:sp>
        <p:cxnSp>
          <p:nvCxnSpPr>
            <p:cNvPr id="220" name="Google Shape;220;p32"/>
            <p:cNvCxnSpPr/>
            <p:nvPr/>
          </p:nvCxnSpPr>
          <p:spPr>
            <a:xfrm flipH="1" rot="10800000">
              <a:off x="6120" y="4500"/>
              <a:ext cx="1800" cy="180"/>
            </a:xfrm>
            <a:prstGeom prst="straightConnector1">
              <a:avLst/>
            </a:prstGeom>
            <a:noFill/>
            <a:ln cap="flat" cmpd="sng" w="9525">
              <a:solidFill>
                <a:srgbClr val="000000"/>
              </a:solidFill>
              <a:prstDash val="solid"/>
              <a:round/>
              <a:headEnd len="med" w="med" type="oval"/>
              <a:tailEnd len="med" w="med" type="none"/>
            </a:ln>
          </p:spPr>
        </p:cxnSp>
        <p:sp>
          <p:nvSpPr>
            <p:cNvPr id="221" name="Google Shape;221;p32"/>
            <p:cNvSpPr txBox="1"/>
            <p:nvPr/>
          </p:nvSpPr>
          <p:spPr>
            <a:xfrm>
              <a:off x="10980" y="6525"/>
              <a:ext cx="1080" cy="5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CLA2</a:t>
              </a:r>
              <a:endParaRPr sz="1350">
                <a:solidFill>
                  <a:schemeClr val="dk1"/>
                </a:solidFill>
                <a:latin typeface="Arial"/>
                <a:ea typeface="Arial"/>
                <a:cs typeface="Arial"/>
                <a:sym typeface="Arial"/>
              </a:endParaRPr>
            </a:p>
          </p:txBody>
        </p:sp>
        <p:sp>
          <p:nvSpPr>
            <p:cNvPr id="222" name="Google Shape;222;p32"/>
            <p:cNvSpPr txBox="1"/>
            <p:nvPr/>
          </p:nvSpPr>
          <p:spPr>
            <a:xfrm>
              <a:off x="10440" y="8160"/>
              <a:ext cx="1080" cy="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IS1</a:t>
              </a:r>
              <a:endParaRPr/>
            </a:p>
            <a:p>
              <a:pPr indent="0" lvl="0" marL="0" marR="0" rtl="0" algn="l">
                <a:spcBef>
                  <a:spcPts val="0"/>
                </a:spcBef>
                <a:spcAft>
                  <a:spcPts val="0"/>
                </a:spcAft>
                <a:buNone/>
              </a:pPr>
              <a:r>
                <a:rPr b="1" lang="en-US" sz="675">
                  <a:solidFill>
                    <a:schemeClr val="dk1"/>
                  </a:solidFill>
                  <a:latin typeface="Arial"/>
                  <a:ea typeface="Arial"/>
                  <a:cs typeface="Arial"/>
                  <a:sym typeface="Arial"/>
                </a:rPr>
                <a:t>IS2</a:t>
              </a:r>
              <a:endParaRPr sz="1350">
                <a:solidFill>
                  <a:schemeClr val="dk1"/>
                </a:solidFill>
                <a:latin typeface="Arial"/>
                <a:ea typeface="Arial"/>
                <a:cs typeface="Arial"/>
                <a:sym typeface="Arial"/>
              </a:endParaRPr>
            </a:p>
          </p:txBody>
        </p:sp>
        <p:sp>
          <p:nvSpPr>
            <p:cNvPr id="223" name="Google Shape;223;p32"/>
            <p:cNvSpPr txBox="1"/>
            <p:nvPr/>
          </p:nvSpPr>
          <p:spPr>
            <a:xfrm>
              <a:off x="10440" y="9240"/>
              <a:ext cx="1080" cy="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IL1~3</a:t>
              </a:r>
              <a:endParaRPr sz="1350">
                <a:solidFill>
                  <a:schemeClr val="dk1"/>
                </a:solidFill>
                <a:latin typeface="Arial"/>
                <a:ea typeface="Arial"/>
                <a:cs typeface="Arial"/>
                <a:sym typeface="Arial"/>
              </a:endParaRPr>
            </a:p>
          </p:txBody>
        </p:sp>
        <p:sp>
          <p:nvSpPr>
            <p:cNvPr id="224" name="Google Shape;224;p32"/>
            <p:cNvSpPr txBox="1"/>
            <p:nvPr/>
          </p:nvSpPr>
          <p:spPr>
            <a:xfrm>
              <a:off x="540" y="8835"/>
              <a:ext cx="1080" cy="5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PLA</a:t>
              </a:r>
              <a:endParaRPr sz="1350">
                <a:solidFill>
                  <a:schemeClr val="dk1"/>
                </a:solidFill>
                <a:latin typeface="Arial"/>
                <a:ea typeface="Arial"/>
                <a:cs typeface="Arial"/>
                <a:sym typeface="Arial"/>
              </a:endParaRPr>
            </a:p>
          </p:txBody>
        </p:sp>
        <p:sp>
          <p:nvSpPr>
            <p:cNvPr id="225" name="Google Shape;225;p32"/>
            <p:cNvSpPr txBox="1"/>
            <p:nvPr/>
          </p:nvSpPr>
          <p:spPr>
            <a:xfrm>
              <a:off x="540" y="9180"/>
              <a:ext cx="1080" cy="5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PL</a:t>
              </a:r>
              <a:endParaRPr sz="1350">
                <a:solidFill>
                  <a:schemeClr val="dk1"/>
                </a:solidFill>
                <a:latin typeface="Arial"/>
                <a:ea typeface="Arial"/>
                <a:cs typeface="Arial"/>
                <a:sym typeface="Arial"/>
              </a:endParaRPr>
            </a:p>
          </p:txBody>
        </p:sp>
        <p:sp>
          <p:nvSpPr>
            <p:cNvPr id="226" name="Google Shape;226;p32"/>
            <p:cNvSpPr txBox="1"/>
            <p:nvPr/>
          </p:nvSpPr>
          <p:spPr>
            <a:xfrm>
              <a:off x="10440" y="7635"/>
              <a:ext cx="1080" cy="5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OM</a:t>
              </a:r>
              <a:endParaRPr sz="1350">
                <a:solidFill>
                  <a:schemeClr val="dk1"/>
                </a:solidFill>
                <a:latin typeface="Arial"/>
                <a:ea typeface="Arial"/>
                <a:cs typeface="Arial"/>
                <a:sym typeface="Arial"/>
              </a:endParaRPr>
            </a:p>
          </p:txBody>
        </p:sp>
        <p:sp>
          <p:nvSpPr>
            <p:cNvPr id="227" name="Google Shape;227;p32"/>
            <p:cNvSpPr txBox="1"/>
            <p:nvPr/>
          </p:nvSpPr>
          <p:spPr>
            <a:xfrm>
              <a:off x="9360" y="5040"/>
              <a:ext cx="1080" cy="5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Spot</a:t>
              </a:r>
              <a:endParaRPr sz="1350">
                <a:solidFill>
                  <a:schemeClr val="dk1"/>
                </a:solidFill>
                <a:latin typeface="Arial"/>
                <a:ea typeface="Arial"/>
                <a:cs typeface="Arial"/>
                <a:sym typeface="Arial"/>
              </a:endParaRPr>
            </a:p>
          </p:txBody>
        </p:sp>
        <p:sp>
          <p:nvSpPr>
            <p:cNvPr id="228" name="Google Shape;228;p32"/>
            <p:cNvSpPr txBox="1"/>
            <p:nvPr/>
          </p:nvSpPr>
          <p:spPr>
            <a:xfrm>
              <a:off x="870" y="6300"/>
              <a:ext cx="1080" cy="40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CM</a:t>
              </a:r>
              <a:endParaRPr sz="1350">
                <a:solidFill>
                  <a:schemeClr val="dk1"/>
                </a:solidFill>
                <a:latin typeface="Arial"/>
                <a:ea typeface="Arial"/>
                <a:cs typeface="Arial"/>
                <a:sym typeface="Arial"/>
              </a:endParaRPr>
            </a:p>
          </p:txBody>
        </p:sp>
        <p:cxnSp>
          <p:nvCxnSpPr>
            <p:cNvPr id="229" name="Google Shape;229;p32"/>
            <p:cNvCxnSpPr/>
            <p:nvPr/>
          </p:nvCxnSpPr>
          <p:spPr>
            <a:xfrm flipH="1" rot="10800000">
              <a:off x="6120" y="4530"/>
              <a:ext cx="1440" cy="720"/>
            </a:xfrm>
            <a:prstGeom prst="straightConnector1">
              <a:avLst/>
            </a:prstGeom>
            <a:noFill/>
            <a:ln cap="flat" cmpd="sng" w="9525">
              <a:solidFill>
                <a:srgbClr val="000000"/>
              </a:solidFill>
              <a:prstDash val="solid"/>
              <a:round/>
              <a:headEnd len="med" w="med" type="oval"/>
              <a:tailEnd len="med" w="med" type="none"/>
            </a:ln>
          </p:spPr>
        </p:cxnSp>
        <p:cxnSp>
          <p:nvCxnSpPr>
            <p:cNvPr id="230" name="Google Shape;230;p32"/>
            <p:cNvCxnSpPr/>
            <p:nvPr/>
          </p:nvCxnSpPr>
          <p:spPr>
            <a:xfrm>
              <a:off x="6045" y="8685"/>
              <a:ext cx="1755" cy="510"/>
            </a:xfrm>
            <a:prstGeom prst="straightConnector1">
              <a:avLst/>
            </a:prstGeom>
            <a:noFill/>
            <a:ln cap="flat" cmpd="sng" w="9525">
              <a:solidFill>
                <a:srgbClr val="000000"/>
              </a:solidFill>
              <a:prstDash val="solid"/>
              <a:round/>
              <a:headEnd len="med" w="med" type="oval"/>
              <a:tailEnd len="med" w="med" type="none"/>
            </a:ln>
          </p:spPr>
        </p:cxnSp>
        <p:sp>
          <p:nvSpPr>
            <p:cNvPr id="231" name="Google Shape;231;p32"/>
            <p:cNvSpPr txBox="1"/>
            <p:nvPr/>
          </p:nvSpPr>
          <p:spPr>
            <a:xfrm>
              <a:off x="7680" y="8940"/>
              <a:ext cx="3180" cy="5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750">
                  <a:solidFill>
                    <a:schemeClr val="dk1"/>
                  </a:solidFill>
                  <a:latin typeface="Arial"/>
                  <a:ea typeface="Arial"/>
                  <a:cs typeface="Arial"/>
                  <a:sym typeface="Arial"/>
                </a:rPr>
                <a:t>Intermediate lens stigmator</a:t>
              </a:r>
              <a:endParaRPr sz="1350">
                <a:solidFill>
                  <a:schemeClr val="dk1"/>
                </a:solidFill>
                <a:latin typeface="Arial"/>
                <a:ea typeface="Arial"/>
                <a:cs typeface="Arial"/>
                <a:sym typeface="Arial"/>
              </a:endParaRPr>
            </a:p>
          </p:txBody>
        </p:sp>
        <p:sp>
          <p:nvSpPr>
            <p:cNvPr id="232" name="Google Shape;232;p32"/>
            <p:cNvSpPr txBox="1"/>
            <p:nvPr/>
          </p:nvSpPr>
          <p:spPr>
            <a:xfrm>
              <a:off x="10440" y="8970"/>
              <a:ext cx="1080" cy="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ILS</a:t>
              </a:r>
              <a:endParaRPr sz="1350">
                <a:solidFill>
                  <a:schemeClr val="dk1"/>
                </a:solidFill>
                <a:latin typeface="Arial"/>
                <a:ea typeface="Arial"/>
                <a:cs typeface="Arial"/>
                <a:sym typeface="Arial"/>
              </a:endParaRPr>
            </a:p>
          </p:txBody>
        </p:sp>
      </p:grpSp>
      <p:pic>
        <p:nvPicPr>
          <p:cNvPr id="233" name="Google Shape;233;p32"/>
          <p:cNvPicPr preferRelativeResize="0"/>
          <p:nvPr/>
        </p:nvPicPr>
        <p:blipFill rotWithShape="1">
          <a:blip r:embed="rId4">
            <a:alphaModFix/>
          </a:blip>
          <a:srcRect b="0" l="0" r="33632" t="0"/>
          <a:stretch/>
        </p:blipFill>
        <p:spPr>
          <a:xfrm>
            <a:off x="702326" y="1003190"/>
            <a:ext cx="4814980" cy="4836628"/>
          </a:xfrm>
          <a:prstGeom prst="rect">
            <a:avLst/>
          </a:prstGeom>
          <a:noFill/>
          <a:ln>
            <a:noFill/>
          </a:ln>
        </p:spPr>
      </p:pic>
      <p:sp>
        <p:nvSpPr>
          <p:cNvPr id="234" name="Google Shape;234;p32"/>
          <p:cNvSpPr txBox="1"/>
          <p:nvPr/>
        </p:nvSpPr>
        <p:spPr>
          <a:xfrm>
            <a:off x="360826" y="6182380"/>
            <a:ext cx="609719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u="sng">
                <a:solidFill>
                  <a:schemeClr val="hlink"/>
                </a:solidFill>
                <a:latin typeface="Calibri"/>
                <a:ea typeface="Calibri"/>
                <a:cs typeface="Calibri"/>
                <a:sym typeface="Calibri"/>
                <a:hlinkClick r:id="rId5"/>
              </a:rPr>
              <a:t>https://www.nanocenter.umd.edu/aimlab/equipment/detail.php?id=sc144ef1db89bbfc</a:t>
            </a:r>
            <a:r>
              <a:rPr lang="en-US" sz="1400">
                <a:solidFill>
                  <a:schemeClr val="dk1"/>
                </a:solidFill>
                <a:latin typeface="Calibri"/>
                <a:ea typeface="Calibri"/>
                <a:cs typeface="Calibri"/>
                <a:sym typeface="Calibri"/>
              </a:rPr>
              <a:t> </a:t>
            </a:r>
            <a:endParaRPr/>
          </a:p>
        </p:txBody>
      </p:sp>
      <p:sp>
        <p:nvSpPr>
          <p:cNvPr id="235" name="Google Shape;235;p32"/>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3"/>
          <p:cNvSpPr/>
          <p:nvPr/>
        </p:nvSpPr>
        <p:spPr>
          <a:xfrm>
            <a:off x="1147206" y="2129683"/>
            <a:ext cx="5833339" cy="3747420"/>
          </a:xfrm>
          <a:prstGeom prst="rect">
            <a:avLst/>
          </a:prstGeom>
          <a:noFill/>
          <a:ln>
            <a:noFill/>
          </a:ln>
        </p:spPr>
        <p:txBody>
          <a:bodyPr anchorCtr="0" anchor="ctr" bIns="26775" lIns="26775" spcFirstLastPara="1" rIns="26775" wrap="square" tIns="26775">
            <a:noAutofit/>
          </a:bodyPr>
          <a:lstStyle/>
          <a:p>
            <a:pPr indent="-342900" lvl="0" marL="342900" marR="0" rtl="0" algn="l">
              <a:lnSpc>
                <a:spcPct val="15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High Brightness Cold FEG</a:t>
            </a:r>
            <a:endParaRPr/>
          </a:p>
          <a:p>
            <a:pPr indent="-342900" lvl="0" marL="342900" marR="0" rtl="0" algn="l">
              <a:lnSpc>
                <a:spcPct val="15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30-200kV</a:t>
            </a:r>
            <a:endParaRPr sz="2000">
              <a:solidFill>
                <a:schemeClr val="dk1"/>
              </a:solidFill>
              <a:latin typeface="Calibri"/>
              <a:ea typeface="Calibri"/>
              <a:cs typeface="Calibri"/>
              <a:sym typeface="Calibri"/>
            </a:endParaRPr>
          </a:p>
          <a:p>
            <a:pPr indent="-342900" lvl="0" marL="342900" marR="0" rtl="0" algn="l">
              <a:lnSpc>
                <a:spcPct val="15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HR Pole Piece for maximum flexibility between analytical and resolution optimization</a:t>
            </a:r>
            <a:endParaRPr sz="2000">
              <a:solidFill>
                <a:schemeClr val="dk1"/>
              </a:solidFill>
              <a:latin typeface="Calibri"/>
              <a:ea typeface="Calibri"/>
              <a:cs typeface="Calibri"/>
              <a:sym typeface="Calibri"/>
            </a:endParaRPr>
          </a:p>
          <a:p>
            <a:pPr indent="-342900" lvl="0" marL="342900" marR="0" rtl="0" algn="l">
              <a:lnSpc>
                <a:spcPct val="15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IDES Technology integration</a:t>
            </a:r>
            <a:endParaRPr sz="2000">
              <a:solidFill>
                <a:schemeClr val="dk1"/>
              </a:solidFill>
              <a:latin typeface="Calibri"/>
              <a:ea typeface="Calibri"/>
              <a:cs typeface="Calibri"/>
              <a:sym typeface="Calibri"/>
            </a:endParaRPr>
          </a:p>
          <a:p>
            <a:pPr indent="-342900" lvl="0" marL="342900" marR="0" rtl="0" algn="l">
              <a:lnSpc>
                <a:spcPct val="15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Dual, large-area SDDs for efficient EDS collection</a:t>
            </a:r>
            <a:endParaRPr sz="2000">
              <a:solidFill>
                <a:schemeClr val="dk1"/>
              </a:solidFill>
              <a:latin typeface="Calibri"/>
              <a:ea typeface="Calibri"/>
              <a:cs typeface="Calibri"/>
              <a:sym typeface="Calibri"/>
            </a:endParaRPr>
          </a:p>
          <a:p>
            <a:pPr indent="-342900" lvl="0" marL="342900" marR="0" rtl="0" algn="l">
              <a:lnSpc>
                <a:spcPct val="15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Highly stable probe current</a:t>
            </a:r>
            <a:endParaRPr sz="2000">
              <a:solidFill>
                <a:schemeClr val="dk1"/>
              </a:solidFill>
              <a:latin typeface="Calibri"/>
              <a:ea typeface="Calibri"/>
              <a:cs typeface="Calibri"/>
              <a:sym typeface="Calibri"/>
            </a:endParaRPr>
          </a:p>
          <a:p>
            <a:pPr indent="-342900" lvl="0" marL="342900" marR="0" rtl="0" algn="l">
              <a:lnSpc>
                <a:spcPct val="15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COSMO Automated Corrector alignments</a:t>
            </a:r>
            <a:endParaRPr sz="2000">
              <a:solidFill>
                <a:schemeClr val="dk1"/>
              </a:solidFill>
              <a:latin typeface="Calibri"/>
              <a:ea typeface="Calibri"/>
              <a:cs typeface="Calibri"/>
              <a:sym typeface="Calibri"/>
            </a:endParaRPr>
          </a:p>
        </p:txBody>
      </p:sp>
      <p:sp>
        <p:nvSpPr>
          <p:cNvPr id="241" name="Google Shape;241;p33"/>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NEOARM Highlights</a:t>
            </a:r>
            <a:endParaRPr/>
          </a:p>
        </p:txBody>
      </p:sp>
      <p:pic>
        <p:nvPicPr>
          <p:cNvPr id="242" name="Google Shape;242;p33"/>
          <p:cNvPicPr preferRelativeResize="0"/>
          <p:nvPr/>
        </p:nvPicPr>
        <p:blipFill rotWithShape="1">
          <a:blip r:embed="rId3">
            <a:alphaModFix/>
          </a:blip>
          <a:srcRect b="0" l="0" r="0" t="0"/>
          <a:stretch/>
        </p:blipFill>
        <p:spPr>
          <a:xfrm>
            <a:off x="7413857" y="977445"/>
            <a:ext cx="3310444" cy="5524116"/>
          </a:xfrm>
          <a:prstGeom prst="rect">
            <a:avLst/>
          </a:prstGeom>
          <a:noFill/>
          <a:ln>
            <a:noFill/>
          </a:ln>
        </p:spPr>
      </p:pic>
      <p:sp>
        <p:nvSpPr>
          <p:cNvPr id="243" name="Google Shape;243;p33"/>
          <p:cNvSpPr txBox="1"/>
          <p:nvPr/>
        </p:nvSpPr>
        <p:spPr>
          <a:xfrm>
            <a:off x="1467699" y="1153192"/>
            <a:ext cx="53990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NEOARM 200 F Cs corrected TEM in the IDEA Factory</a:t>
            </a:r>
            <a:endParaRPr/>
          </a:p>
        </p:txBody>
      </p:sp>
      <p:sp>
        <p:nvSpPr>
          <p:cNvPr id="244" name="Google Shape;244;p33"/>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4"/>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Cross section of NEOARM Column</a:t>
            </a:r>
            <a:endParaRPr/>
          </a:p>
        </p:txBody>
      </p:sp>
      <p:pic>
        <p:nvPicPr>
          <p:cNvPr descr="Diagram of a machine with text" id="250" name="Google Shape;250;p34"/>
          <p:cNvPicPr preferRelativeResize="0"/>
          <p:nvPr/>
        </p:nvPicPr>
        <p:blipFill rotWithShape="1">
          <a:blip r:embed="rId3">
            <a:alphaModFix/>
          </a:blip>
          <a:srcRect b="0" l="0" r="0" t="0"/>
          <a:stretch/>
        </p:blipFill>
        <p:spPr>
          <a:xfrm>
            <a:off x="3995324" y="1059629"/>
            <a:ext cx="3535079" cy="5386319"/>
          </a:xfrm>
          <a:prstGeom prst="rect">
            <a:avLst/>
          </a:prstGeom>
          <a:noFill/>
          <a:ln>
            <a:noFill/>
          </a:ln>
        </p:spPr>
      </p:pic>
      <p:pic>
        <p:nvPicPr>
          <p:cNvPr id="251" name="Google Shape;251;p34"/>
          <p:cNvPicPr preferRelativeResize="0"/>
          <p:nvPr/>
        </p:nvPicPr>
        <p:blipFill rotWithShape="1">
          <a:blip r:embed="rId4">
            <a:alphaModFix/>
          </a:blip>
          <a:srcRect b="0" l="0" r="0" t="0"/>
          <a:stretch/>
        </p:blipFill>
        <p:spPr>
          <a:xfrm>
            <a:off x="112612" y="1059629"/>
            <a:ext cx="3310444" cy="5524116"/>
          </a:xfrm>
          <a:prstGeom prst="rect">
            <a:avLst/>
          </a:prstGeom>
          <a:noFill/>
          <a:ln>
            <a:noFill/>
          </a:ln>
        </p:spPr>
      </p:pic>
      <p:grpSp>
        <p:nvGrpSpPr>
          <p:cNvPr id="252" name="Google Shape;252;p34"/>
          <p:cNvGrpSpPr/>
          <p:nvPr/>
        </p:nvGrpSpPr>
        <p:grpSpPr>
          <a:xfrm>
            <a:off x="8147550" y="959548"/>
            <a:ext cx="3524250" cy="5486400"/>
            <a:chOff x="8102672" y="735840"/>
            <a:chExt cx="3524250" cy="5486400"/>
          </a:xfrm>
        </p:grpSpPr>
        <p:grpSp>
          <p:nvGrpSpPr>
            <p:cNvPr id="253" name="Google Shape;253;p34"/>
            <p:cNvGrpSpPr/>
            <p:nvPr/>
          </p:nvGrpSpPr>
          <p:grpSpPr>
            <a:xfrm>
              <a:off x="8102672" y="735840"/>
              <a:ext cx="3524250" cy="5486400"/>
              <a:chOff x="8158888" y="1101962"/>
              <a:chExt cx="3524250" cy="5486400"/>
            </a:xfrm>
          </p:grpSpPr>
          <p:pic>
            <p:nvPicPr>
              <p:cNvPr descr="A diagram of a plane" id="254" name="Google Shape;254;p34"/>
              <p:cNvPicPr preferRelativeResize="0"/>
              <p:nvPr/>
            </p:nvPicPr>
            <p:blipFill rotWithShape="1">
              <a:blip r:embed="rId5">
                <a:alphaModFix/>
              </a:blip>
              <a:srcRect b="0" l="0" r="0" t="0"/>
              <a:stretch/>
            </p:blipFill>
            <p:spPr>
              <a:xfrm>
                <a:off x="8158888" y="1101962"/>
                <a:ext cx="3524250" cy="5486400"/>
              </a:xfrm>
              <a:prstGeom prst="rect">
                <a:avLst/>
              </a:prstGeom>
              <a:noFill/>
              <a:ln>
                <a:noFill/>
              </a:ln>
            </p:spPr>
          </p:pic>
          <p:sp>
            <p:nvSpPr>
              <p:cNvPr id="255" name="Google Shape;255;p34"/>
              <p:cNvSpPr/>
              <p:nvPr/>
            </p:nvSpPr>
            <p:spPr>
              <a:xfrm>
                <a:off x="9037413" y="2513197"/>
                <a:ext cx="785375" cy="819033"/>
              </a:xfrm>
              <a:prstGeom prst="rect">
                <a:avLst/>
              </a:prstGeom>
              <a:noFill/>
              <a:ln cap="flat" cmpd="sng" w="25400">
                <a:solidFill>
                  <a:srgbClr val="FF0000"/>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56" name="Google Shape;256;p34"/>
            <p:cNvSpPr txBox="1"/>
            <p:nvPr/>
          </p:nvSpPr>
          <p:spPr>
            <a:xfrm>
              <a:off x="9833047" y="2456563"/>
              <a:ext cx="342900" cy="200055"/>
            </a:xfrm>
            <a:prstGeom prst="rect">
              <a:avLst/>
            </a:prstGeom>
            <a:solidFill>
              <a:schemeClr val="lt1"/>
            </a:solid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700">
                  <a:solidFill>
                    <a:srgbClr val="FF0000"/>
                  </a:solidFill>
                  <a:latin typeface="Calibri"/>
                  <a:ea typeface="Calibri"/>
                  <a:cs typeface="Calibri"/>
                  <a:sym typeface="Calibri"/>
                </a:rPr>
                <a:t>ASCOR</a:t>
              </a:r>
              <a:endParaRPr/>
            </a:p>
          </p:txBody>
        </p:sp>
      </p:grpSp>
      <p:sp>
        <p:nvSpPr>
          <p:cNvPr id="257" name="Google Shape;257;p34"/>
          <p:cNvSpPr txBox="1"/>
          <p:nvPr/>
        </p:nvSpPr>
        <p:spPr>
          <a:xfrm>
            <a:off x="6688909" y="6512000"/>
            <a:ext cx="145864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From JEOL</a:t>
            </a:r>
            <a:endParaRPr/>
          </a:p>
        </p:txBody>
      </p:sp>
      <p:sp>
        <p:nvSpPr>
          <p:cNvPr id="258" name="Google Shape;258;p34"/>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5"/>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Electron beam sample interaction </a:t>
            </a:r>
            <a:endParaRPr/>
          </a:p>
        </p:txBody>
      </p:sp>
      <p:pic>
        <p:nvPicPr>
          <p:cNvPr id="264" name="Google Shape;264;p35"/>
          <p:cNvPicPr preferRelativeResize="0"/>
          <p:nvPr/>
        </p:nvPicPr>
        <p:blipFill rotWithShape="1">
          <a:blip r:embed="rId3">
            <a:alphaModFix/>
          </a:blip>
          <a:srcRect b="0" l="0" r="0" t="0"/>
          <a:stretch/>
        </p:blipFill>
        <p:spPr>
          <a:xfrm>
            <a:off x="308830" y="1566616"/>
            <a:ext cx="4431504" cy="4073935"/>
          </a:xfrm>
          <a:prstGeom prst="rect">
            <a:avLst/>
          </a:prstGeom>
          <a:noFill/>
          <a:ln>
            <a:noFill/>
          </a:ln>
        </p:spPr>
      </p:pic>
      <p:grpSp>
        <p:nvGrpSpPr>
          <p:cNvPr id="265" name="Google Shape;265;p35"/>
          <p:cNvGrpSpPr/>
          <p:nvPr/>
        </p:nvGrpSpPr>
        <p:grpSpPr>
          <a:xfrm>
            <a:off x="4552881" y="1163943"/>
            <a:ext cx="7246209" cy="4172034"/>
            <a:chOff x="-95" y="563"/>
            <a:chExt cx="5896" cy="3388"/>
          </a:xfrm>
        </p:grpSpPr>
        <p:sp>
          <p:nvSpPr>
            <p:cNvPr id="266" name="Google Shape;266;p35"/>
            <p:cNvSpPr/>
            <p:nvPr/>
          </p:nvSpPr>
          <p:spPr>
            <a:xfrm>
              <a:off x="1682" y="2415"/>
              <a:ext cx="2316" cy="30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grpSp>
          <p:nvGrpSpPr>
            <p:cNvPr id="267" name="Google Shape;267;p35"/>
            <p:cNvGrpSpPr/>
            <p:nvPr/>
          </p:nvGrpSpPr>
          <p:grpSpPr>
            <a:xfrm>
              <a:off x="1638" y="1500"/>
              <a:ext cx="1092" cy="1174"/>
              <a:chOff x="1666" y="1666"/>
              <a:chExt cx="1222" cy="1293"/>
            </a:xfrm>
          </p:grpSpPr>
          <p:grpSp>
            <p:nvGrpSpPr>
              <p:cNvPr id="268" name="Google Shape;268;p35"/>
              <p:cNvGrpSpPr/>
              <p:nvPr/>
            </p:nvGrpSpPr>
            <p:grpSpPr>
              <a:xfrm>
                <a:off x="1747" y="1815"/>
                <a:ext cx="1141" cy="1144"/>
                <a:chOff x="424" y="1253"/>
                <a:chExt cx="1529" cy="1543"/>
              </a:xfrm>
            </p:grpSpPr>
            <p:grpSp>
              <p:nvGrpSpPr>
                <p:cNvPr id="269" name="Google Shape;269;p35"/>
                <p:cNvGrpSpPr/>
                <p:nvPr/>
              </p:nvGrpSpPr>
              <p:grpSpPr>
                <a:xfrm flipH="1" rot="-3017314">
                  <a:off x="1409" y="1903"/>
                  <a:ext cx="195" cy="998"/>
                  <a:chOff x="480" y="1200"/>
                  <a:chExt cx="336" cy="1958"/>
                </a:xfrm>
              </p:grpSpPr>
              <p:sp>
                <p:nvSpPr>
                  <p:cNvPr id="270" name="Google Shape;270;p35"/>
                  <p:cNvSpPr/>
                  <p:nvPr/>
                </p:nvSpPr>
                <p:spPr>
                  <a:xfrm flipH="1" rot="10800000">
                    <a:off x="624" y="2880"/>
                    <a:ext cx="192" cy="278"/>
                  </a:xfrm>
                  <a:custGeom>
                    <a:rect b="b" l="l" r="r" t="t"/>
                    <a:pathLst>
                      <a:path extrusionOk="0" fill="none" h="42944" w="21600">
                        <a:moveTo>
                          <a:pt x="1118" y="-1"/>
                        </a:moveTo>
                        <a:cubicBezTo>
                          <a:pt x="12597" y="594"/>
                          <a:pt x="21600" y="10076"/>
                          <a:pt x="21600" y="21571"/>
                        </a:cubicBezTo>
                        <a:cubicBezTo>
                          <a:pt x="21600" y="32293"/>
                          <a:pt x="13734" y="41392"/>
                          <a:pt x="3124" y="42943"/>
                        </a:cubicBezTo>
                      </a:path>
                      <a:path extrusionOk="0" h="42944" w="21600">
                        <a:moveTo>
                          <a:pt x="1118" y="-1"/>
                        </a:moveTo>
                        <a:cubicBezTo>
                          <a:pt x="12597" y="594"/>
                          <a:pt x="21600" y="10076"/>
                          <a:pt x="21600" y="21571"/>
                        </a:cubicBezTo>
                        <a:cubicBezTo>
                          <a:pt x="21600" y="32293"/>
                          <a:pt x="13734" y="41392"/>
                          <a:pt x="3124" y="42943"/>
                        </a:cubicBezTo>
                        <a:lnTo>
                          <a:pt x="0" y="21571"/>
                        </a:lnTo>
                        <a:lnTo>
                          <a:pt x="1118" y="-1"/>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35"/>
                  <p:cNvSpPr/>
                  <p:nvPr/>
                </p:nvSpPr>
                <p:spPr>
                  <a:xfrm rot="10800000">
                    <a:off x="480" y="2592"/>
                    <a:ext cx="192" cy="278"/>
                  </a:xfrm>
                  <a:custGeom>
                    <a:rect b="b" l="l" r="r" t="t"/>
                    <a:pathLst>
                      <a:path extrusionOk="0" fill="none" h="42944" w="21600">
                        <a:moveTo>
                          <a:pt x="1118" y="-1"/>
                        </a:moveTo>
                        <a:cubicBezTo>
                          <a:pt x="12597" y="594"/>
                          <a:pt x="21600" y="10076"/>
                          <a:pt x="21600" y="21571"/>
                        </a:cubicBezTo>
                        <a:cubicBezTo>
                          <a:pt x="21600" y="32293"/>
                          <a:pt x="13734" y="41392"/>
                          <a:pt x="3124" y="42943"/>
                        </a:cubicBezTo>
                      </a:path>
                      <a:path extrusionOk="0" h="42944" w="21600">
                        <a:moveTo>
                          <a:pt x="1118" y="-1"/>
                        </a:moveTo>
                        <a:cubicBezTo>
                          <a:pt x="12597" y="594"/>
                          <a:pt x="21600" y="10076"/>
                          <a:pt x="21600" y="21571"/>
                        </a:cubicBezTo>
                        <a:cubicBezTo>
                          <a:pt x="21600" y="32293"/>
                          <a:pt x="13734" y="41392"/>
                          <a:pt x="3124" y="42943"/>
                        </a:cubicBezTo>
                        <a:lnTo>
                          <a:pt x="0" y="21571"/>
                        </a:lnTo>
                        <a:lnTo>
                          <a:pt x="1118" y="-1"/>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2" name="Google Shape;272;p35"/>
                  <p:cNvSpPr/>
                  <p:nvPr/>
                </p:nvSpPr>
                <p:spPr>
                  <a:xfrm flipH="1" rot="10800000">
                    <a:off x="624" y="2304"/>
                    <a:ext cx="192" cy="278"/>
                  </a:xfrm>
                  <a:custGeom>
                    <a:rect b="b" l="l" r="r" t="t"/>
                    <a:pathLst>
                      <a:path extrusionOk="0" fill="none" h="42944" w="21600">
                        <a:moveTo>
                          <a:pt x="1118" y="-1"/>
                        </a:moveTo>
                        <a:cubicBezTo>
                          <a:pt x="12597" y="594"/>
                          <a:pt x="21600" y="10076"/>
                          <a:pt x="21600" y="21571"/>
                        </a:cubicBezTo>
                        <a:cubicBezTo>
                          <a:pt x="21600" y="32293"/>
                          <a:pt x="13734" y="41392"/>
                          <a:pt x="3124" y="42943"/>
                        </a:cubicBezTo>
                      </a:path>
                      <a:path extrusionOk="0" h="42944" w="21600">
                        <a:moveTo>
                          <a:pt x="1118" y="-1"/>
                        </a:moveTo>
                        <a:cubicBezTo>
                          <a:pt x="12597" y="594"/>
                          <a:pt x="21600" y="10076"/>
                          <a:pt x="21600" y="21571"/>
                        </a:cubicBezTo>
                        <a:cubicBezTo>
                          <a:pt x="21600" y="32293"/>
                          <a:pt x="13734" y="41392"/>
                          <a:pt x="3124" y="42943"/>
                        </a:cubicBezTo>
                        <a:lnTo>
                          <a:pt x="0" y="21571"/>
                        </a:lnTo>
                        <a:lnTo>
                          <a:pt x="1118" y="-1"/>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35"/>
                  <p:cNvSpPr/>
                  <p:nvPr/>
                </p:nvSpPr>
                <p:spPr>
                  <a:xfrm flipH="1" rot="10800000">
                    <a:off x="624" y="1200"/>
                    <a:ext cx="192" cy="278"/>
                  </a:xfrm>
                  <a:custGeom>
                    <a:rect b="b" l="l" r="r" t="t"/>
                    <a:pathLst>
                      <a:path extrusionOk="0" fill="none" h="42944" w="21600">
                        <a:moveTo>
                          <a:pt x="1118" y="-1"/>
                        </a:moveTo>
                        <a:cubicBezTo>
                          <a:pt x="12597" y="594"/>
                          <a:pt x="21600" y="10076"/>
                          <a:pt x="21600" y="21571"/>
                        </a:cubicBezTo>
                        <a:cubicBezTo>
                          <a:pt x="21600" y="32293"/>
                          <a:pt x="13734" y="41392"/>
                          <a:pt x="3124" y="42943"/>
                        </a:cubicBezTo>
                      </a:path>
                      <a:path extrusionOk="0" h="42944" w="21600">
                        <a:moveTo>
                          <a:pt x="1118" y="-1"/>
                        </a:moveTo>
                        <a:cubicBezTo>
                          <a:pt x="12597" y="594"/>
                          <a:pt x="21600" y="10076"/>
                          <a:pt x="21600" y="21571"/>
                        </a:cubicBezTo>
                        <a:cubicBezTo>
                          <a:pt x="21600" y="32293"/>
                          <a:pt x="13734" y="41392"/>
                          <a:pt x="3124" y="42943"/>
                        </a:cubicBezTo>
                        <a:lnTo>
                          <a:pt x="0" y="21571"/>
                        </a:lnTo>
                        <a:lnTo>
                          <a:pt x="1118" y="-1"/>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35"/>
                  <p:cNvSpPr/>
                  <p:nvPr/>
                </p:nvSpPr>
                <p:spPr>
                  <a:xfrm flipH="1" rot="10800000">
                    <a:off x="624" y="1776"/>
                    <a:ext cx="192" cy="278"/>
                  </a:xfrm>
                  <a:custGeom>
                    <a:rect b="b" l="l" r="r" t="t"/>
                    <a:pathLst>
                      <a:path extrusionOk="0" fill="none" h="42944" w="21600">
                        <a:moveTo>
                          <a:pt x="1118" y="-1"/>
                        </a:moveTo>
                        <a:cubicBezTo>
                          <a:pt x="12597" y="594"/>
                          <a:pt x="21600" y="10076"/>
                          <a:pt x="21600" y="21571"/>
                        </a:cubicBezTo>
                        <a:cubicBezTo>
                          <a:pt x="21600" y="32293"/>
                          <a:pt x="13734" y="41392"/>
                          <a:pt x="3124" y="42943"/>
                        </a:cubicBezTo>
                      </a:path>
                      <a:path extrusionOk="0" h="42944" w="21600">
                        <a:moveTo>
                          <a:pt x="1118" y="-1"/>
                        </a:moveTo>
                        <a:cubicBezTo>
                          <a:pt x="12597" y="594"/>
                          <a:pt x="21600" y="10076"/>
                          <a:pt x="21600" y="21571"/>
                        </a:cubicBezTo>
                        <a:cubicBezTo>
                          <a:pt x="21600" y="32293"/>
                          <a:pt x="13734" y="41392"/>
                          <a:pt x="3124" y="42943"/>
                        </a:cubicBezTo>
                        <a:lnTo>
                          <a:pt x="0" y="21571"/>
                        </a:lnTo>
                        <a:lnTo>
                          <a:pt x="1118" y="-1"/>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35"/>
                  <p:cNvSpPr/>
                  <p:nvPr/>
                </p:nvSpPr>
                <p:spPr>
                  <a:xfrm rot="10800000">
                    <a:off x="480" y="1488"/>
                    <a:ext cx="192" cy="278"/>
                  </a:xfrm>
                  <a:custGeom>
                    <a:rect b="b" l="l" r="r" t="t"/>
                    <a:pathLst>
                      <a:path extrusionOk="0" fill="none" h="42944" w="21600">
                        <a:moveTo>
                          <a:pt x="1118" y="-1"/>
                        </a:moveTo>
                        <a:cubicBezTo>
                          <a:pt x="12597" y="594"/>
                          <a:pt x="21600" y="10076"/>
                          <a:pt x="21600" y="21571"/>
                        </a:cubicBezTo>
                        <a:cubicBezTo>
                          <a:pt x="21600" y="32293"/>
                          <a:pt x="13734" y="41392"/>
                          <a:pt x="3124" y="42943"/>
                        </a:cubicBezTo>
                      </a:path>
                      <a:path extrusionOk="0" h="42944" w="21600">
                        <a:moveTo>
                          <a:pt x="1118" y="-1"/>
                        </a:moveTo>
                        <a:cubicBezTo>
                          <a:pt x="12597" y="594"/>
                          <a:pt x="21600" y="10076"/>
                          <a:pt x="21600" y="21571"/>
                        </a:cubicBezTo>
                        <a:cubicBezTo>
                          <a:pt x="21600" y="32293"/>
                          <a:pt x="13734" y="41392"/>
                          <a:pt x="3124" y="42943"/>
                        </a:cubicBezTo>
                        <a:lnTo>
                          <a:pt x="0" y="21571"/>
                        </a:lnTo>
                        <a:lnTo>
                          <a:pt x="1118" y="-1"/>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35"/>
                  <p:cNvSpPr/>
                  <p:nvPr/>
                </p:nvSpPr>
                <p:spPr>
                  <a:xfrm rot="10800000">
                    <a:off x="480" y="2064"/>
                    <a:ext cx="192" cy="230"/>
                  </a:xfrm>
                  <a:custGeom>
                    <a:rect b="b" l="l" r="r" t="t"/>
                    <a:pathLst>
                      <a:path extrusionOk="0" fill="none" h="42944" w="21600">
                        <a:moveTo>
                          <a:pt x="1118" y="-1"/>
                        </a:moveTo>
                        <a:cubicBezTo>
                          <a:pt x="12597" y="594"/>
                          <a:pt x="21600" y="10076"/>
                          <a:pt x="21600" y="21571"/>
                        </a:cubicBezTo>
                        <a:cubicBezTo>
                          <a:pt x="21600" y="32293"/>
                          <a:pt x="13734" y="41392"/>
                          <a:pt x="3124" y="42943"/>
                        </a:cubicBezTo>
                      </a:path>
                      <a:path extrusionOk="0" h="42944" w="21600">
                        <a:moveTo>
                          <a:pt x="1118" y="-1"/>
                        </a:moveTo>
                        <a:cubicBezTo>
                          <a:pt x="12597" y="594"/>
                          <a:pt x="21600" y="10076"/>
                          <a:pt x="21600" y="21571"/>
                        </a:cubicBezTo>
                        <a:cubicBezTo>
                          <a:pt x="21600" y="32293"/>
                          <a:pt x="13734" y="41392"/>
                          <a:pt x="3124" y="42943"/>
                        </a:cubicBezTo>
                        <a:lnTo>
                          <a:pt x="0" y="21571"/>
                        </a:lnTo>
                        <a:lnTo>
                          <a:pt x="1118" y="-1"/>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7" name="Google Shape;277;p35"/>
                <p:cNvGrpSpPr/>
                <p:nvPr/>
              </p:nvGrpSpPr>
              <p:grpSpPr>
                <a:xfrm rot="-2382686">
                  <a:off x="720" y="1200"/>
                  <a:ext cx="195" cy="998"/>
                  <a:chOff x="480" y="1200"/>
                  <a:chExt cx="336" cy="1958"/>
                </a:xfrm>
              </p:grpSpPr>
              <p:sp>
                <p:nvSpPr>
                  <p:cNvPr id="278" name="Google Shape;278;p35"/>
                  <p:cNvSpPr/>
                  <p:nvPr/>
                </p:nvSpPr>
                <p:spPr>
                  <a:xfrm flipH="1" rot="10800000">
                    <a:off x="624" y="2880"/>
                    <a:ext cx="192" cy="278"/>
                  </a:xfrm>
                  <a:custGeom>
                    <a:rect b="b" l="l" r="r" t="t"/>
                    <a:pathLst>
                      <a:path extrusionOk="0" fill="none" h="42944" w="21600">
                        <a:moveTo>
                          <a:pt x="1118" y="-1"/>
                        </a:moveTo>
                        <a:cubicBezTo>
                          <a:pt x="12597" y="594"/>
                          <a:pt x="21600" y="10076"/>
                          <a:pt x="21600" y="21571"/>
                        </a:cubicBezTo>
                        <a:cubicBezTo>
                          <a:pt x="21600" y="32293"/>
                          <a:pt x="13734" y="41392"/>
                          <a:pt x="3124" y="42943"/>
                        </a:cubicBezTo>
                      </a:path>
                      <a:path extrusionOk="0" h="42944" w="21600">
                        <a:moveTo>
                          <a:pt x="1118" y="-1"/>
                        </a:moveTo>
                        <a:cubicBezTo>
                          <a:pt x="12597" y="594"/>
                          <a:pt x="21600" y="10076"/>
                          <a:pt x="21600" y="21571"/>
                        </a:cubicBezTo>
                        <a:cubicBezTo>
                          <a:pt x="21600" y="32293"/>
                          <a:pt x="13734" y="41392"/>
                          <a:pt x="3124" y="42943"/>
                        </a:cubicBezTo>
                        <a:lnTo>
                          <a:pt x="0" y="21571"/>
                        </a:lnTo>
                        <a:lnTo>
                          <a:pt x="1118" y="-1"/>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35"/>
                  <p:cNvSpPr/>
                  <p:nvPr/>
                </p:nvSpPr>
                <p:spPr>
                  <a:xfrm rot="10800000">
                    <a:off x="480" y="2592"/>
                    <a:ext cx="192" cy="278"/>
                  </a:xfrm>
                  <a:custGeom>
                    <a:rect b="b" l="l" r="r" t="t"/>
                    <a:pathLst>
                      <a:path extrusionOk="0" fill="none" h="42944" w="21600">
                        <a:moveTo>
                          <a:pt x="1118" y="-1"/>
                        </a:moveTo>
                        <a:cubicBezTo>
                          <a:pt x="12597" y="594"/>
                          <a:pt x="21600" y="10076"/>
                          <a:pt x="21600" y="21571"/>
                        </a:cubicBezTo>
                        <a:cubicBezTo>
                          <a:pt x="21600" y="32293"/>
                          <a:pt x="13734" y="41392"/>
                          <a:pt x="3124" y="42943"/>
                        </a:cubicBezTo>
                      </a:path>
                      <a:path extrusionOk="0" h="42944" w="21600">
                        <a:moveTo>
                          <a:pt x="1118" y="-1"/>
                        </a:moveTo>
                        <a:cubicBezTo>
                          <a:pt x="12597" y="594"/>
                          <a:pt x="21600" y="10076"/>
                          <a:pt x="21600" y="21571"/>
                        </a:cubicBezTo>
                        <a:cubicBezTo>
                          <a:pt x="21600" y="32293"/>
                          <a:pt x="13734" y="41392"/>
                          <a:pt x="3124" y="42943"/>
                        </a:cubicBezTo>
                        <a:lnTo>
                          <a:pt x="0" y="21571"/>
                        </a:lnTo>
                        <a:lnTo>
                          <a:pt x="1118" y="-1"/>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35"/>
                  <p:cNvSpPr/>
                  <p:nvPr/>
                </p:nvSpPr>
                <p:spPr>
                  <a:xfrm flipH="1" rot="10800000">
                    <a:off x="624" y="2304"/>
                    <a:ext cx="192" cy="278"/>
                  </a:xfrm>
                  <a:custGeom>
                    <a:rect b="b" l="l" r="r" t="t"/>
                    <a:pathLst>
                      <a:path extrusionOk="0" fill="none" h="42944" w="21600">
                        <a:moveTo>
                          <a:pt x="1118" y="-1"/>
                        </a:moveTo>
                        <a:cubicBezTo>
                          <a:pt x="12597" y="594"/>
                          <a:pt x="21600" y="10076"/>
                          <a:pt x="21600" y="21571"/>
                        </a:cubicBezTo>
                        <a:cubicBezTo>
                          <a:pt x="21600" y="32293"/>
                          <a:pt x="13734" y="41392"/>
                          <a:pt x="3124" y="42943"/>
                        </a:cubicBezTo>
                      </a:path>
                      <a:path extrusionOk="0" h="42944" w="21600">
                        <a:moveTo>
                          <a:pt x="1118" y="-1"/>
                        </a:moveTo>
                        <a:cubicBezTo>
                          <a:pt x="12597" y="594"/>
                          <a:pt x="21600" y="10076"/>
                          <a:pt x="21600" y="21571"/>
                        </a:cubicBezTo>
                        <a:cubicBezTo>
                          <a:pt x="21600" y="32293"/>
                          <a:pt x="13734" y="41392"/>
                          <a:pt x="3124" y="42943"/>
                        </a:cubicBezTo>
                        <a:lnTo>
                          <a:pt x="0" y="21571"/>
                        </a:lnTo>
                        <a:lnTo>
                          <a:pt x="1118" y="-1"/>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35"/>
                  <p:cNvSpPr/>
                  <p:nvPr/>
                </p:nvSpPr>
                <p:spPr>
                  <a:xfrm flipH="1" rot="10800000">
                    <a:off x="624" y="1200"/>
                    <a:ext cx="192" cy="278"/>
                  </a:xfrm>
                  <a:custGeom>
                    <a:rect b="b" l="l" r="r" t="t"/>
                    <a:pathLst>
                      <a:path extrusionOk="0" fill="none" h="42944" w="21600">
                        <a:moveTo>
                          <a:pt x="1118" y="-1"/>
                        </a:moveTo>
                        <a:cubicBezTo>
                          <a:pt x="12597" y="594"/>
                          <a:pt x="21600" y="10076"/>
                          <a:pt x="21600" y="21571"/>
                        </a:cubicBezTo>
                        <a:cubicBezTo>
                          <a:pt x="21600" y="32293"/>
                          <a:pt x="13734" y="41392"/>
                          <a:pt x="3124" y="42943"/>
                        </a:cubicBezTo>
                      </a:path>
                      <a:path extrusionOk="0" h="42944" w="21600">
                        <a:moveTo>
                          <a:pt x="1118" y="-1"/>
                        </a:moveTo>
                        <a:cubicBezTo>
                          <a:pt x="12597" y="594"/>
                          <a:pt x="21600" y="10076"/>
                          <a:pt x="21600" y="21571"/>
                        </a:cubicBezTo>
                        <a:cubicBezTo>
                          <a:pt x="21600" y="32293"/>
                          <a:pt x="13734" y="41392"/>
                          <a:pt x="3124" y="42943"/>
                        </a:cubicBezTo>
                        <a:lnTo>
                          <a:pt x="0" y="21571"/>
                        </a:lnTo>
                        <a:lnTo>
                          <a:pt x="1118" y="-1"/>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35"/>
                  <p:cNvSpPr/>
                  <p:nvPr/>
                </p:nvSpPr>
                <p:spPr>
                  <a:xfrm flipH="1" rot="10800000">
                    <a:off x="624" y="1776"/>
                    <a:ext cx="192" cy="278"/>
                  </a:xfrm>
                  <a:custGeom>
                    <a:rect b="b" l="l" r="r" t="t"/>
                    <a:pathLst>
                      <a:path extrusionOk="0" fill="none" h="42944" w="21600">
                        <a:moveTo>
                          <a:pt x="1118" y="-1"/>
                        </a:moveTo>
                        <a:cubicBezTo>
                          <a:pt x="12597" y="594"/>
                          <a:pt x="21600" y="10076"/>
                          <a:pt x="21600" y="21571"/>
                        </a:cubicBezTo>
                        <a:cubicBezTo>
                          <a:pt x="21600" y="32293"/>
                          <a:pt x="13734" y="41392"/>
                          <a:pt x="3124" y="42943"/>
                        </a:cubicBezTo>
                      </a:path>
                      <a:path extrusionOk="0" h="42944" w="21600">
                        <a:moveTo>
                          <a:pt x="1118" y="-1"/>
                        </a:moveTo>
                        <a:cubicBezTo>
                          <a:pt x="12597" y="594"/>
                          <a:pt x="21600" y="10076"/>
                          <a:pt x="21600" y="21571"/>
                        </a:cubicBezTo>
                        <a:cubicBezTo>
                          <a:pt x="21600" y="32293"/>
                          <a:pt x="13734" y="41392"/>
                          <a:pt x="3124" y="42943"/>
                        </a:cubicBezTo>
                        <a:lnTo>
                          <a:pt x="0" y="21571"/>
                        </a:lnTo>
                        <a:lnTo>
                          <a:pt x="1118" y="-1"/>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35"/>
                  <p:cNvSpPr/>
                  <p:nvPr/>
                </p:nvSpPr>
                <p:spPr>
                  <a:xfrm rot="10800000">
                    <a:off x="480" y="1488"/>
                    <a:ext cx="192" cy="278"/>
                  </a:xfrm>
                  <a:custGeom>
                    <a:rect b="b" l="l" r="r" t="t"/>
                    <a:pathLst>
                      <a:path extrusionOk="0" fill="none" h="42944" w="21600">
                        <a:moveTo>
                          <a:pt x="1118" y="-1"/>
                        </a:moveTo>
                        <a:cubicBezTo>
                          <a:pt x="12597" y="594"/>
                          <a:pt x="21600" y="10076"/>
                          <a:pt x="21600" y="21571"/>
                        </a:cubicBezTo>
                        <a:cubicBezTo>
                          <a:pt x="21600" y="32293"/>
                          <a:pt x="13734" y="41392"/>
                          <a:pt x="3124" y="42943"/>
                        </a:cubicBezTo>
                      </a:path>
                      <a:path extrusionOk="0" h="42944" w="21600">
                        <a:moveTo>
                          <a:pt x="1118" y="-1"/>
                        </a:moveTo>
                        <a:cubicBezTo>
                          <a:pt x="12597" y="594"/>
                          <a:pt x="21600" y="10076"/>
                          <a:pt x="21600" y="21571"/>
                        </a:cubicBezTo>
                        <a:cubicBezTo>
                          <a:pt x="21600" y="32293"/>
                          <a:pt x="13734" y="41392"/>
                          <a:pt x="3124" y="42943"/>
                        </a:cubicBezTo>
                        <a:lnTo>
                          <a:pt x="0" y="21571"/>
                        </a:lnTo>
                        <a:lnTo>
                          <a:pt x="1118" y="-1"/>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35"/>
                  <p:cNvSpPr/>
                  <p:nvPr/>
                </p:nvSpPr>
                <p:spPr>
                  <a:xfrm rot="10800000">
                    <a:off x="480" y="2064"/>
                    <a:ext cx="192" cy="230"/>
                  </a:xfrm>
                  <a:custGeom>
                    <a:rect b="b" l="l" r="r" t="t"/>
                    <a:pathLst>
                      <a:path extrusionOk="0" fill="none" h="42944" w="21600">
                        <a:moveTo>
                          <a:pt x="1118" y="-1"/>
                        </a:moveTo>
                        <a:cubicBezTo>
                          <a:pt x="12597" y="594"/>
                          <a:pt x="21600" y="10076"/>
                          <a:pt x="21600" y="21571"/>
                        </a:cubicBezTo>
                        <a:cubicBezTo>
                          <a:pt x="21600" y="32293"/>
                          <a:pt x="13734" y="41392"/>
                          <a:pt x="3124" y="42943"/>
                        </a:cubicBezTo>
                      </a:path>
                      <a:path extrusionOk="0" h="42944" w="21600">
                        <a:moveTo>
                          <a:pt x="1118" y="-1"/>
                        </a:moveTo>
                        <a:cubicBezTo>
                          <a:pt x="12597" y="594"/>
                          <a:pt x="21600" y="10076"/>
                          <a:pt x="21600" y="21571"/>
                        </a:cubicBezTo>
                        <a:cubicBezTo>
                          <a:pt x="21600" y="32293"/>
                          <a:pt x="13734" y="41392"/>
                          <a:pt x="3124" y="42943"/>
                        </a:cubicBezTo>
                        <a:lnTo>
                          <a:pt x="0" y="21571"/>
                        </a:lnTo>
                        <a:lnTo>
                          <a:pt x="1118" y="-1"/>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cxnSp>
            <p:nvCxnSpPr>
              <p:cNvPr id="285" name="Google Shape;285;p35"/>
              <p:cNvCxnSpPr/>
              <p:nvPr/>
            </p:nvCxnSpPr>
            <p:spPr>
              <a:xfrm rot="10800000">
                <a:off x="1666" y="1666"/>
                <a:ext cx="144" cy="192"/>
              </a:xfrm>
              <a:prstGeom prst="straightConnector1">
                <a:avLst/>
              </a:prstGeom>
              <a:noFill/>
              <a:ln cap="flat" cmpd="sng" w="9525">
                <a:solidFill>
                  <a:schemeClr val="dk1"/>
                </a:solidFill>
                <a:prstDash val="solid"/>
                <a:round/>
                <a:headEnd len="med" w="med" type="none"/>
                <a:tailEnd len="med" w="med" type="triangle"/>
              </a:ln>
            </p:spPr>
          </p:cxnSp>
        </p:grpSp>
        <p:sp>
          <p:nvSpPr>
            <p:cNvPr id="286" name="Google Shape;286;p35"/>
            <p:cNvSpPr/>
            <p:nvPr/>
          </p:nvSpPr>
          <p:spPr>
            <a:xfrm>
              <a:off x="2540" y="890"/>
              <a:ext cx="297" cy="1525"/>
            </a:xfrm>
            <a:custGeom>
              <a:rect b="b" l="l" r="r" t="t"/>
              <a:pathLst>
                <a:path extrusionOk="0" h="21600" w="21600">
                  <a:moveTo>
                    <a:pt x="0" y="0"/>
                  </a:moveTo>
                  <a:lnTo>
                    <a:pt x="6566" y="21600"/>
                  </a:lnTo>
                  <a:lnTo>
                    <a:pt x="15034" y="21600"/>
                  </a:lnTo>
                  <a:lnTo>
                    <a:pt x="21600" y="0"/>
                  </a:lnTo>
                  <a:lnTo>
                    <a:pt x="0" y="0"/>
                  </a:lnTo>
                  <a:close/>
                </a:path>
              </a:pathLst>
            </a:cu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35"/>
            <p:cNvSpPr/>
            <p:nvPr/>
          </p:nvSpPr>
          <p:spPr>
            <a:xfrm>
              <a:off x="2532" y="2415"/>
              <a:ext cx="93" cy="305"/>
            </a:xfrm>
            <a:custGeom>
              <a:rect b="b" l="l" r="r" t="t"/>
              <a:pathLst>
                <a:path extrusionOk="0" h="337" w="104">
                  <a:moveTo>
                    <a:pt x="104" y="0"/>
                  </a:moveTo>
                  <a:cubicBezTo>
                    <a:pt x="100" y="24"/>
                    <a:pt x="89" y="102"/>
                    <a:pt x="81" y="147"/>
                  </a:cubicBezTo>
                  <a:cubicBezTo>
                    <a:pt x="73" y="192"/>
                    <a:pt x="68" y="237"/>
                    <a:pt x="54" y="269"/>
                  </a:cubicBezTo>
                  <a:cubicBezTo>
                    <a:pt x="40" y="301"/>
                    <a:pt x="11" y="323"/>
                    <a:pt x="0" y="337"/>
                  </a:cubicBez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35"/>
            <p:cNvSpPr/>
            <p:nvPr/>
          </p:nvSpPr>
          <p:spPr>
            <a:xfrm flipH="1">
              <a:off x="2754" y="2415"/>
              <a:ext cx="93" cy="305"/>
            </a:xfrm>
            <a:custGeom>
              <a:rect b="b" l="l" r="r" t="t"/>
              <a:pathLst>
                <a:path extrusionOk="0" h="337" w="104">
                  <a:moveTo>
                    <a:pt x="104" y="0"/>
                  </a:moveTo>
                  <a:cubicBezTo>
                    <a:pt x="100" y="24"/>
                    <a:pt x="89" y="102"/>
                    <a:pt x="81" y="147"/>
                  </a:cubicBezTo>
                  <a:cubicBezTo>
                    <a:pt x="73" y="192"/>
                    <a:pt x="68" y="237"/>
                    <a:pt x="54" y="269"/>
                  </a:cubicBezTo>
                  <a:cubicBezTo>
                    <a:pt x="40" y="301"/>
                    <a:pt x="11" y="323"/>
                    <a:pt x="0" y="337"/>
                  </a:cubicBez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89" name="Google Shape;289;p35"/>
            <p:cNvCxnSpPr/>
            <p:nvPr/>
          </p:nvCxnSpPr>
          <p:spPr>
            <a:xfrm rot="10800000">
              <a:off x="2067" y="1196"/>
              <a:ext cx="601" cy="1305"/>
            </a:xfrm>
            <a:prstGeom prst="straightConnector1">
              <a:avLst/>
            </a:prstGeom>
            <a:noFill/>
            <a:ln cap="flat" cmpd="sng" w="38100">
              <a:solidFill>
                <a:schemeClr val="dk1"/>
              </a:solidFill>
              <a:prstDash val="solid"/>
              <a:round/>
              <a:headEnd len="med" w="med" type="none"/>
              <a:tailEnd len="med" w="med" type="triangle"/>
            </a:ln>
          </p:spPr>
        </p:cxnSp>
        <p:cxnSp>
          <p:nvCxnSpPr>
            <p:cNvPr id="290" name="Google Shape;290;p35"/>
            <p:cNvCxnSpPr/>
            <p:nvPr/>
          </p:nvCxnSpPr>
          <p:spPr>
            <a:xfrm flipH="1" rot="10800000">
              <a:off x="2711" y="1196"/>
              <a:ext cx="601" cy="1262"/>
            </a:xfrm>
            <a:prstGeom prst="straightConnector1">
              <a:avLst/>
            </a:prstGeom>
            <a:noFill/>
            <a:ln cap="flat" cmpd="sng" w="38100">
              <a:solidFill>
                <a:schemeClr val="dk1"/>
              </a:solidFill>
              <a:prstDash val="solid"/>
              <a:round/>
              <a:headEnd len="med" w="med" type="none"/>
              <a:tailEnd len="med" w="med" type="triangle"/>
            </a:ln>
          </p:spPr>
        </p:cxnSp>
        <p:cxnSp>
          <p:nvCxnSpPr>
            <p:cNvPr id="291" name="Google Shape;291;p35"/>
            <p:cNvCxnSpPr/>
            <p:nvPr/>
          </p:nvCxnSpPr>
          <p:spPr>
            <a:xfrm flipH="1" rot="10800000">
              <a:off x="2711" y="1979"/>
              <a:ext cx="901" cy="522"/>
            </a:xfrm>
            <a:prstGeom prst="straightConnector1">
              <a:avLst/>
            </a:prstGeom>
            <a:noFill/>
            <a:ln cap="flat" cmpd="sng" w="38100">
              <a:solidFill>
                <a:schemeClr val="dk1"/>
              </a:solidFill>
              <a:prstDash val="solid"/>
              <a:round/>
              <a:headEnd len="med" w="med" type="none"/>
              <a:tailEnd len="med" w="med" type="triangle"/>
            </a:ln>
          </p:spPr>
        </p:cxnSp>
        <p:sp>
          <p:nvSpPr>
            <p:cNvPr id="292" name="Google Shape;292;p35"/>
            <p:cNvSpPr txBox="1"/>
            <p:nvPr/>
          </p:nvSpPr>
          <p:spPr>
            <a:xfrm>
              <a:off x="3519" y="1662"/>
              <a:ext cx="891" cy="474"/>
            </a:xfrm>
            <a:prstGeom prst="rect">
              <a:avLst/>
            </a:prstGeom>
            <a:noFill/>
            <a:ln>
              <a:noFill/>
            </a:ln>
          </p:spPr>
          <p:txBody>
            <a:bodyPr anchorCtr="0" anchor="t" bIns="41025" lIns="82050" spcFirstLastPara="1" rIns="82050" wrap="square" tIns="41025">
              <a:spAutoFit/>
            </a:bodyPr>
            <a:lstStyle/>
            <a:p>
              <a:pPr indent="0" lvl="0" marL="0" marR="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Secondary </a:t>
              </a:r>
              <a:endParaRPr/>
            </a:p>
            <a:p>
              <a:pPr indent="0" lvl="0" marL="0" marR="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electrons</a:t>
              </a:r>
              <a:endParaRPr/>
            </a:p>
          </p:txBody>
        </p:sp>
        <p:sp>
          <p:nvSpPr>
            <p:cNvPr id="293" name="Google Shape;293;p35"/>
            <p:cNvSpPr txBox="1"/>
            <p:nvPr/>
          </p:nvSpPr>
          <p:spPr>
            <a:xfrm>
              <a:off x="3281" y="697"/>
              <a:ext cx="1090" cy="474"/>
            </a:xfrm>
            <a:prstGeom prst="rect">
              <a:avLst/>
            </a:prstGeom>
            <a:noFill/>
            <a:ln>
              <a:noFill/>
            </a:ln>
          </p:spPr>
          <p:txBody>
            <a:bodyPr anchorCtr="0" anchor="t" bIns="41025" lIns="82050" spcFirstLastPara="1" rIns="82050" wrap="square" tIns="41025">
              <a:spAutoFit/>
            </a:bodyPr>
            <a:lstStyle/>
            <a:p>
              <a:pPr indent="0" lvl="0" marL="0" marR="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Backscattered</a:t>
              </a:r>
              <a:endParaRPr/>
            </a:p>
            <a:p>
              <a:pPr indent="0" lvl="0" marL="0" marR="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electrons</a:t>
              </a:r>
              <a:endParaRPr/>
            </a:p>
          </p:txBody>
        </p:sp>
        <p:sp>
          <p:nvSpPr>
            <p:cNvPr id="294" name="Google Shape;294;p35"/>
            <p:cNvSpPr/>
            <p:nvPr/>
          </p:nvSpPr>
          <p:spPr>
            <a:xfrm>
              <a:off x="4617" y="778"/>
              <a:ext cx="301" cy="1571"/>
            </a:xfrm>
            <a:prstGeom prst="rightBrace">
              <a:avLst>
                <a:gd fmla="val 37375"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295" name="Google Shape;295;p35"/>
            <p:cNvSpPr txBox="1"/>
            <p:nvPr/>
          </p:nvSpPr>
          <p:spPr>
            <a:xfrm>
              <a:off x="4895" y="1401"/>
              <a:ext cx="906" cy="263"/>
            </a:xfrm>
            <a:prstGeom prst="rect">
              <a:avLst/>
            </a:prstGeom>
            <a:noFill/>
            <a:ln>
              <a:noFill/>
            </a:ln>
          </p:spPr>
          <p:txBody>
            <a:bodyPr anchorCtr="0" anchor="t" bIns="41025" lIns="82050" spcFirstLastPara="1" rIns="82050" wrap="square" tIns="41025">
              <a:spAutoFit/>
            </a:bodyPr>
            <a:lstStyle/>
            <a:p>
              <a:pPr indent="0" lvl="0" marL="0" marR="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topography</a:t>
              </a:r>
              <a:endParaRPr/>
            </a:p>
          </p:txBody>
        </p:sp>
        <p:sp>
          <p:nvSpPr>
            <p:cNvPr id="296" name="Google Shape;296;p35"/>
            <p:cNvSpPr txBox="1"/>
            <p:nvPr/>
          </p:nvSpPr>
          <p:spPr>
            <a:xfrm>
              <a:off x="1338" y="605"/>
              <a:ext cx="739" cy="474"/>
            </a:xfrm>
            <a:prstGeom prst="rect">
              <a:avLst/>
            </a:prstGeom>
            <a:noFill/>
            <a:ln>
              <a:noFill/>
            </a:ln>
          </p:spPr>
          <p:txBody>
            <a:bodyPr anchorCtr="0" anchor="t" bIns="41025" lIns="82050" spcFirstLastPara="1" rIns="82050" wrap="square" tIns="41025">
              <a:spAutoFit/>
            </a:bodyPr>
            <a:lstStyle/>
            <a:p>
              <a:pPr indent="0" lvl="0" marL="0" marR="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Auger</a:t>
              </a:r>
              <a:endParaRPr/>
            </a:p>
            <a:p>
              <a:pPr indent="0" lvl="0" marL="0" marR="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electrons</a:t>
              </a:r>
              <a:endParaRPr/>
            </a:p>
          </p:txBody>
        </p:sp>
        <p:sp>
          <p:nvSpPr>
            <p:cNvPr id="297" name="Google Shape;297;p35"/>
            <p:cNvSpPr txBox="1"/>
            <p:nvPr/>
          </p:nvSpPr>
          <p:spPr>
            <a:xfrm>
              <a:off x="1338" y="1892"/>
              <a:ext cx="583" cy="263"/>
            </a:xfrm>
            <a:prstGeom prst="rect">
              <a:avLst/>
            </a:prstGeom>
            <a:noFill/>
            <a:ln>
              <a:noFill/>
            </a:ln>
          </p:spPr>
          <p:txBody>
            <a:bodyPr anchorCtr="0" anchor="t" bIns="41025" lIns="82050" spcFirstLastPara="1" rIns="82050" wrap="square" tIns="41025">
              <a:spAutoFit/>
            </a:bodyPr>
            <a:lstStyle/>
            <a:p>
              <a:pPr indent="0" lvl="0" marL="0" marR="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X-rays</a:t>
              </a:r>
              <a:endParaRPr/>
            </a:p>
          </p:txBody>
        </p:sp>
        <p:sp>
          <p:nvSpPr>
            <p:cNvPr id="298" name="Google Shape;298;p35"/>
            <p:cNvSpPr/>
            <p:nvPr/>
          </p:nvSpPr>
          <p:spPr>
            <a:xfrm flipH="1">
              <a:off x="1166" y="563"/>
              <a:ext cx="301" cy="1634"/>
            </a:xfrm>
            <a:prstGeom prst="rightBrace">
              <a:avLst>
                <a:gd fmla="val 53032" name="adj1"/>
                <a:gd fmla="val 50671"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299" name="Google Shape;299;p35"/>
            <p:cNvSpPr txBox="1"/>
            <p:nvPr/>
          </p:nvSpPr>
          <p:spPr>
            <a:xfrm>
              <a:off x="-95" y="1237"/>
              <a:ext cx="974" cy="263"/>
            </a:xfrm>
            <a:prstGeom prst="rect">
              <a:avLst/>
            </a:prstGeom>
            <a:noFill/>
            <a:ln>
              <a:noFill/>
            </a:ln>
          </p:spPr>
          <p:txBody>
            <a:bodyPr anchorCtr="0" anchor="t" bIns="41025" lIns="82050" spcFirstLastPara="1" rIns="82050" wrap="square" tIns="41025">
              <a:spAutoFit/>
            </a:bodyPr>
            <a:lstStyle/>
            <a:p>
              <a:pPr indent="0" lvl="0" marL="0" marR="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composition</a:t>
              </a:r>
              <a:endParaRPr/>
            </a:p>
          </p:txBody>
        </p:sp>
        <p:cxnSp>
          <p:nvCxnSpPr>
            <p:cNvPr id="300" name="Google Shape;300;p35"/>
            <p:cNvCxnSpPr/>
            <p:nvPr/>
          </p:nvCxnSpPr>
          <p:spPr>
            <a:xfrm flipH="1">
              <a:off x="2153" y="2676"/>
              <a:ext cx="515" cy="696"/>
            </a:xfrm>
            <a:prstGeom prst="straightConnector1">
              <a:avLst/>
            </a:prstGeom>
            <a:noFill/>
            <a:ln cap="flat" cmpd="sng" w="9525">
              <a:solidFill>
                <a:schemeClr val="dk1"/>
              </a:solidFill>
              <a:prstDash val="solid"/>
              <a:round/>
              <a:headEnd len="med" w="med" type="none"/>
              <a:tailEnd len="med" w="med" type="triangle"/>
            </a:ln>
          </p:spPr>
        </p:cxnSp>
        <p:cxnSp>
          <p:nvCxnSpPr>
            <p:cNvPr id="301" name="Google Shape;301;p35"/>
            <p:cNvCxnSpPr/>
            <p:nvPr/>
          </p:nvCxnSpPr>
          <p:spPr>
            <a:xfrm>
              <a:off x="2711" y="2676"/>
              <a:ext cx="0" cy="827"/>
            </a:xfrm>
            <a:prstGeom prst="straightConnector1">
              <a:avLst/>
            </a:prstGeom>
            <a:noFill/>
            <a:ln cap="flat" cmpd="sng" w="9525">
              <a:solidFill>
                <a:schemeClr val="dk1"/>
              </a:solidFill>
              <a:prstDash val="solid"/>
              <a:round/>
              <a:headEnd len="med" w="med" type="none"/>
              <a:tailEnd len="med" w="med" type="triangle"/>
            </a:ln>
          </p:spPr>
        </p:cxnSp>
        <p:sp>
          <p:nvSpPr>
            <p:cNvPr id="302" name="Google Shape;302;p35"/>
            <p:cNvSpPr txBox="1"/>
            <p:nvPr/>
          </p:nvSpPr>
          <p:spPr>
            <a:xfrm>
              <a:off x="1248" y="3026"/>
              <a:ext cx="827" cy="474"/>
            </a:xfrm>
            <a:prstGeom prst="rect">
              <a:avLst/>
            </a:prstGeom>
            <a:noFill/>
            <a:ln>
              <a:noFill/>
            </a:ln>
          </p:spPr>
          <p:txBody>
            <a:bodyPr anchorCtr="0" anchor="t" bIns="41025" lIns="82050" spcFirstLastPara="1" rIns="82050" wrap="square" tIns="41025">
              <a:spAutoFit/>
            </a:bodyPr>
            <a:lstStyle/>
            <a:p>
              <a:pPr indent="0" lvl="0" marL="0" marR="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Diffracted</a:t>
              </a:r>
              <a:endParaRPr/>
            </a:p>
            <a:p>
              <a:pPr indent="0" lvl="0" marL="0" marR="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electrons</a:t>
              </a:r>
              <a:endParaRPr/>
            </a:p>
          </p:txBody>
        </p:sp>
        <p:sp>
          <p:nvSpPr>
            <p:cNvPr id="303" name="Google Shape;303;p35"/>
            <p:cNvSpPr txBox="1"/>
            <p:nvPr/>
          </p:nvSpPr>
          <p:spPr>
            <a:xfrm>
              <a:off x="1928" y="3688"/>
              <a:ext cx="1633" cy="263"/>
            </a:xfrm>
            <a:prstGeom prst="rect">
              <a:avLst/>
            </a:prstGeom>
            <a:noFill/>
            <a:ln>
              <a:noFill/>
            </a:ln>
          </p:spPr>
          <p:txBody>
            <a:bodyPr anchorCtr="0" anchor="t" bIns="41025" lIns="82050" spcFirstLastPara="1" rIns="82050" wrap="square" tIns="41025">
              <a:spAutoFit/>
            </a:bodyPr>
            <a:lstStyle/>
            <a:p>
              <a:pPr indent="0" lvl="0" marL="0" marR="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Transmitted electrons</a:t>
              </a:r>
              <a:endParaRPr/>
            </a:p>
          </p:txBody>
        </p:sp>
        <p:sp>
          <p:nvSpPr>
            <p:cNvPr id="304" name="Google Shape;304;p35"/>
            <p:cNvSpPr txBox="1"/>
            <p:nvPr/>
          </p:nvSpPr>
          <p:spPr>
            <a:xfrm>
              <a:off x="3097" y="3242"/>
              <a:ext cx="644" cy="263"/>
            </a:xfrm>
            <a:prstGeom prst="rect">
              <a:avLst/>
            </a:prstGeom>
            <a:noFill/>
            <a:ln>
              <a:noFill/>
            </a:ln>
          </p:spPr>
          <p:txBody>
            <a:bodyPr anchorCtr="0" anchor="t" bIns="41025" lIns="82050" spcFirstLastPara="1" rIns="82050" wrap="square" tIns="41025">
              <a:spAutoFit/>
            </a:bodyPr>
            <a:lstStyle/>
            <a:p>
              <a:pPr indent="0" lvl="0" marL="0" marR="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(EELS)</a:t>
              </a:r>
              <a:endParaRPr/>
            </a:p>
          </p:txBody>
        </p:sp>
        <p:sp>
          <p:nvSpPr>
            <p:cNvPr id="305" name="Google Shape;305;p35"/>
            <p:cNvSpPr/>
            <p:nvPr/>
          </p:nvSpPr>
          <p:spPr>
            <a:xfrm>
              <a:off x="3751" y="3176"/>
              <a:ext cx="201" cy="545"/>
            </a:xfrm>
            <a:prstGeom prst="rightBrace">
              <a:avLst>
                <a:gd fmla="val 22595"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306" name="Google Shape;306;p35"/>
            <p:cNvSpPr txBox="1"/>
            <p:nvPr/>
          </p:nvSpPr>
          <p:spPr>
            <a:xfrm>
              <a:off x="4052" y="3115"/>
              <a:ext cx="1306" cy="474"/>
            </a:xfrm>
            <a:prstGeom prst="rect">
              <a:avLst/>
            </a:prstGeom>
            <a:noFill/>
            <a:ln>
              <a:noFill/>
            </a:ln>
          </p:spPr>
          <p:txBody>
            <a:bodyPr anchorCtr="0" anchor="t" bIns="41025" lIns="82050" spcFirstLastPara="1" rIns="82050" wrap="square" tIns="41025">
              <a:spAutoFit/>
            </a:bodyPr>
            <a:lstStyle/>
            <a:p>
              <a:pPr indent="0" lvl="0" marL="0" marR="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Electronic states,</a:t>
              </a:r>
              <a:endParaRPr/>
            </a:p>
            <a:p>
              <a:pPr indent="0" lvl="0" marL="0" marR="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composition</a:t>
              </a:r>
              <a:endParaRPr/>
            </a:p>
          </p:txBody>
        </p:sp>
        <p:sp>
          <p:nvSpPr>
            <p:cNvPr id="307" name="Google Shape;307;p35"/>
            <p:cNvSpPr/>
            <p:nvPr/>
          </p:nvSpPr>
          <p:spPr>
            <a:xfrm flipH="1">
              <a:off x="1056" y="2992"/>
              <a:ext cx="271" cy="720"/>
            </a:xfrm>
            <a:prstGeom prst="rightBrace">
              <a:avLst>
                <a:gd fmla="val 22140"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308" name="Google Shape;308;p35"/>
            <p:cNvSpPr txBox="1"/>
            <p:nvPr/>
          </p:nvSpPr>
          <p:spPr>
            <a:xfrm>
              <a:off x="53" y="3034"/>
              <a:ext cx="794" cy="474"/>
            </a:xfrm>
            <a:prstGeom prst="rect">
              <a:avLst/>
            </a:prstGeom>
            <a:noFill/>
            <a:ln>
              <a:noFill/>
            </a:ln>
          </p:spPr>
          <p:txBody>
            <a:bodyPr anchorCtr="0" anchor="t" bIns="41025" lIns="82050" spcFirstLastPara="1" rIns="82050" wrap="square" tIns="41025">
              <a:spAutoFit/>
            </a:bodyPr>
            <a:lstStyle/>
            <a:p>
              <a:pPr indent="0" lvl="0" marL="0" marR="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Structure,</a:t>
              </a:r>
              <a:endParaRPr/>
            </a:p>
            <a:p>
              <a:pPr indent="0" lvl="0" marL="0" marR="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defects</a:t>
              </a:r>
              <a:endParaRPr/>
            </a:p>
          </p:txBody>
        </p:sp>
        <p:cxnSp>
          <p:nvCxnSpPr>
            <p:cNvPr id="309" name="Google Shape;309;p35"/>
            <p:cNvCxnSpPr/>
            <p:nvPr/>
          </p:nvCxnSpPr>
          <p:spPr>
            <a:xfrm>
              <a:off x="2171" y="2606"/>
              <a:ext cx="349" cy="0"/>
            </a:xfrm>
            <a:prstGeom prst="straightConnector1">
              <a:avLst/>
            </a:prstGeom>
            <a:noFill/>
            <a:ln cap="flat" cmpd="sng" w="38100">
              <a:solidFill>
                <a:schemeClr val="dk1"/>
              </a:solidFill>
              <a:prstDash val="solid"/>
              <a:round/>
              <a:headEnd len="med" w="med" type="none"/>
              <a:tailEnd len="med" w="med" type="triangle"/>
            </a:ln>
          </p:spPr>
        </p:cxnSp>
        <p:cxnSp>
          <p:nvCxnSpPr>
            <p:cNvPr id="310" name="Google Shape;310;p35"/>
            <p:cNvCxnSpPr/>
            <p:nvPr/>
          </p:nvCxnSpPr>
          <p:spPr>
            <a:xfrm rot="10800000">
              <a:off x="2825" y="2606"/>
              <a:ext cx="349" cy="0"/>
            </a:xfrm>
            <a:prstGeom prst="straightConnector1">
              <a:avLst/>
            </a:prstGeom>
            <a:noFill/>
            <a:ln cap="flat" cmpd="sng" w="38100">
              <a:solidFill>
                <a:schemeClr val="dk1"/>
              </a:solidFill>
              <a:prstDash val="solid"/>
              <a:round/>
              <a:headEnd len="med" w="med" type="none"/>
              <a:tailEnd len="med" w="med" type="triangle"/>
            </a:ln>
          </p:spPr>
        </p:cxnSp>
        <p:sp>
          <p:nvSpPr>
            <p:cNvPr id="311" name="Google Shape;311;p35"/>
            <p:cNvSpPr txBox="1"/>
            <p:nvPr/>
          </p:nvSpPr>
          <p:spPr>
            <a:xfrm>
              <a:off x="3214" y="2416"/>
              <a:ext cx="722" cy="342"/>
            </a:xfrm>
            <a:prstGeom prst="rect">
              <a:avLst/>
            </a:prstGeom>
            <a:noFill/>
            <a:ln>
              <a:noFill/>
            </a:ln>
          </p:spPr>
          <p:txBody>
            <a:bodyPr anchorCtr="0" anchor="t" bIns="41025" lIns="82050" spcFirstLastPara="1" rIns="82050" wrap="square" tIns="41025">
              <a:spAutoFit/>
            </a:bodyPr>
            <a:lstStyle/>
            <a:p>
              <a:pPr indent="0" lvl="0" marL="0" marR="0" rtl="0" algn="l">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~1 nm</a:t>
              </a:r>
              <a:endParaRPr/>
            </a:p>
          </p:txBody>
        </p:sp>
      </p:grpSp>
      <p:sp>
        <p:nvSpPr>
          <p:cNvPr id="312" name="Google Shape;312;p35"/>
          <p:cNvSpPr txBox="1"/>
          <p:nvPr/>
        </p:nvSpPr>
        <p:spPr>
          <a:xfrm>
            <a:off x="403755" y="5782703"/>
            <a:ext cx="4241653"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Transmission Electron Microscopy, A textbook for Materials Science, David B Williams and C Barry Carter, Springer, 2</a:t>
            </a:r>
            <a:r>
              <a:rPr baseline="30000" lang="en-US" sz="1400">
                <a:solidFill>
                  <a:schemeClr val="dk1"/>
                </a:solidFill>
                <a:latin typeface="Calibri"/>
                <a:ea typeface="Calibri"/>
                <a:cs typeface="Calibri"/>
                <a:sym typeface="Calibri"/>
              </a:rPr>
              <a:t>nd</a:t>
            </a:r>
            <a:r>
              <a:rPr lang="en-US" sz="1400">
                <a:solidFill>
                  <a:schemeClr val="dk1"/>
                </a:solidFill>
                <a:latin typeface="Calibri"/>
                <a:ea typeface="Calibri"/>
                <a:cs typeface="Calibri"/>
                <a:sym typeface="Calibri"/>
              </a:rPr>
              <a:t> edition 2009</a:t>
            </a:r>
            <a:endParaRPr/>
          </a:p>
        </p:txBody>
      </p:sp>
      <p:sp>
        <p:nvSpPr>
          <p:cNvPr id="313" name="Google Shape;313;p35"/>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36"/>
          <p:cNvPicPr preferRelativeResize="0"/>
          <p:nvPr/>
        </p:nvPicPr>
        <p:blipFill rotWithShape="1">
          <a:blip r:embed="rId3">
            <a:alphaModFix/>
          </a:blip>
          <a:srcRect b="2539" l="0" r="0" t="3733"/>
          <a:stretch/>
        </p:blipFill>
        <p:spPr>
          <a:xfrm>
            <a:off x="5986847" y="845218"/>
            <a:ext cx="5369330" cy="5624221"/>
          </a:xfrm>
          <a:prstGeom prst="rect">
            <a:avLst/>
          </a:prstGeom>
          <a:noFill/>
          <a:ln>
            <a:noFill/>
          </a:ln>
        </p:spPr>
      </p:pic>
      <p:sp>
        <p:nvSpPr>
          <p:cNvPr id="319" name="Google Shape;319;p36"/>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sz="3600"/>
              <a:t>Imaging and Diffraction in TEM</a:t>
            </a:r>
            <a:endParaRPr/>
          </a:p>
        </p:txBody>
      </p:sp>
      <p:grpSp>
        <p:nvGrpSpPr>
          <p:cNvPr id="320" name="Google Shape;320;p36"/>
          <p:cNvGrpSpPr/>
          <p:nvPr/>
        </p:nvGrpSpPr>
        <p:grpSpPr>
          <a:xfrm>
            <a:off x="370508" y="835110"/>
            <a:ext cx="5104209" cy="5229225"/>
            <a:chOff x="540" y="1878"/>
            <a:chExt cx="11520" cy="11802"/>
          </a:xfrm>
        </p:grpSpPr>
        <p:pic>
          <p:nvPicPr>
            <p:cNvPr descr="microscope001" id="321" name="Google Shape;321;p36"/>
            <p:cNvPicPr preferRelativeResize="0"/>
            <p:nvPr/>
          </p:nvPicPr>
          <p:blipFill rotWithShape="1">
            <a:blip r:embed="rId4">
              <a:alphaModFix/>
            </a:blip>
            <a:srcRect b="0" l="0" r="0" t="0"/>
            <a:stretch/>
          </p:blipFill>
          <p:spPr>
            <a:xfrm>
              <a:off x="1080" y="1878"/>
              <a:ext cx="10052" cy="11802"/>
            </a:xfrm>
            <a:prstGeom prst="rect">
              <a:avLst/>
            </a:prstGeom>
            <a:noFill/>
            <a:ln>
              <a:noFill/>
            </a:ln>
          </p:spPr>
        </p:pic>
        <p:sp>
          <p:nvSpPr>
            <p:cNvPr id="322" name="Google Shape;322;p36"/>
            <p:cNvSpPr txBox="1"/>
            <p:nvPr/>
          </p:nvSpPr>
          <p:spPr>
            <a:xfrm>
              <a:off x="10800" y="4245"/>
              <a:ext cx="1080" cy="9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GUN 1</a:t>
              </a:r>
              <a:endParaRPr/>
            </a:p>
            <a:p>
              <a:pPr indent="0" lvl="0" marL="0" marR="0" rtl="0" algn="l">
                <a:spcBef>
                  <a:spcPts val="0"/>
                </a:spcBef>
                <a:spcAft>
                  <a:spcPts val="0"/>
                </a:spcAft>
                <a:buNone/>
              </a:pPr>
              <a:r>
                <a:rPr b="1" lang="en-US" sz="675">
                  <a:solidFill>
                    <a:schemeClr val="dk1"/>
                  </a:solidFill>
                  <a:latin typeface="Arial"/>
                  <a:ea typeface="Arial"/>
                  <a:cs typeface="Arial"/>
                  <a:sym typeface="Arial"/>
                </a:rPr>
                <a:t>GUN 2</a:t>
              </a:r>
              <a:endParaRPr sz="1350">
                <a:solidFill>
                  <a:schemeClr val="dk1"/>
                </a:solidFill>
                <a:latin typeface="Arial"/>
                <a:ea typeface="Arial"/>
                <a:cs typeface="Arial"/>
                <a:sym typeface="Arial"/>
              </a:endParaRPr>
            </a:p>
          </p:txBody>
        </p:sp>
        <p:sp>
          <p:nvSpPr>
            <p:cNvPr id="323" name="Google Shape;323;p36"/>
            <p:cNvSpPr txBox="1"/>
            <p:nvPr/>
          </p:nvSpPr>
          <p:spPr>
            <a:xfrm>
              <a:off x="870" y="7695"/>
              <a:ext cx="1080" cy="40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OL1</a:t>
              </a:r>
              <a:endParaRPr sz="1350">
                <a:solidFill>
                  <a:schemeClr val="dk1"/>
                </a:solidFill>
                <a:latin typeface="Arial"/>
                <a:ea typeface="Arial"/>
                <a:cs typeface="Arial"/>
                <a:sym typeface="Arial"/>
              </a:endParaRPr>
            </a:p>
          </p:txBody>
        </p:sp>
        <p:sp>
          <p:nvSpPr>
            <p:cNvPr id="324" name="Google Shape;324;p36"/>
            <p:cNvSpPr txBox="1"/>
            <p:nvPr/>
          </p:nvSpPr>
          <p:spPr>
            <a:xfrm>
              <a:off x="900" y="5370"/>
              <a:ext cx="1080" cy="5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CL1~3</a:t>
              </a:r>
              <a:endParaRPr sz="1350">
                <a:solidFill>
                  <a:schemeClr val="dk1"/>
                </a:solidFill>
                <a:latin typeface="Arial"/>
                <a:ea typeface="Arial"/>
                <a:cs typeface="Arial"/>
                <a:sym typeface="Arial"/>
              </a:endParaRPr>
            </a:p>
          </p:txBody>
        </p:sp>
        <p:sp>
          <p:nvSpPr>
            <p:cNvPr id="325" name="Google Shape;325;p36"/>
            <p:cNvSpPr txBox="1"/>
            <p:nvPr/>
          </p:nvSpPr>
          <p:spPr>
            <a:xfrm>
              <a:off x="10980" y="5430"/>
              <a:ext cx="1080" cy="5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CLS</a:t>
              </a:r>
              <a:endParaRPr sz="1350">
                <a:solidFill>
                  <a:schemeClr val="dk1"/>
                </a:solidFill>
                <a:latin typeface="Arial"/>
                <a:ea typeface="Arial"/>
                <a:cs typeface="Arial"/>
                <a:sym typeface="Arial"/>
              </a:endParaRPr>
            </a:p>
          </p:txBody>
        </p:sp>
        <p:sp>
          <p:nvSpPr>
            <p:cNvPr id="326" name="Google Shape;326;p36"/>
            <p:cNvSpPr txBox="1"/>
            <p:nvPr/>
          </p:nvSpPr>
          <p:spPr>
            <a:xfrm>
              <a:off x="10980" y="5865"/>
              <a:ext cx="1080" cy="5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CLA1</a:t>
              </a:r>
              <a:endParaRPr sz="1350">
                <a:solidFill>
                  <a:schemeClr val="dk1"/>
                </a:solidFill>
                <a:latin typeface="Arial"/>
                <a:ea typeface="Arial"/>
                <a:cs typeface="Arial"/>
                <a:sym typeface="Arial"/>
              </a:endParaRPr>
            </a:p>
          </p:txBody>
        </p:sp>
        <p:sp>
          <p:nvSpPr>
            <p:cNvPr id="327" name="Google Shape;327;p36"/>
            <p:cNvSpPr txBox="1"/>
            <p:nvPr/>
          </p:nvSpPr>
          <p:spPr>
            <a:xfrm>
              <a:off x="10440" y="7020"/>
              <a:ext cx="1080" cy="5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OBS</a:t>
              </a:r>
              <a:endParaRPr sz="1350">
                <a:solidFill>
                  <a:schemeClr val="dk1"/>
                </a:solidFill>
                <a:latin typeface="Arial"/>
                <a:ea typeface="Arial"/>
                <a:cs typeface="Arial"/>
                <a:sym typeface="Arial"/>
              </a:endParaRPr>
            </a:p>
          </p:txBody>
        </p:sp>
        <p:sp>
          <p:nvSpPr>
            <p:cNvPr id="328" name="Google Shape;328;p36"/>
            <p:cNvSpPr txBox="1"/>
            <p:nvPr/>
          </p:nvSpPr>
          <p:spPr>
            <a:xfrm>
              <a:off x="7800" y="4245"/>
              <a:ext cx="3180" cy="5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750">
                  <a:solidFill>
                    <a:schemeClr val="dk1"/>
                  </a:solidFill>
                  <a:latin typeface="Arial"/>
                  <a:ea typeface="Arial"/>
                  <a:cs typeface="Arial"/>
                  <a:sym typeface="Arial"/>
                </a:rPr>
                <a:t>Electron gun 1</a:t>
              </a:r>
              <a:r>
                <a:rPr baseline="30000" lang="en-US" sz="750">
                  <a:solidFill>
                    <a:schemeClr val="dk1"/>
                  </a:solidFill>
                  <a:latin typeface="Arial"/>
                  <a:ea typeface="Arial"/>
                  <a:cs typeface="Arial"/>
                  <a:sym typeface="Arial"/>
                </a:rPr>
                <a:t>st</a:t>
              </a:r>
              <a:r>
                <a:rPr lang="en-US" sz="750">
                  <a:solidFill>
                    <a:schemeClr val="dk1"/>
                  </a:solidFill>
                  <a:latin typeface="Arial"/>
                  <a:ea typeface="Arial"/>
                  <a:cs typeface="Arial"/>
                  <a:sym typeface="Arial"/>
                </a:rPr>
                <a:t> beam deflector</a:t>
              </a:r>
              <a:endParaRPr sz="1350">
                <a:solidFill>
                  <a:schemeClr val="dk1"/>
                </a:solidFill>
                <a:latin typeface="Arial"/>
                <a:ea typeface="Arial"/>
                <a:cs typeface="Arial"/>
                <a:sym typeface="Arial"/>
              </a:endParaRPr>
            </a:p>
          </p:txBody>
        </p:sp>
        <p:cxnSp>
          <p:nvCxnSpPr>
            <p:cNvPr id="329" name="Google Shape;329;p36"/>
            <p:cNvCxnSpPr/>
            <p:nvPr/>
          </p:nvCxnSpPr>
          <p:spPr>
            <a:xfrm flipH="1" rot="10800000">
              <a:off x="6120" y="4500"/>
              <a:ext cx="1800" cy="180"/>
            </a:xfrm>
            <a:prstGeom prst="straightConnector1">
              <a:avLst/>
            </a:prstGeom>
            <a:noFill/>
            <a:ln cap="flat" cmpd="sng" w="9525">
              <a:solidFill>
                <a:srgbClr val="000000"/>
              </a:solidFill>
              <a:prstDash val="solid"/>
              <a:round/>
              <a:headEnd len="med" w="med" type="oval"/>
              <a:tailEnd len="med" w="med" type="none"/>
            </a:ln>
          </p:spPr>
        </p:cxnSp>
        <p:sp>
          <p:nvSpPr>
            <p:cNvPr id="330" name="Google Shape;330;p36"/>
            <p:cNvSpPr txBox="1"/>
            <p:nvPr/>
          </p:nvSpPr>
          <p:spPr>
            <a:xfrm>
              <a:off x="10980" y="6525"/>
              <a:ext cx="1080" cy="5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CLA2</a:t>
              </a:r>
              <a:endParaRPr sz="1350">
                <a:solidFill>
                  <a:schemeClr val="dk1"/>
                </a:solidFill>
                <a:latin typeface="Arial"/>
                <a:ea typeface="Arial"/>
                <a:cs typeface="Arial"/>
                <a:sym typeface="Arial"/>
              </a:endParaRPr>
            </a:p>
          </p:txBody>
        </p:sp>
        <p:sp>
          <p:nvSpPr>
            <p:cNvPr id="331" name="Google Shape;331;p36"/>
            <p:cNvSpPr txBox="1"/>
            <p:nvPr/>
          </p:nvSpPr>
          <p:spPr>
            <a:xfrm>
              <a:off x="10440" y="8160"/>
              <a:ext cx="1080" cy="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IS1</a:t>
              </a:r>
              <a:endParaRPr/>
            </a:p>
            <a:p>
              <a:pPr indent="0" lvl="0" marL="0" marR="0" rtl="0" algn="l">
                <a:spcBef>
                  <a:spcPts val="0"/>
                </a:spcBef>
                <a:spcAft>
                  <a:spcPts val="0"/>
                </a:spcAft>
                <a:buNone/>
              </a:pPr>
              <a:r>
                <a:rPr b="1" lang="en-US" sz="675">
                  <a:solidFill>
                    <a:schemeClr val="dk1"/>
                  </a:solidFill>
                  <a:latin typeface="Arial"/>
                  <a:ea typeface="Arial"/>
                  <a:cs typeface="Arial"/>
                  <a:sym typeface="Arial"/>
                </a:rPr>
                <a:t>IS2</a:t>
              </a:r>
              <a:endParaRPr sz="1350">
                <a:solidFill>
                  <a:schemeClr val="dk1"/>
                </a:solidFill>
                <a:latin typeface="Arial"/>
                <a:ea typeface="Arial"/>
                <a:cs typeface="Arial"/>
                <a:sym typeface="Arial"/>
              </a:endParaRPr>
            </a:p>
          </p:txBody>
        </p:sp>
        <p:sp>
          <p:nvSpPr>
            <p:cNvPr id="332" name="Google Shape;332;p36"/>
            <p:cNvSpPr txBox="1"/>
            <p:nvPr/>
          </p:nvSpPr>
          <p:spPr>
            <a:xfrm>
              <a:off x="10440" y="9240"/>
              <a:ext cx="1080" cy="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IL1~3</a:t>
              </a:r>
              <a:endParaRPr sz="1350">
                <a:solidFill>
                  <a:schemeClr val="dk1"/>
                </a:solidFill>
                <a:latin typeface="Arial"/>
                <a:ea typeface="Arial"/>
                <a:cs typeface="Arial"/>
                <a:sym typeface="Arial"/>
              </a:endParaRPr>
            </a:p>
          </p:txBody>
        </p:sp>
        <p:sp>
          <p:nvSpPr>
            <p:cNvPr id="333" name="Google Shape;333;p36"/>
            <p:cNvSpPr txBox="1"/>
            <p:nvPr/>
          </p:nvSpPr>
          <p:spPr>
            <a:xfrm>
              <a:off x="540" y="8835"/>
              <a:ext cx="1080" cy="5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PLA</a:t>
              </a:r>
              <a:endParaRPr sz="1350">
                <a:solidFill>
                  <a:schemeClr val="dk1"/>
                </a:solidFill>
                <a:latin typeface="Arial"/>
                <a:ea typeface="Arial"/>
                <a:cs typeface="Arial"/>
                <a:sym typeface="Arial"/>
              </a:endParaRPr>
            </a:p>
          </p:txBody>
        </p:sp>
        <p:sp>
          <p:nvSpPr>
            <p:cNvPr id="334" name="Google Shape;334;p36"/>
            <p:cNvSpPr txBox="1"/>
            <p:nvPr/>
          </p:nvSpPr>
          <p:spPr>
            <a:xfrm>
              <a:off x="540" y="9180"/>
              <a:ext cx="1080" cy="5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PL</a:t>
              </a:r>
              <a:endParaRPr sz="1350">
                <a:solidFill>
                  <a:schemeClr val="dk1"/>
                </a:solidFill>
                <a:latin typeface="Arial"/>
                <a:ea typeface="Arial"/>
                <a:cs typeface="Arial"/>
                <a:sym typeface="Arial"/>
              </a:endParaRPr>
            </a:p>
          </p:txBody>
        </p:sp>
        <p:sp>
          <p:nvSpPr>
            <p:cNvPr id="335" name="Google Shape;335;p36"/>
            <p:cNvSpPr txBox="1"/>
            <p:nvPr/>
          </p:nvSpPr>
          <p:spPr>
            <a:xfrm>
              <a:off x="10440" y="7635"/>
              <a:ext cx="1080" cy="5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OM</a:t>
              </a:r>
              <a:endParaRPr sz="1350">
                <a:solidFill>
                  <a:schemeClr val="dk1"/>
                </a:solidFill>
                <a:latin typeface="Arial"/>
                <a:ea typeface="Arial"/>
                <a:cs typeface="Arial"/>
                <a:sym typeface="Arial"/>
              </a:endParaRPr>
            </a:p>
          </p:txBody>
        </p:sp>
        <p:sp>
          <p:nvSpPr>
            <p:cNvPr id="336" name="Google Shape;336;p36"/>
            <p:cNvSpPr txBox="1"/>
            <p:nvPr/>
          </p:nvSpPr>
          <p:spPr>
            <a:xfrm>
              <a:off x="9360" y="5040"/>
              <a:ext cx="1080" cy="5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Spot</a:t>
              </a:r>
              <a:endParaRPr sz="1350">
                <a:solidFill>
                  <a:schemeClr val="dk1"/>
                </a:solidFill>
                <a:latin typeface="Arial"/>
                <a:ea typeface="Arial"/>
                <a:cs typeface="Arial"/>
                <a:sym typeface="Arial"/>
              </a:endParaRPr>
            </a:p>
          </p:txBody>
        </p:sp>
        <p:sp>
          <p:nvSpPr>
            <p:cNvPr id="337" name="Google Shape;337;p36"/>
            <p:cNvSpPr txBox="1"/>
            <p:nvPr/>
          </p:nvSpPr>
          <p:spPr>
            <a:xfrm>
              <a:off x="870" y="6300"/>
              <a:ext cx="1080" cy="40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CM</a:t>
              </a:r>
              <a:endParaRPr sz="1350">
                <a:solidFill>
                  <a:schemeClr val="dk1"/>
                </a:solidFill>
                <a:latin typeface="Arial"/>
                <a:ea typeface="Arial"/>
                <a:cs typeface="Arial"/>
                <a:sym typeface="Arial"/>
              </a:endParaRPr>
            </a:p>
          </p:txBody>
        </p:sp>
        <p:cxnSp>
          <p:nvCxnSpPr>
            <p:cNvPr id="338" name="Google Shape;338;p36"/>
            <p:cNvCxnSpPr/>
            <p:nvPr/>
          </p:nvCxnSpPr>
          <p:spPr>
            <a:xfrm flipH="1" rot="10800000">
              <a:off x="6120" y="4530"/>
              <a:ext cx="1440" cy="720"/>
            </a:xfrm>
            <a:prstGeom prst="straightConnector1">
              <a:avLst/>
            </a:prstGeom>
            <a:noFill/>
            <a:ln cap="flat" cmpd="sng" w="9525">
              <a:solidFill>
                <a:srgbClr val="000000"/>
              </a:solidFill>
              <a:prstDash val="solid"/>
              <a:round/>
              <a:headEnd len="med" w="med" type="oval"/>
              <a:tailEnd len="med" w="med" type="none"/>
            </a:ln>
          </p:spPr>
        </p:cxnSp>
        <p:cxnSp>
          <p:nvCxnSpPr>
            <p:cNvPr id="339" name="Google Shape;339;p36"/>
            <p:cNvCxnSpPr/>
            <p:nvPr/>
          </p:nvCxnSpPr>
          <p:spPr>
            <a:xfrm>
              <a:off x="6045" y="8685"/>
              <a:ext cx="1755" cy="510"/>
            </a:xfrm>
            <a:prstGeom prst="straightConnector1">
              <a:avLst/>
            </a:prstGeom>
            <a:noFill/>
            <a:ln cap="flat" cmpd="sng" w="9525">
              <a:solidFill>
                <a:srgbClr val="000000"/>
              </a:solidFill>
              <a:prstDash val="solid"/>
              <a:round/>
              <a:headEnd len="med" w="med" type="oval"/>
              <a:tailEnd len="med" w="med" type="none"/>
            </a:ln>
          </p:spPr>
        </p:cxnSp>
        <p:sp>
          <p:nvSpPr>
            <p:cNvPr id="340" name="Google Shape;340;p36"/>
            <p:cNvSpPr txBox="1"/>
            <p:nvPr/>
          </p:nvSpPr>
          <p:spPr>
            <a:xfrm>
              <a:off x="7680" y="8940"/>
              <a:ext cx="3180" cy="5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750">
                  <a:solidFill>
                    <a:schemeClr val="dk1"/>
                  </a:solidFill>
                  <a:latin typeface="Arial"/>
                  <a:ea typeface="Arial"/>
                  <a:cs typeface="Arial"/>
                  <a:sym typeface="Arial"/>
                </a:rPr>
                <a:t>Intermediate lens stigmator</a:t>
              </a:r>
              <a:endParaRPr sz="1350">
                <a:solidFill>
                  <a:schemeClr val="dk1"/>
                </a:solidFill>
                <a:latin typeface="Arial"/>
                <a:ea typeface="Arial"/>
                <a:cs typeface="Arial"/>
                <a:sym typeface="Arial"/>
              </a:endParaRPr>
            </a:p>
          </p:txBody>
        </p:sp>
        <p:sp>
          <p:nvSpPr>
            <p:cNvPr id="341" name="Google Shape;341;p36"/>
            <p:cNvSpPr txBox="1"/>
            <p:nvPr/>
          </p:nvSpPr>
          <p:spPr>
            <a:xfrm>
              <a:off x="10440" y="8970"/>
              <a:ext cx="1080" cy="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75">
                  <a:solidFill>
                    <a:schemeClr val="dk1"/>
                  </a:solidFill>
                  <a:latin typeface="Arial"/>
                  <a:ea typeface="Arial"/>
                  <a:cs typeface="Arial"/>
                  <a:sym typeface="Arial"/>
                </a:rPr>
                <a:t>ILS</a:t>
              </a:r>
              <a:endParaRPr sz="1350">
                <a:solidFill>
                  <a:schemeClr val="dk1"/>
                </a:solidFill>
                <a:latin typeface="Arial"/>
                <a:ea typeface="Arial"/>
                <a:cs typeface="Arial"/>
                <a:sym typeface="Arial"/>
              </a:endParaRPr>
            </a:p>
          </p:txBody>
        </p:sp>
      </p:grpSp>
      <p:sp>
        <p:nvSpPr>
          <p:cNvPr id="342" name="Google Shape;342;p36"/>
          <p:cNvSpPr txBox="1"/>
          <p:nvPr/>
        </p:nvSpPr>
        <p:spPr>
          <a:xfrm>
            <a:off x="5723447" y="6394181"/>
            <a:ext cx="588208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Transmission Electron Microscopy, A textbook for Materials Science, David B Williams and C Barry Carter, Springer, 2</a:t>
            </a:r>
            <a:r>
              <a:rPr baseline="30000" lang="en-US" sz="1400">
                <a:solidFill>
                  <a:schemeClr val="dk1"/>
                </a:solidFill>
                <a:latin typeface="Calibri"/>
                <a:ea typeface="Calibri"/>
                <a:cs typeface="Calibri"/>
                <a:sym typeface="Calibri"/>
              </a:rPr>
              <a:t>nd</a:t>
            </a:r>
            <a:r>
              <a:rPr lang="en-US" sz="1400">
                <a:solidFill>
                  <a:schemeClr val="dk1"/>
                </a:solidFill>
                <a:latin typeface="Calibri"/>
                <a:ea typeface="Calibri"/>
                <a:cs typeface="Calibri"/>
                <a:sym typeface="Calibri"/>
              </a:rPr>
              <a:t> ed. 2009</a:t>
            </a:r>
            <a:endParaRPr/>
          </a:p>
        </p:txBody>
      </p:sp>
      <p:sp>
        <p:nvSpPr>
          <p:cNvPr id="343" name="Google Shape;343;p36"/>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7"/>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Bright Field and Dark Field in TEM</a:t>
            </a:r>
            <a:endParaRPr/>
          </a:p>
        </p:txBody>
      </p:sp>
      <p:pic>
        <p:nvPicPr>
          <p:cNvPr descr="img015" id="349" name="Google Shape;349;p37"/>
          <p:cNvPicPr preferRelativeResize="0"/>
          <p:nvPr/>
        </p:nvPicPr>
        <p:blipFill rotWithShape="1">
          <a:blip r:embed="rId3">
            <a:alphaModFix/>
          </a:blip>
          <a:srcRect b="0" l="0" r="0" t="0"/>
          <a:stretch/>
        </p:blipFill>
        <p:spPr>
          <a:xfrm rot="-60000">
            <a:off x="2157644" y="900887"/>
            <a:ext cx="7907288" cy="5591736"/>
          </a:xfrm>
          <a:prstGeom prst="rect">
            <a:avLst/>
          </a:prstGeom>
          <a:noFill/>
          <a:ln>
            <a:noFill/>
          </a:ln>
        </p:spPr>
      </p:pic>
      <p:grpSp>
        <p:nvGrpSpPr>
          <p:cNvPr id="350" name="Google Shape;350;p37"/>
          <p:cNvGrpSpPr/>
          <p:nvPr/>
        </p:nvGrpSpPr>
        <p:grpSpPr>
          <a:xfrm>
            <a:off x="2446161" y="883415"/>
            <a:ext cx="7537480" cy="5026287"/>
            <a:chOff x="2300561" y="1129896"/>
            <a:chExt cx="7537480" cy="4730227"/>
          </a:xfrm>
        </p:grpSpPr>
        <p:sp>
          <p:nvSpPr>
            <p:cNvPr id="351" name="Google Shape;351;p37"/>
            <p:cNvSpPr/>
            <p:nvPr/>
          </p:nvSpPr>
          <p:spPr>
            <a:xfrm>
              <a:off x="2300561" y="1129896"/>
              <a:ext cx="2615067" cy="4665187"/>
            </a:xfrm>
            <a:prstGeom prst="rect">
              <a:avLst/>
            </a:prstGeom>
            <a:noFill/>
            <a:ln cap="flat" cmpd="sng" w="381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2" name="Google Shape;352;p37"/>
            <p:cNvSpPr/>
            <p:nvPr/>
          </p:nvSpPr>
          <p:spPr>
            <a:xfrm>
              <a:off x="7222974" y="1194936"/>
              <a:ext cx="2615067" cy="4665187"/>
            </a:xfrm>
            <a:prstGeom prst="rect">
              <a:avLst/>
            </a:prstGeom>
            <a:noFill/>
            <a:ln cap="flat" cmpd="sng" w="381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53" name="Google Shape;353;p37"/>
          <p:cNvSpPr txBox="1"/>
          <p:nvPr/>
        </p:nvSpPr>
        <p:spPr>
          <a:xfrm>
            <a:off x="995939" y="2184076"/>
            <a:ext cx="17475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Bright Field</a:t>
            </a:r>
            <a:endParaRPr/>
          </a:p>
        </p:txBody>
      </p:sp>
      <p:sp>
        <p:nvSpPr>
          <p:cNvPr id="354" name="Google Shape;354;p37"/>
          <p:cNvSpPr txBox="1"/>
          <p:nvPr/>
        </p:nvSpPr>
        <p:spPr>
          <a:xfrm>
            <a:off x="10034356" y="2062739"/>
            <a:ext cx="17475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Dark Field</a:t>
            </a:r>
            <a:endParaRPr/>
          </a:p>
        </p:txBody>
      </p:sp>
      <p:sp>
        <p:nvSpPr>
          <p:cNvPr id="355" name="Google Shape;355;p37"/>
          <p:cNvSpPr txBox="1"/>
          <p:nvPr/>
        </p:nvSpPr>
        <p:spPr>
          <a:xfrm>
            <a:off x="979336" y="6459836"/>
            <a:ext cx="102333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Transmission Electron Microscopy, A textbook for Materials Science, David B Williams and C Barry Carter, Springer, 2</a:t>
            </a:r>
            <a:r>
              <a:rPr baseline="30000" lang="en-US" sz="1400">
                <a:solidFill>
                  <a:schemeClr val="dk1"/>
                </a:solidFill>
                <a:latin typeface="Calibri"/>
                <a:ea typeface="Calibri"/>
                <a:cs typeface="Calibri"/>
                <a:sym typeface="Calibri"/>
              </a:rPr>
              <a:t>nd</a:t>
            </a:r>
            <a:r>
              <a:rPr lang="en-US" sz="1400">
                <a:solidFill>
                  <a:schemeClr val="dk1"/>
                </a:solidFill>
                <a:latin typeface="Calibri"/>
                <a:ea typeface="Calibri"/>
                <a:cs typeface="Calibri"/>
                <a:sym typeface="Calibri"/>
              </a:rPr>
              <a:t> edition 2009</a:t>
            </a:r>
            <a:endParaRPr/>
          </a:p>
        </p:txBody>
      </p:sp>
      <p:sp>
        <p:nvSpPr>
          <p:cNvPr id="356" name="Google Shape;356;p37"/>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8"/>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STEM imaging</a:t>
            </a:r>
            <a:endParaRPr/>
          </a:p>
        </p:txBody>
      </p:sp>
      <p:pic>
        <p:nvPicPr>
          <p:cNvPr id="362" name="Google Shape;362;p38"/>
          <p:cNvPicPr preferRelativeResize="0"/>
          <p:nvPr/>
        </p:nvPicPr>
        <p:blipFill rotWithShape="1">
          <a:blip r:embed="rId3">
            <a:alphaModFix/>
          </a:blip>
          <a:srcRect b="0" l="0" r="0" t="0"/>
          <a:stretch/>
        </p:blipFill>
        <p:spPr>
          <a:xfrm>
            <a:off x="6875858" y="911584"/>
            <a:ext cx="4040981" cy="4120528"/>
          </a:xfrm>
          <a:prstGeom prst="rect">
            <a:avLst/>
          </a:prstGeom>
          <a:noFill/>
          <a:ln>
            <a:noFill/>
          </a:ln>
        </p:spPr>
      </p:pic>
      <p:sp>
        <p:nvSpPr>
          <p:cNvPr id="363" name="Google Shape;363;p38"/>
          <p:cNvSpPr txBox="1"/>
          <p:nvPr/>
        </p:nvSpPr>
        <p:spPr>
          <a:xfrm>
            <a:off x="877470" y="5845036"/>
            <a:ext cx="458364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 STEM mode the electron beam is scanned on an area of the sample and the selected detector collects the signal from each point</a:t>
            </a:r>
            <a:endParaRPr/>
          </a:p>
        </p:txBody>
      </p:sp>
      <p:sp>
        <p:nvSpPr>
          <p:cNvPr id="364" name="Google Shape;364;p38"/>
          <p:cNvSpPr txBox="1"/>
          <p:nvPr/>
        </p:nvSpPr>
        <p:spPr>
          <a:xfrm>
            <a:off x="6687872" y="5023086"/>
            <a:ext cx="4770023"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BF Bright Field detector</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ADF Annular Dark Field detector</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HAADF High Angle Annular Dark Field detector</a:t>
            </a:r>
            <a:endParaRPr/>
          </a:p>
        </p:txBody>
      </p:sp>
      <p:sp>
        <p:nvSpPr>
          <p:cNvPr id="365" name="Google Shape;365;p38"/>
          <p:cNvSpPr txBox="1"/>
          <p:nvPr/>
        </p:nvSpPr>
        <p:spPr>
          <a:xfrm>
            <a:off x="6823957" y="6091682"/>
            <a:ext cx="414478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Transmission Electron Microscopy, David Williams and Barry Carter, 2</a:t>
            </a:r>
            <a:r>
              <a:rPr baseline="30000" lang="en-US" sz="1400">
                <a:solidFill>
                  <a:schemeClr val="dk1"/>
                </a:solidFill>
                <a:latin typeface="Calibri"/>
                <a:ea typeface="Calibri"/>
                <a:cs typeface="Calibri"/>
                <a:sym typeface="Calibri"/>
              </a:rPr>
              <a:t>nd</a:t>
            </a:r>
            <a:r>
              <a:rPr lang="en-US" sz="1400">
                <a:solidFill>
                  <a:schemeClr val="dk1"/>
                </a:solidFill>
                <a:latin typeface="Calibri"/>
                <a:ea typeface="Calibri"/>
                <a:cs typeface="Calibri"/>
                <a:sym typeface="Calibri"/>
              </a:rPr>
              <a:t>ed. (2009)</a:t>
            </a:r>
            <a:endParaRPr/>
          </a:p>
        </p:txBody>
      </p:sp>
      <p:sp>
        <p:nvSpPr>
          <p:cNvPr id="366" name="Google Shape;366;p38"/>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367" name="Google Shape;367;p38"/>
          <p:cNvGrpSpPr/>
          <p:nvPr/>
        </p:nvGrpSpPr>
        <p:grpSpPr>
          <a:xfrm>
            <a:off x="877470" y="999332"/>
            <a:ext cx="3127515" cy="3942659"/>
            <a:chOff x="900150" y="1016161"/>
            <a:chExt cx="3127515" cy="3942659"/>
          </a:xfrm>
        </p:grpSpPr>
        <p:sp>
          <p:nvSpPr>
            <p:cNvPr id="368" name="Google Shape;368;p38"/>
            <p:cNvSpPr/>
            <p:nvPr/>
          </p:nvSpPr>
          <p:spPr>
            <a:xfrm>
              <a:off x="900150" y="1794279"/>
              <a:ext cx="3127515" cy="3164541"/>
            </a:xfrm>
            <a:prstGeom prst="ellipse">
              <a:avLst/>
            </a:prstGeom>
            <a:solidFill>
              <a:srgbClr val="82D6D4">
                <a:alpha val="2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69" name="Google Shape;369;p38"/>
            <p:cNvPicPr preferRelativeResize="0"/>
            <p:nvPr/>
          </p:nvPicPr>
          <p:blipFill rotWithShape="1">
            <a:blip r:embed="rId4">
              <a:alphaModFix/>
            </a:blip>
            <a:srcRect b="0" l="0" r="0" t="0"/>
            <a:stretch/>
          </p:blipFill>
          <p:spPr>
            <a:xfrm>
              <a:off x="2263215" y="1016161"/>
              <a:ext cx="401387" cy="1792379"/>
            </a:xfrm>
            <a:prstGeom prst="rect">
              <a:avLst/>
            </a:prstGeom>
            <a:noFill/>
            <a:ln>
              <a:noFill/>
            </a:ln>
          </p:spPr>
        </p:pic>
      </p:grpSp>
      <p:sp>
        <p:nvSpPr>
          <p:cNvPr id="370" name="Google Shape;370;p38"/>
          <p:cNvSpPr/>
          <p:nvPr/>
        </p:nvSpPr>
        <p:spPr>
          <a:xfrm>
            <a:off x="1611086" y="4480834"/>
            <a:ext cx="1942506" cy="955972"/>
          </a:xfrm>
          <a:prstGeom prst="donut">
            <a:avLst>
              <a:gd fmla="val 25000" name="adj"/>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38"/>
          <p:cNvSpPr txBox="1"/>
          <p:nvPr/>
        </p:nvSpPr>
        <p:spPr>
          <a:xfrm>
            <a:off x="4094647" y="4847446"/>
            <a:ext cx="16061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ADF detector</a:t>
            </a:r>
            <a:endParaRPr/>
          </a:p>
        </p:txBody>
      </p:sp>
      <p:sp>
        <p:nvSpPr>
          <p:cNvPr id="372" name="Google Shape;372;p38"/>
          <p:cNvSpPr/>
          <p:nvPr/>
        </p:nvSpPr>
        <p:spPr>
          <a:xfrm>
            <a:off x="1199626" y="2258344"/>
            <a:ext cx="3980406" cy="1203721"/>
          </a:xfrm>
          <a:prstGeom prst="cube">
            <a:avLst>
              <a:gd fmla="val 82564" name="adj"/>
            </a:avLst>
          </a:prstGeom>
          <a:solidFill>
            <a:srgbClr val="FFD757">
              <a:alpha val="43137"/>
            </a:srgbClr>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9"/>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NEOARM Specifics for  STEM Imaging</a:t>
            </a:r>
            <a:endParaRPr/>
          </a:p>
        </p:txBody>
      </p:sp>
      <p:sp>
        <p:nvSpPr>
          <p:cNvPr id="378" name="Google Shape;378;p39"/>
          <p:cNvSpPr/>
          <p:nvPr/>
        </p:nvSpPr>
        <p:spPr>
          <a:xfrm>
            <a:off x="3991675" y="1264435"/>
            <a:ext cx="6061938" cy="1285207"/>
          </a:xfrm>
          <a:prstGeom prst="rect">
            <a:avLst/>
          </a:prstGeom>
          <a:noFill/>
          <a:ln>
            <a:noFill/>
          </a:ln>
        </p:spPr>
        <p:txBody>
          <a:bodyPr anchorCtr="0" anchor="t" bIns="26775" lIns="26775" spcFirstLastPara="1" rIns="26775" wrap="square" tIns="26775">
            <a:noAutofit/>
          </a:bodyPr>
          <a:lstStyle/>
          <a:p>
            <a:pPr indent="0" lvl="0" marL="0" marR="0" rtl="0" algn="l">
              <a:spcBef>
                <a:spcPts val="0"/>
              </a:spcBef>
              <a:spcAft>
                <a:spcPts val="0"/>
              </a:spcAft>
              <a:buNone/>
            </a:pPr>
            <a:r>
              <a:rPr b="1" lang="en-US" sz="1600">
                <a:solidFill>
                  <a:schemeClr val="dk1"/>
                </a:solidFill>
                <a:latin typeface="Calibri"/>
                <a:ea typeface="Calibri"/>
                <a:cs typeface="Calibri"/>
                <a:sym typeface="Calibri"/>
              </a:rPr>
              <a:t>STEM Imaging Modes</a:t>
            </a:r>
            <a:endParaRPr sz="16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High-angle annular dark field (HAADF)</a:t>
            </a:r>
            <a:endParaRPr/>
          </a:p>
          <a:p>
            <a:pPr indent="-342900" lvl="0" marL="34290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Bright field (BF)</a:t>
            </a:r>
            <a:endParaRPr/>
          </a:p>
          <a:p>
            <a:pPr indent="-342900" lvl="0" marL="34290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Annular bright field (ABF)</a:t>
            </a:r>
            <a:endParaRPr/>
          </a:p>
          <a:p>
            <a:pPr indent="-241300" lvl="0" marL="342900" marR="0" rtl="0" algn="l">
              <a:spcBef>
                <a:spcPts val="0"/>
              </a:spcBef>
              <a:spcAft>
                <a:spcPts val="0"/>
              </a:spcAft>
              <a:buClr>
                <a:schemeClr val="dk1"/>
              </a:buClr>
              <a:buSzPts val="1600"/>
              <a:buFont typeface="Arial"/>
              <a:buNone/>
            </a:pPr>
            <a:r>
              <a:t/>
            </a:r>
            <a:endParaRPr sz="1600">
              <a:solidFill>
                <a:schemeClr val="dk1"/>
              </a:solidFill>
              <a:latin typeface="Calibri"/>
              <a:ea typeface="Calibri"/>
              <a:cs typeface="Calibri"/>
              <a:sym typeface="Calibri"/>
            </a:endParaRPr>
          </a:p>
        </p:txBody>
      </p:sp>
      <p:grpSp>
        <p:nvGrpSpPr>
          <p:cNvPr id="379" name="Google Shape;379;p39"/>
          <p:cNvGrpSpPr/>
          <p:nvPr/>
        </p:nvGrpSpPr>
        <p:grpSpPr>
          <a:xfrm>
            <a:off x="3824482" y="2696061"/>
            <a:ext cx="2704000" cy="2956588"/>
            <a:chOff x="2425545" y="2180691"/>
            <a:chExt cx="2704000" cy="2956588"/>
          </a:xfrm>
        </p:grpSpPr>
        <p:pic>
          <p:nvPicPr>
            <p:cNvPr descr="D:\research_files\0000_SAAF\0001_実験\0004_アプリケーションデータ\20170818_CoParticle_MARS\Gatan\P13_good\PACBED.bmp" id="380" name="Google Shape;380;p39"/>
            <p:cNvPicPr preferRelativeResize="0"/>
            <p:nvPr/>
          </p:nvPicPr>
          <p:blipFill rotWithShape="1">
            <a:blip r:embed="rId3">
              <a:alphaModFix/>
            </a:blip>
            <a:srcRect b="0" l="0" r="0" t="0"/>
            <a:stretch/>
          </p:blipFill>
          <p:spPr>
            <a:xfrm>
              <a:off x="2429545" y="2437279"/>
              <a:ext cx="2700000" cy="2700000"/>
            </a:xfrm>
            <a:prstGeom prst="rect">
              <a:avLst/>
            </a:prstGeom>
            <a:noFill/>
            <a:ln>
              <a:noFill/>
            </a:ln>
          </p:spPr>
        </p:pic>
        <p:sp>
          <p:nvSpPr>
            <p:cNvPr id="381" name="Google Shape;381;p39"/>
            <p:cNvSpPr txBox="1"/>
            <p:nvPr/>
          </p:nvSpPr>
          <p:spPr>
            <a:xfrm>
              <a:off x="2425545" y="2180691"/>
              <a:ext cx="2699999"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u="sng">
                  <a:solidFill>
                    <a:srgbClr val="3F3F3F"/>
                  </a:solidFill>
                  <a:latin typeface="Calibri"/>
                  <a:ea typeface="Calibri"/>
                  <a:cs typeface="Calibri"/>
                  <a:sym typeface="Calibri"/>
                </a:rPr>
                <a:t>Diffraction Pattern (STEM)</a:t>
              </a:r>
              <a:endParaRPr b="1" sz="1200" u="sng">
                <a:solidFill>
                  <a:srgbClr val="3F3F3F"/>
                </a:solidFill>
                <a:latin typeface="Calibri"/>
                <a:ea typeface="Calibri"/>
                <a:cs typeface="Calibri"/>
                <a:sym typeface="Calibri"/>
              </a:endParaRPr>
            </a:p>
          </p:txBody>
        </p:sp>
        <p:sp>
          <p:nvSpPr>
            <p:cNvPr id="382" name="Google Shape;382;p39"/>
            <p:cNvSpPr/>
            <p:nvPr/>
          </p:nvSpPr>
          <p:spPr>
            <a:xfrm>
              <a:off x="2519272" y="2461008"/>
              <a:ext cx="2563713" cy="2563713"/>
            </a:xfrm>
            <a:prstGeom prst="donut">
              <a:avLst>
                <a:gd fmla="val 17785" name="adj"/>
              </a:avLst>
            </a:prstGeom>
            <a:solidFill>
              <a:srgbClr val="FF0000">
                <a:alpha val="60000"/>
              </a:srgbClr>
            </a:solidFill>
            <a:ln cap="flat" cmpd="sng" w="19050">
              <a:solidFill>
                <a:srgbClr val="0070C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383" name="Google Shape;383;p39"/>
            <p:cNvSpPr/>
            <p:nvPr/>
          </p:nvSpPr>
          <p:spPr>
            <a:xfrm>
              <a:off x="3631964" y="3566557"/>
              <a:ext cx="324036" cy="324036"/>
            </a:xfrm>
            <a:prstGeom prst="ellipse">
              <a:avLst/>
            </a:prstGeom>
            <a:solidFill>
              <a:srgbClr val="0070C0">
                <a:alpha val="60000"/>
              </a:srgbClr>
            </a:solidFill>
            <a:ln cap="flat" cmpd="sng" w="19050">
              <a:solidFill>
                <a:srgbClr val="0070C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384" name="Google Shape;384;p39"/>
            <p:cNvSpPr/>
            <p:nvPr/>
          </p:nvSpPr>
          <p:spPr>
            <a:xfrm>
              <a:off x="3134955" y="3086216"/>
              <a:ext cx="1299009" cy="1299009"/>
            </a:xfrm>
            <a:prstGeom prst="donut">
              <a:avLst>
                <a:gd fmla="val 22184" name="adj"/>
              </a:avLst>
            </a:prstGeom>
            <a:solidFill>
              <a:srgbClr val="00B050">
                <a:alpha val="60000"/>
              </a:srgbClr>
            </a:solidFill>
            <a:ln cap="flat" cmpd="sng" w="19050">
              <a:solidFill>
                <a:srgbClr val="0070C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grpSp>
      <p:sp>
        <p:nvSpPr>
          <p:cNvPr id="385" name="Google Shape;385;p39"/>
          <p:cNvSpPr txBox="1"/>
          <p:nvPr/>
        </p:nvSpPr>
        <p:spPr>
          <a:xfrm>
            <a:off x="12601575" y="1208012"/>
            <a:ext cx="12824" cy="212879"/>
          </a:xfrm>
          <a:prstGeom prst="rect">
            <a:avLst/>
          </a:prstGeom>
          <a:noFill/>
          <a:ln>
            <a:noFill/>
          </a:ln>
        </p:spPr>
        <p:txBody>
          <a:bodyPr anchorCtr="0" anchor="ctr" bIns="0" lIns="0" spcFirstLastPara="1" rIns="0" wrap="square" tIns="12700">
            <a:spAutoFit/>
          </a:bodyPr>
          <a:lstStyle/>
          <a:p>
            <a:pPr indent="0" lvl="0" marL="12700" marR="0" rtl="0" algn="l">
              <a:spcBef>
                <a:spcPts val="0"/>
              </a:spcBef>
              <a:spcAft>
                <a:spcPts val="0"/>
              </a:spcAft>
              <a:buNone/>
            </a:pPr>
            <a:r>
              <a:t/>
            </a:r>
            <a:endParaRPr sz="1300">
              <a:solidFill>
                <a:srgbClr val="323232"/>
              </a:solidFill>
              <a:latin typeface="Meiryo"/>
              <a:ea typeface="Meiryo"/>
              <a:cs typeface="Meiryo"/>
              <a:sym typeface="Meiryo"/>
            </a:endParaRPr>
          </a:p>
        </p:txBody>
      </p:sp>
      <p:grpSp>
        <p:nvGrpSpPr>
          <p:cNvPr id="386" name="Google Shape;386;p39"/>
          <p:cNvGrpSpPr/>
          <p:nvPr/>
        </p:nvGrpSpPr>
        <p:grpSpPr>
          <a:xfrm>
            <a:off x="6688652" y="2418213"/>
            <a:ext cx="4060794" cy="2453212"/>
            <a:chOff x="5291836" y="1896059"/>
            <a:chExt cx="4060794" cy="2453212"/>
          </a:xfrm>
        </p:grpSpPr>
        <p:sp>
          <p:nvSpPr>
            <p:cNvPr id="387" name="Google Shape;387;p39"/>
            <p:cNvSpPr txBox="1"/>
            <p:nvPr/>
          </p:nvSpPr>
          <p:spPr>
            <a:xfrm>
              <a:off x="5312977" y="1896059"/>
              <a:ext cx="275430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HAADF</a:t>
              </a:r>
              <a:r>
                <a:rPr lang="en-US" sz="1800">
                  <a:solidFill>
                    <a:srgbClr val="FF0000"/>
                  </a:solidFill>
                  <a:latin typeface="Calibri"/>
                  <a:ea typeface="Calibri"/>
                  <a:cs typeface="Calibri"/>
                  <a:sym typeface="Calibri"/>
                </a:rPr>
                <a:t>:</a:t>
              </a:r>
              <a:endParaRPr/>
            </a:p>
            <a:p>
              <a:pPr indent="0" lvl="0" marL="0" marR="0" rtl="0" algn="l">
                <a:spcBef>
                  <a:spcPts val="0"/>
                </a:spcBef>
                <a:spcAft>
                  <a:spcPts val="0"/>
                </a:spcAft>
                <a:buNone/>
              </a:pPr>
              <a:r>
                <a:rPr lang="en-US" sz="1500">
                  <a:solidFill>
                    <a:srgbClr val="3F3F3F"/>
                  </a:solidFill>
                  <a:latin typeface="Calibri"/>
                  <a:ea typeface="Calibri"/>
                  <a:cs typeface="Calibri"/>
                  <a:sym typeface="Calibri"/>
                </a:rPr>
                <a:t>	Z-contrast</a:t>
              </a:r>
              <a:endParaRPr sz="1500">
                <a:solidFill>
                  <a:srgbClr val="3F3F3F"/>
                </a:solidFill>
                <a:latin typeface="Calibri"/>
                <a:ea typeface="Calibri"/>
                <a:cs typeface="Calibri"/>
                <a:sym typeface="Calibri"/>
              </a:endParaRPr>
            </a:p>
            <a:p>
              <a:pPr indent="0" lvl="0" marL="0" marR="0" rtl="0" algn="l">
                <a:spcBef>
                  <a:spcPts val="0"/>
                </a:spcBef>
                <a:spcAft>
                  <a:spcPts val="0"/>
                </a:spcAft>
                <a:buNone/>
              </a:pPr>
              <a:r>
                <a:rPr lang="en-US" sz="1500">
                  <a:solidFill>
                    <a:srgbClr val="3F3F3F"/>
                  </a:solidFill>
                  <a:latin typeface="Calibri"/>
                  <a:ea typeface="Calibri"/>
                  <a:cs typeface="Calibri"/>
                  <a:sym typeface="Calibri"/>
                </a:rPr>
                <a:t>	Robust, easy to understand</a:t>
              </a:r>
              <a:endParaRPr sz="1500">
                <a:solidFill>
                  <a:srgbClr val="3F3F3F"/>
                </a:solidFill>
                <a:latin typeface="Calibri"/>
                <a:ea typeface="Calibri"/>
                <a:cs typeface="Calibri"/>
                <a:sym typeface="Calibri"/>
              </a:endParaRPr>
            </a:p>
          </p:txBody>
        </p:sp>
        <p:sp>
          <p:nvSpPr>
            <p:cNvPr id="388" name="Google Shape;388;p39"/>
            <p:cNvSpPr txBox="1"/>
            <p:nvPr/>
          </p:nvSpPr>
          <p:spPr>
            <a:xfrm>
              <a:off x="5321461" y="2715640"/>
              <a:ext cx="394649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accent1"/>
                  </a:solidFill>
                  <a:latin typeface="Calibri"/>
                  <a:ea typeface="Calibri"/>
                  <a:cs typeface="Calibri"/>
                  <a:sym typeface="Calibri"/>
                </a:rPr>
                <a:t>BF</a:t>
              </a:r>
              <a:r>
                <a:rPr lang="en-US" sz="1800">
                  <a:solidFill>
                    <a:srgbClr val="3F3F3F"/>
                  </a:solidFill>
                  <a:latin typeface="Calibri"/>
                  <a:ea typeface="Calibri"/>
                  <a:cs typeface="Calibri"/>
                  <a:sym typeface="Calibri"/>
                </a:rPr>
                <a:t>:</a:t>
              </a:r>
              <a:endParaRPr/>
            </a:p>
            <a:p>
              <a:pPr indent="0" lvl="0" marL="0" marR="0" rtl="0" algn="l">
                <a:spcBef>
                  <a:spcPts val="0"/>
                </a:spcBef>
                <a:spcAft>
                  <a:spcPts val="0"/>
                </a:spcAft>
                <a:buNone/>
              </a:pPr>
              <a:r>
                <a:rPr lang="en-US" sz="1500">
                  <a:solidFill>
                    <a:srgbClr val="3F3F3F"/>
                  </a:solidFill>
                  <a:latin typeface="Calibri"/>
                  <a:ea typeface="Calibri"/>
                  <a:cs typeface="Calibri"/>
                  <a:sym typeface="Calibri"/>
                </a:rPr>
                <a:t>	Close to conventional TEM</a:t>
              </a:r>
              <a:endParaRPr/>
            </a:p>
            <a:p>
              <a:pPr indent="0" lvl="0" marL="0" marR="0" rtl="0" algn="l">
                <a:spcBef>
                  <a:spcPts val="0"/>
                </a:spcBef>
                <a:spcAft>
                  <a:spcPts val="0"/>
                </a:spcAft>
                <a:buNone/>
              </a:pPr>
              <a:r>
                <a:rPr lang="en-US" sz="1500">
                  <a:solidFill>
                    <a:srgbClr val="3F3F3F"/>
                  </a:solidFill>
                  <a:latin typeface="Calibri"/>
                  <a:ea typeface="Calibri"/>
                  <a:cs typeface="Calibri"/>
                  <a:sym typeface="Calibri"/>
                </a:rPr>
                <a:t>	Phase Contrast (not straightforward)</a:t>
              </a:r>
              <a:endParaRPr sz="1500">
                <a:solidFill>
                  <a:srgbClr val="3F3F3F"/>
                </a:solidFill>
                <a:latin typeface="Calibri"/>
                <a:ea typeface="Calibri"/>
                <a:cs typeface="Calibri"/>
                <a:sym typeface="Calibri"/>
              </a:endParaRPr>
            </a:p>
          </p:txBody>
        </p:sp>
        <p:sp>
          <p:nvSpPr>
            <p:cNvPr id="389" name="Google Shape;389;p39"/>
            <p:cNvSpPr txBox="1"/>
            <p:nvPr/>
          </p:nvSpPr>
          <p:spPr>
            <a:xfrm>
              <a:off x="5291836" y="3518274"/>
              <a:ext cx="406079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050"/>
                  </a:solidFill>
                  <a:latin typeface="Calibri"/>
                  <a:ea typeface="Calibri"/>
                  <a:cs typeface="Calibri"/>
                  <a:sym typeface="Calibri"/>
                </a:rPr>
                <a:t>ABF</a:t>
              </a:r>
              <a:r>
                <a:rPr lang="en-US" sz="1800">
                  <a:solidFill>
                    <a:srgbClr val="00B050"/>
                  </a:solidFill>
                  <a:latin typeface="Calibri"/>
                  <a:ea typeface="Calibri"/>
                  <a:cs typeface="Calibri"/>
                  <a:sym typeface="Calibri"/>
                </a:rPr>
                <a:t>:</a:t>
              </a:r>
              <a:endParaRPr/>
            </a:p>
            <a:p>
              <a:pPr indent="0" lvl="0" marL="0" marR="0" rtl="0" algn="l">
                <a:spcBef>
                  <a:spcPts val="0"/>
                </a:spcBef>
                <a:spcAft>
                  <a:spcPts val="0"/>
                </a:spcAft>
                <a:buNone/>
              </a:pPr>
              <a:r>
                <a:rPr lang="en-US" sz="1500">
                  <a:solidFill>
                    <a:srgbClr val="3F3F3F"/>
                  </a:solidFill>
                  <a:latin typeface="Calibri"/>
                  <a:ea typeface="Calibri"/>
                  <a:cs typeface="Calibri"/>
                  <a:sym typeface="Calibri"/>
                </a:rPr>
                <a:t>	Enhanced contrast for light elements</a:t>
              </a:r>
              <a:endParaRPr sz="1500">
                <a:solidFill>
                  <a:srgbClr val="3F3F3F"/>
                </a:solidFill>
                <a:latin typeface="Calibri"/>
                <a:ea typeface="Calibri"/>
                <a:cs typeface="Calibri"/>
                <a:sym typeface="Calibri"/>
              </a:endParaRPr>
            </a:p>
            <a:p>
              <a:pPr indent="0" lvl="0" marL="0" marR="0" rtl="0" algn="l">
                <a:spcBef>
                  <a:spcPts val="0"/>
                </a:spcBef>
                <a:spcAft>
                  <a:spcPts val="0"/>
                </a:spcAft>
                <a:buNone/>
              </a:pPr>
              <a:r>
                <a:rPr lang="en-US" sz="1500">
                  <a:solidFill>
                    <a:srgbClr val="3F3F3F"/>
                  </a:solidFill>
                  <a:latin typeface="Calibri"/>
                  <a:ea typeface="Calibri"/>
                  <a:cs typeface="Calibri"/>
                  <a:sym typeface="Calibri"/>
                </a:rPr>
                <a:t>	Robust, easy to understand</a:t>
              </a:r>
              <a:endParaRPr sz="1500">
                <a:solidFill>
                  <a:srgbClr val="3F3F3F"/>
                </a:solidFill>
                <a:latin typeface="Calibri"/>
                <a:ea typeface="Calibri"/>
                <a:cs typeface="Calibri"/>
                <a:sym typeface="Calibri"/>
              </a:endParaRPr>
            </a:p>
          </p:txBody>
        </p:sp>
      </p:grpSp>
      <p:grpSp>
        <p:nvGrpSpPr>
          <p:cNvPr id="390" name="Google Shape;390;p39"/>
          <p:cNvGrpSpPr/>
          <p:nvPr/>
        </p:nvGrpSpPr>
        <p:grpSpPr>
          <a:xfrm>
            <a:off x="10211907" y="1826623"/>
            <a:ext cx="1775269" cy="3462273"/>
            <a:chOff x="8815091" y="1304469"/>
            <a:chExt cx="1775269" cy="3462273"/>
          </a:xfrm>
        </p:grpSpPr>
        <p:pic>
          <p:nvPicPr>
            <p:cNvPr id="391" name="Google Shape;391;p39"/>
            <p:cNvPicPr preferRelativeResize="0"/>
            <p:nvPr/>
          </p:nvPicPr>
          <p:blipFill rotWithShape="1">
            <a:blip r:embed="rId4">
              <a:alphaModFix/>
            </a:blip>
            <a:srcRect b="0" l="0" r="0" t="0"/>
            <a:stretch/>
          </p:blipFill>
          <p:spPr>
            <a:xfrm>
              <a:off x="8848547" y="3316319"/>
              <a:ext cx="1374484" cy="1374484"/>
            </a:xfrm>
            <a:prstGeom prst="rect">
              <a:avLst/>
            </a:prstGeom>
            <a:noFill/>
            <a:ln>
              <a:noFill/>
            </a:ln>
          </p:spPr>
        </p:pic>
        <p:pic>
          <p:nvPicPr>
            <p:cNvPr id="392" name="Google Shape;392;p39"/>
            <p:cNvPicPr preferRelativeResize="0"/>
            <p:nvPr/>
          </p:nvPicPr>
          <p:blipFill rotWithShape="1">
            <a:blip r:embed="rId5">
              <a:alphaModFix/>
            </a:blip>
            <a:srcRect b="0" l="0" r="0" t="0"/>
            <a:stretch/>
          </p:blipFill>
          <p:spPr>
            <a:xfrm>
              <a:off x="8851934" y="1711731"/>
              <a:ext cx="1374484" cy="1374484"/>
            </a:xfrm>
            <a:prstGeom prst="rect">
              <a:avLst/>
            </a:prstGeom>
            <a:noFill/>
            <a:ln>
              <a:noFill/>
            </a:ln>
          </p:spPr>
        </p:pic>
        <p:grpSp>
          <p:nvGrpSpPr>
            <p:cNvPr id="393" name="Google Shape;393;p39"/>
            <p:cNvGrpSpPr/>
            <p:nvPr/>
          </p:nvGrpSpPr>
          <p:grpSpPr>
            <a:xfrm rot="5400000">
              <a:off x="9716590" y="2258645"/>
              <a:ext cx="1439877" cy="305108"/>
              <a:chOff x="7381697" y="1373016"/>
              <a:chExt cx="1439877" cy="305108"/>
            </a:xfrm>
          </p:grpSpPr>
          <p:sp>
            <p:nvSpPr>
              <p:cNvPr id="394" name="Google Shape;394;p39"/>
              <p:cNvSpPr/>
              <p:nvPr/>
            </p:nvSpPr>
            <p:spPr>
              <a:xfrm>
                <a:off x="7387284" y="1419075"/>
                <a:ext cx="1374484" cy="202754"/>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95" name="Google Shape;395;p39"/>
              <p:cNvSpPr/>
              <p:nvPr/>
            </p:nvSpPr>
            <p:spPr>
              <a:xfrm>
                <a:off x="8507069" y="1384720"/>
                <a:ext cx="120015" cy="271463"/>
              </a:xfrm>
              <a:custGeom>
                <a:rect b="b" l="l" r="r" t="t"/>
                <a:pathLst>
                  <a:path extrusionOk="0" h="361950" w="160020">
                    <a:moveTo>
                      <a:pt x="7620" y="0"/>
                    </a:moveTo>
                    <a:lnTo>
                      <a:pt x="160020" y="179070"/>
                    </a:lnTo>
                    <a:lnTo>
                      <a:pt x="0" y="361950"/>
                    </a:lnTo>
                  </a:path>
                </a:pathLst>
              </a:custGeom>
              <a:noFill/>
              <a:ln cap="flat" cmpd="sng" w="508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96" name="Google Shape;396;p39"/>
              <p:cNvSpPr/>
              <p:nvPr/>
            </p:nvSpPr>
            <p:spPr>
              <a:xfrm>
                <a:off x="8655435" y="1384720"/>
                <a:ext cx="120015" cy="271463"/>
              </a:xfrm>
              <a:custGeom>
                <a:rect b="b" l="l" r="r" t="t"/>
                <a:pathLst>
                  <a:path extrusionOk="0" h="361950" w="160020">
                    <a:moveTo>
                      <a:pt x="7620" y="0"/>
                    </a:moveTo>
                    <a:lnTo>
                      <a:pt x="160020" y="179070"/>
                    </a:lnTo>
                    <a:lnTo>
                      <a:pt x="0" y="361950"/>
                    </a:lnTo>
                  </a:path>
                </a:pathLst>
              </a:custGeom>
              <a:noFill/>
              <a:ln cap="flat" cmpd="sng" w="508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97" name="Google Shape;397;p39"/>
              <p:cNvSpPr/>
              <p:nvPr/>
            </p:nvSpPr>
            <p:spPr>
              <a:xfrm rot="-2447107">
                <a:off x="8717240" y="1390780"/>
                <a:ext cx="86570" cy="865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98" name="Google Shape;398;p39"/>
              <p:cNvSpPr/>
              <p:nvPr/>
            </p:nvSpPr>
            <p:spPr>
              <a:xfrm rot="-2584569">
                <a:off x="8708668" y="1573660"/>
                <a:ext cx="86570" cy="865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99" name="Google Shape;399;p39"/>
              <p:cNvSpPr txBox="1"/>
              <p:nvPr/>
            </p:nvSpPr>
            <p:spPr>
              <a:xfrm>
                <a:off x="7381697" y="1405035"/>
                <a:ext cx="1213815" cy="2539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50">
                    <a:solidFill>
                      <a:srgbClr val="FFFFFF"/>
                    </a:solidFill>
                    <a:latin typeface="Calibri"/>
                    <a:ea typeface="Calibri"/>
                    <a:cs typeface="Calibri"/>
                    <a:sym typeface="Calibri"/>
                  </a:rPr>
                  <a:t>Z Contrast</a:t>
                </a:r>
                <a:endParaRPr b="1" sz="1050">
                  <a:solidFill>
                    <a:srgbClr val="FFFFFF"/>
                  </a:solidFill>
                  <a:latin typeface="Calibri"/>
                  <a:ea typeface="Calibri"/>
                  <a:cs typeface="Calibri"/>
                  <a:sym typeface="Calibri"/>
                </a:endParaRPr>
              </a:p>
            </p:txBody>
          </p:sp>
        </p:grpSp>
        <p:grpSp>
          <p:nvGrpSpPr>
            <p:cNvPr id="400" name="Google Shape;400;p39"/>
            <p:cNvGrpSpPr/>
            <p:nvPr/>
          </p:nvGrpSpPr>
          <p:grpSpPr>
            <a:xfrm rot="5400000">
              <a:off x="9717867" y="3894249"/>
              <a:ext cx="1439878" cy="305108"/>
              <a:chOff x="7381470" y="2977604"/>
              <a:chExt cx="1439878" cy="305108"/>
            </a:xfrm>
          </p:grpSpPr>
          <p:grpSp>
            <p:nvGrpSpPr>
              <p:cNvPr id="401" name="Google Shape;401;p39"/>
              <p:cNvGrpSpPr/>
              <p:nvPr/>
            </p:nvGrpSpPr>
            <p:grpSpPr>
              <a:xfrm>
                <a:off x="7387058" y="2977604"/>
                <a:ext cx="1434290" cy="305108"/>
                <a:chOff x="907044" y="4166130"/>
                <a:chExt cx="1912386" cy="406810"/>
              </a:xfrm>
            </p:grpSpPr>
            <p:sp>
              <p:nvSpPr>
                <p:cNvPr id="402" name="Google Shape;402;p39"/>
                <p:cNvSpPr/>
                <p:nvPr/>
              </p:nvSpPr>
              <p:spPr>
                <a:xfrm>
                  <a:off x="907044" y="4227541"/>
                  <a:ext cx="1832645" cy="270338"/>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03" name="Google Shape;403;p39"/>
                <p:cNvSpPr/>
                <p:nvPr/>
              </p:nvSpPr>
              <p:spPr>
                <a:xfrm>
                  <a:off x="2400091" y="4181735"/>
                  <a:ext cx="160020" cy="361950"/>
                </a:xfrm>
                <a:custGeom>
                  <a:rect b="b" l="l" r="r" t="t"/>
                  <a:pathLst>
                    <a:path extrusionOk="0" h="361950" w="160020">
                      <a:moveTo>
                        <a:pt x="7620" y="0"/>
                      </a:moveTo>
                      <a:lnTo>
                        <a:pt x="160020" y="179070"/>
                      </a:lnTo>
                      <a:lnTo>
                        <a:pt x="0" y="361950"/>
                      </a:lnTo>
                    </a:path>
                  </a:pathLst>
                </a:custGeom>
                <a:noFill/>
                <a:ln cap="flat" cmpd="sng" w="508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04" name="Google Shape;404;p39"/>
                <p:cNvSpPr/>
                <p:nvPr/>
              </p:nvSpPr>
              <p:spPr>
                <a:xfrm>
                  <a:off x="2597912" y="4181735"/>
                  <a:ext cx="160020" cy="361950"/>
                </a:xfrm>
                <a:custGeom>
                  <a:rect b="b" l="l" r="r" t="t"/>
                  <a:pathLst>
                    <a:path extrusionOk="0" h="361950" w="160020">
                      <a:moveTo>
                        <a:pt x="7620" y="0"/>
                      </a:moveTo>
                      <a:lnTo>
                        <a:pt x="160020" y="179070"/>
                      </a:lnTo>
                      <a:lnTo>
                        <a:pt x="0" y="361950"/>
                      </a:lnTo>
                    </a:path>
                  </a:pathLst>
                </a:custGeom>
                <a:noFill/>
                <a:ln cap="flat" cmpd="sng" w="508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05" name="Google Shape;405;p39"/>
                <p:cNvSpPr/>
                <p:nvPr/>
              </p:nvSpPr>
              <p:spPr>
                <a:xfrm rot="-2447107">
                  <a:off x="2680319" y="4189815"/>
                  <a:ext cx="115426" cy="11542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06" name="Google Shape;406;p39"/>
                <p:cNvSpPr/>
                <p:nvPr/>
              </p:nvSpPr>
              <p:spPr>
                <a:xfrm rot="-2584569">
                  <a:off x="2668889" y="4433655"/>
                  <a:ext cx="115426" cy="11542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sp>
            <p:nvSpPr>
              <p:cNvPr id="407" name="Google Shape;407;p39"/>
              <p:cNvSpPr txBox="1"/>
              <p:nvPr/>
            </p:nvSpPr>
            <p:spPr>
              <a:xfrm>
                <a:off x="7381470" y="3009623"/>
                <a:ext cx="1213815" cy="2539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50">
                    <a:solidFill>
                      <a:srgbClr val="FFFFFF"/>
                    </a:solidFill>
                    <a:latin typeface="Calibri"/>
                    <a:ea typeface="Calibri"/>
                    <a:cs typeface="Calibri"/>
                    <a:sym typeface="Calibri"/>
                  </a:rPr>
                  <a:t>Light Element</a:t>
                </a:r>
                <a:endParaRPr b="1" sz="1050">
                  <a:solidFill>
                    <a:srgbClr val="FFFFFF"/>
                  </a:solidFill>
                  <a:latin typeface="Calibri"/>
                  <a:ea typeface="Calibri"/>
                  <a:cs typeface="Calibri"/>
                  <a:sym typeface="Calibri"/>
                </a:endParaRPr>
              </a:p>
            </p:txBody>
          </p:sp>
        </p:grpSp>
        <p:sp>
          <p:nvSpPr>
            <p:cNvPr id="408" name="Google Shape;408;p39"/>
            <p:cNvSpPr txBox="1"/>
            <p:nvPr/>
          </p:nvSpPr>
          <p:spPr>
            <a:xfrm>
              <a:off x="8819064" y="1684505"/>
              <a:ext cx="63671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FFFFFF"/>
                  </a:solidFill>
                  <a:latin typeface="Calibri"/>
                  <a:ea typeface="Calibri"/>
                  <a:cs typeface="Calibri"/>
                  <a:sym typeface="Calibri"/>
                </a:rPr>
                <a:t>HAADF</a:t>
              </a:r>
              <a:endParaRPr b="1" sz="1200">
                <a:solidFill>
                  <a:srgbClr val="FFFFFF"/>
                </a:solidFill>
                <a:latin typeface="Calibri"/>
                <a:ea typeface="Calibri"/>
                <a:cs typeface="Calibri"/>
                <a:sym typeface="Calibri"/>
              </a:endParaRPr>
            </a:p>
          </p:txBody>
        </p:sp>
        <p:sp>
          <p:nvSpPr>
            <p:cNvPr id="409" name="Google Shape;409;p39"/>
            <p:cNvSpPr txBox="1"/>
            <p:nvPr/>
          </p:nvSpPr>
          <p:spPr>
            <a:xfrm>
              <a:off x="8815091" y="3289093"/>
              <a:ext cx="43473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FFFFFF"/>
                  </a:solidFill>
                  <a:latin typeface="Calibri"/>
                  <a:ea typeface="Calibri"/>
                  <a:cs typeface="Calibri"/>
                  <a:sym typeface="Calibri"/>
                </a:rPr>
                <a:t>ABF</a:t>
              </a:r>
              <a:endParaRPr b="1" sz="1200">
                <a:solidFill>
                  <a:srgbClr val="FFFFFF"/>
                </a:solidFill>
                <a:latin typeface="Calibri"/>
                <a:ea typeface="Calibri"/>
                <a:cs typeface="Calibri"/>
                <a:sym typeface="Calibri"/>
              </a:endParaRPr>
            </a:p>
          </p:txBody>
        </p:sp>
        <p:grpSp>
          <p:nvGrpSpPr>
            <p:cNvPr id="410" name="Google Shape;410;p39"/>
            <p:cNvGrpSpPr/>
            <p:nvPr/>
          </p:nvGrpSpPr>
          <p:grpSpPr>
            <a:xfrm>
              <a:off x="8970184" y="1743299"/>
              <a:ext cx="1071678" cy="720510"/>
              <a:chOff x="1122166" y="1224435"/>
              <a:chExt cx="1305441" cy="877673"/>
            </a:xfrm>
          </p:grpSpPr>
          <p:sp>
            <p:nvSpPr>
              <p:cNvPr id="411" name="Google Shape;411;p39"/>
              <p:cNvSpPr/>
              <p:nvPr/>
            </p:nvSpPr>
            <p:spPr>
              <a:xfrm>
                <a:off x="1748559" y="1563847"/>
                <a:ext cx="144016" cy="144016"/>
              </a:xfrm>
              <a:prstGeom prst="ellipse">
                <a:avLst/>
              </a:prstGeom>
              <a:gradFill>
                <a:gsLst>
                  <a:gs pos="0">
                    <a:srgbClr val="992D2B"/>
                  </a:gs>
                  <a:gs pos="80000">
                    <a:srgbClr val="C93D39"/>
                  </a:gs>
                  <a:gs pos="100000">
                    <a:srgbClr val="CD3A36"/>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12" name="Google Shape;412;p39"/>
              <p:cNvSpPr/>
              <p:nvPr/>
            </p:nvSpPr>
            <p:spPr>
              <a:xfrm>
                <a:off x="1754210" y="1759242"/>
                <a:ext cx="144016" cy="144016"/>
              </a:xfrm>
              <a:prstGeom prst="ellipse">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13" name="Google Shape;413;p39"/>
              <p:cNvSpPr/>
              <p:nvPr/>
            </p:nvSpPr>
            <p:spPr>
              <a:xfrm>
                <a:off x="1945052" y="1748971"/>
                <a:ext cx="144016" cy="144016"/>
              </a:xfrm>
              <a:prstGeom prst="ellipse">
                <a:avLst/>
              </a:prstGeom>
              <a:gradFill>
                <a:gsLst>
                  <a:gs pos="0">
                    <a:srgbClr val="29859E"/>
                  </a:gs>
                  <a:gs pos="80000">
                    <a:srgbClr val="36B0D0"/>
                  </a:gs>
                  <a:gs pos="100000">
                    <a:srgbClr val="33B3D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14" name="Google Shape;414;p39"/>
              <p:cNvSpPr/>
              <p:nvPr/>
            </p:nvSpPr>
            <p:spPr>
              <a:xfrm>
                <a:off x="2141349" y="1557578"/>
                <a:ext cx="144016" cy="144016"/>
              </a:xfrm>
              <a:prstGeom prst="ellipse">
                <a:avLst/>
              </a:prstGeom>
              <a:gradFill>
                <a:gsLst>
                  <a:gs pos="0">
                    <a:srgbClr val="992D2B"/>
                  </a:gs>
                  <a:gs pos="80000">
                    <a:srgbClr val="C93D39"/>
                  </a:gs>
                  <a:gs pos="100000">
                    <a:srgbClr val="CD3A36"/>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15" name="Google Shape;415;p39"/>
              <p:cNvSpPr/>
              <p:nvPr/>
            </p:nvSpPr>
            <p:spPr>
              <a:xfrm>
                <a:off x="2146340" y="1958092"/>
                <a:ext cx="144016" cy="144016"/>
              </a:xfrm>
              <a:prstGeom prst="ellipse">
                <a:avLst/>
              </a:prstGeom>
              <a:gradFill>
                <a:gsLst>
                  <a:gs pos="0">
                    <a:srgbClr val="992D2B"/>
                  </a:gs>
                  <a:gs pos="80000">
                    <a:srgbClr val="C93D39"/>
                  </a:gs>
                  <a:gs pos="100000">
                    <a:srgbClr val="CD3A36"/>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16" name="Google Shape;416;p39"/>
              <p:cNvSpPr/>
              <p:nvPr/>
            </p:nvSpPr>
            <p:spPr>
              <a:xfrm>
                <a:off x="1756210" y="1954637"/>
                <a:ext cx="144016" cy="144016"/>
              </a:xfrm>
              <a:prstGeom prst="ellipse">
                <a:avLst/>
              </a:prstGeom>
              <a:gradFill>
                <a:gsLst>
                  <a:gs pos="0">
                    <a:srgbClr val="992D2B"/>
                  </a:gs>
                  <a:gs pos="80000">
                    <a:srgbClr val="C93D39"/>
                  </a:gs>
                  <a:gs pos="100000">
                    <a:srgbClr val="CD3A36"/>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17" name="Google Shape;417;p39"/>
              <p:cNvSpPr/>
              <p:nvPr/>
            </p:nvSpPr>
            <p:spPr>
              <a:xfrm>
                <a:off x="1951275" y="1954080"/>
                <a:ext cx="144016" cy="144016"/>
              </a:xfrm>
              <a:prstGeom prst="ellipse">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18" name="Google Shape;418;p39"/>
              <p:cNvSpPr/>
              <p:nvPr/>
            </p:nvSpPr>
            <p:spPr>
              <a:xfrm>
                <a:off x="1941548" y="1563847"/>
                <a:ext cx="144016" cy="144016"/>
              </a:xfrm>
              <a:prstGeom prst="ellipse">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19" name="Google Shape;419;p39"/>
              <p:cNvSpPr/>
              <p:nvPr/>
            </p:nvSpPr>
            <p:spPr>
              <a:xfrm>
                <a:off x="2141349" y="1748971"/>
                <a:ext cx="144016" cy="144016"/>
              </a:xfrm>
              <a:prstGeom prst="ellipse">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20" name="Google Shape;420;p39"/>
              <p:cNvSpPr txBox="1"/>
              <p:nvPr/>
            </p:nvSpPr>
            <p:spPr>
              <a:xfrm>
                <a:off x="2034732" y="1224435"/>
                <a:ext cx="392875" cy="3374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C0504D"/>
                    </a:solidFill>
                    <a:latin typeface="Cambria Math"/>
                    <a:ea typeface="Cambria Math"/>
                    <a:cs typeface="Cambria Math"/>
                    <a:sym typeface="Cambria Math"/>
                  </a:rPr>
                  <a:t>Sr</a:t>
                </a:r>
                <a:endParaRPr b="1" sz="1200">
                  <a:solidFill>
                    <a:srgbClr val="C0504D"/>
                  </a:solidFill>
                  <a:latin typeface="Cambria Math"/>
                  <a:ea typeface="Cambria Math"/>
                  <a:cs typeface="Cambria Math"/>
                  <a:sym typeface="Cambria Math"/>
                </a:endParaRPr>
              </a:p>
            </p:txBody>
          </p:sp>
          <p:sp>
            <p:nvSpPr>
              <p:cNvPr id="421" name="Google Shape;421;p39"/>
              <p:cNvSpPr txBox="1"/>
              <p:nvPr/>
            </p:nvSpPr>
            <p:spPr>
              <a:xfrm>
                <a:off x="1122166" y="1649311"/>
                <a:ext cx="642817" cy="3374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00B0F0"/>
                    </a:solidFill>
                    <a:latin typeface="Cambria Math"/>
                    <a:ea typeface="Cambria Math"/>
                    <a:cs typeface="Cambria Math"/>
                    <a:sym typeface="Cambria Math"/>
                  </a:rPr>
                  <a:t>Ti+O</a:t>
                </a:r>
                <a:endParaRPr b="1" sz="1200">
                  <a:solidFill>
                    <a:srgbClr val="00B0F0"/>
                  </a:solidFill>
                  <a:latin typeface="Cambria Math"/>
                  <a:ea typeface="Cambria Math"/>
                  <a:cs typeface="Cambria Math"/>
                  <a:sym typeface="Cambria Math"/>
                </a:endParaRPr>
              </a:p>
            </p:txBody>
          </p:sp>
          <p:sp>
            <p:nvSpPr>
              <p:cNvPr id="422" name="Google Shape;422;p39"/>
              <p:cNvSpPr txBox="1"/>
              <p:nvPr/>
            </p:nvSpPr>
            <p:spPr>
              <a:xfrm>
                <a:off x="1848019" y="1228303"/>
                <a:ext cx="346012" cy="3374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92D050"/>
                    </a:solidFill>
                    <a:latin typeface="Cambria Math"/>
                    <a:ea typeface="Cambria Math"/>
                    <a:cs typeface="Cambria Math"/>
                    <a:sym typeface="Cambria Math"/>
                  </a:rPr>
                  <a:t>O</a:t>
                </a:r>
                <a:endParaRPr b="1" sz="1200">
                  <a:solidFill>
                    <a:srgbClr val="92D050"/>
                  </a:solidFill>
                  <a:latin typeface="Cambria Math"/>
                  <a:ea typeface="Cambria Math"/>
                  <a:cs typeface="Cambria Math"/>
                  <a:sym typeface="Cambria Math"/>
                </a:endParaRPr>
              </a:p>
            </p:txBody>
          </p:sp>
        </p:grpSp>
        <p:sp>
          <p:nvSpPr>
            <p:cNvPr id="423" name="Google Shape;423;p39"/>
            <p:cNvSpPr txBox="1"/>
            <p:nvPr/>
          </p:nvSpPr>
          <p:spPr>
            <a:xfrm>
              <a:off x="8848547" y="1304469"/>
              <a:ext cx="169305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u="sng">
                  <a:solidFill>
                    <a:srgbClr val="3F3F3F"/>
                  </a:solidFill>
                  <a:latin typeface="Calibri"/>
                  <a:ea typeface="Calibri"/>
                  <a:cs typeface="Calibri"/>
                  <a:sym typeface="Calibri"/>
                </a:rPr>
                <a:t>SrTiO</a:t>
              </a:r>
              <a:r>
                <a:rPr b="1" baseline="-25000" lang="en-US" sz="1600" u="sng">
                  <a:solidFill>
                    <a:srgbClr val="3F3F3F"/>
                  </a:solidFill>
                  <a:latin typeface="Calibri"/>
                  <a:ea typeface="Calibri"/>
                  <a:cs typeface="Calibri"/>
                  <a:sym typeface="Calibri"/>
                </a:rPr>
                <a:t>3</a:t>
              </a:r>
              <a:r>
                <a:rPr b="1" lang="en-US" sz="1600" u="sng">
                  <a:solidFill>
                    <a:srgbClr val="3F3F3F"/>
                  </a:solidFill>
                  <a:latin typeface="Calibri"/>
                  <a:ea typeface="Calibri"/>
                  <a:cs typeface="Calibri"/>
                  <a:sym typeface="Calibri"/>
                </a:rPr>
                <a:t> Example</a:t>
              </a:r>
              <a:endParaRPr b="1" sz="1600" u="sng">
                <a:solidFill>
                  <a:srgbClr val="3F3F3F"/>
                </a:solidFill>
                <a:latin typeface="Calibri"/>
                <a:ea typeface="Calibri"/>
                <a:cs typeface="Calibri"/>
                <a:sym typeface="Calibri"/>
              </a:endParaRPr>
            </a:p>
          </p:txBody>
        </p:sp>
      </p:grpSp>
      <p:pic>
        <p:nvPicPr>
          <p:cNvPr id="424" name="Google Shape;424;p39"/>
          <p:cNvPicPr preferRelativeResize="0"/>
          <p:nvPr/>
        </p:nvPicPr>
        <p:blipFill rotWithShape="1">
          <a:blip r:embed="rId6">
            <a:alphaModFix/>
          </a:blip>
          <a:srcRect b="0" l="0" r="0" t="0"/>
          <a:stretch/>
        </p:blipFill>
        <p:spPr>
          <a:xfrm>
            <a:off x="216528" y="1866064"/>
            <a:ext cx="3166018" cy="3228342"/>
          </a:xfrm>
          <a:prstGeom prst="rect">
            <a:avLst/>
          </a:prstGeom>
          <a:noFill/>
          <a:ln>
            <a:noFill/>
          </a:ln>
        </p:spPr>
      </p:pic>
      <p:sp>
        <p:nvSpPr>
          <p:cNvPr id="425" name="Google Shape;425;p39"/>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6" name="Google Shape;426;p39"/>
          <p:cNvSpPr txBox="1"/>
          <p:nvPr/>
        </p:nvSpPr>
        <p:spPr>
          <a:xfrm>
            <a:off x="6799097" y="6058601"/>
            <a:ext cx="315832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From JEOL</a:t>
            </a:r>
            <a:endParaRPr/>
          </a:p>
        </p:txBody>
      </p:sp>
      <p:sp>
        <p:nvSpPr>
          <p:cNvPr id="427" name="Google Shape;427;p39"/>
          <p:cNvSpPr txBox="1"/>
          <p:nvPr/>
        </p:nvSpPr>
        <p:spPr>
          <a:xfrm>
            <a:off x="64717" y="5242772"/>
            <a:ext cx="322263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Transmission Electron Microscopy, David Williams and Barry Carter, 2</a:t>
            </a:r>
            <a:r>
              <a:rPr baseline="30000" lang="en-US" sz="1400">
                <a:solidFill>
                  <a:schemeClr val="dk1"/>
                </a:solidFill>
                <a:latin typeface="Calibri"/>
                <a:ea typeface="Calibri"/>
                <a:cs typeface="Calibri"/>
                <a:sym typeface="Calibri"/>
              </a:rPr>
              <a:t>nd</a:t>
            </a:r>
            <a:r>
              <a:rPr lang="en-US" sz="1400">
                <a:solidFill>
                  <a:schemeClr val="dk1"/>
                </a:solidFill>
                <a:latin typeface="Calibri"/>
                <a:ea typeface="Calibri"/>
                <a:cs typeface="Calibri"/>
                <a:sym typeface="Calibri"/>
              </a:rPr>
              <a:t>ed. (2009)</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0"/>
          <p:cNvSpPr/>
          <p:nvPr/>
        </p:nvSpPr>
        <p:spPr>
          <a:xfrm>
            <a:off x="1121181" y="1117024"/>
            <a:ext cx="4123333" cy="1531429"/>
          </a:xfrm>
          <a:prstGeom prst="rect">
            <a:avLst/>
          </a:prstGeom>
          <a:noFill/>
          <a:ln>
            <a:noFill/>
          </a:ln>
        </p:spPr>
        <p:txBody>
          <a:bodyPr anchorCtr="0" anchor="t" bIns="26775" lIns="26775" spcFirstLastPara="1" rIns="26775" wrap="square" tIns="26775">
            <a:noAutofit/>
          </a:bodyPr>
          <a:lstStyle/>
          <a:p>
            <a:pPr indent="0" lvl="0" marL="0" marR="0" rtl="0" algn="l">
              <a:spcBef>
                <a:spcPts val="0"/>
              </a:spcBef>
              <a:spcAft>
                <a:spcPts val="0"/>
              </a:spcAft>
              <a:buNone/>
            </a:pPr>
            <a:r>
              <a:rPr b="1" lang="en-US" sz="1600">
                <a:solidFill>
                  <a:schemeClr val="dk1"/>
                </a:solidFill>
                <a:latin typeface="Calibri"/>
                <a:ea typeface="Calibri"/>
                <a:cs typeface="Calibri"/>
                <a:sym typeface="Calibri"/>
              </a:rPr>
              <a:t>NEOARM</a:t>
            </a:r>
            <a:endParaRPr sz="16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High-brightness Cold Field-Emission Gun</a:t>
            </a:r>
            <a:endParaRPr sz="16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Column and Corrector alignments provided at 30 kV, 80 kV, 200 kV</a:t>
            </a:r>
            <a:endParaRPr/>
          </a:p>
          <a:p>
            <a:pPr indent="-342900" lvl="0" marL="34290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Resolution of .23nm in TEM</a:t>
            </a:r>
            <a:endParaRPr/>
          </a:p>
          <a:p>
            <a:pPr indent="-342900" lvl="0" marL="34290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+/- 35/30 degrees of tilt in X/Y</a:t>
            </a:r>
            <a:endParaRPr/>
          </a:p>
        </p:txBody>
      </p:sp>
      <p:sp>
        <p:nvSpPr>
          <p:cNvPr id="433" name="Google Shape;433;p40"/>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NEOARM Specifics</a:t>
            </a:r>
            <a:endParaRPr/>
          </a:p>
        </p:txBody>
      </p:sp>
      <p:sp>
        <p:nvSpPr>
          <p:cNvPr id="434" name="Google Shape;434;p40"/>
          <p:cNvSpPr/>
          <p:nvPr/>
        </p:nvSpPr>
        <p:spPr>
          <a:xfrm>
            <a:off x="1158525" y="3352537"/>
            <a:ext cx="3688306" cy="2270092"/>
          </a:xfrm>
          <a:prstGeom prst="rect">
            <a:avLst/>
          </a:prstGeom>
          <a:noFill/>
          <a:ln>
            <a:noFill/>
          </a:ln>
        </p:spPr>
        <p:txBody>
          <a:bodyPr anchorCtr="0" anchor="t" bIns="26775" lIns="26775" spcFirstLastPara="1" rIns="26775" wrap="square" tIns="26775">
            <a:noAutofit/>
          </a:bodyPr>
          <a:lstStyle/>
          <a:p>
            <a:pPr indent="0" lvl="0" marL="0" marR="0" rtl="0" algn="l">
              <a:spcBef>
                <a:spcPts val="0"/>
              </a:spcBef>
              <a:spcAft>
                <a:spcPts val="0"/>
              </a:spcAft>
              <a:buNone/>
            </a:pPr>
            <a:r>
              <a:rPr b="1" lang="en-US" sz="1600">
                <a:solidFill>
                  <a:schemeClr val="dk1"/>
                </a:solidFill>
                <a:latin typeface="Calibri"/>
                <a:ea typeface="Calibri"/>
                <a:cs typeface="Calibri"/>
                <a:sym typeface="Calibri"/>
              </a:rPr>
              <a:t>STEM C</a:t>
            </a:r>
            <a:r>
              <a:rPr b="1" baseline="-25000" lang="en-US" sz="1600">
                <a:solidFill>
                  <a:schemeClr val="dk1"/>
                </a:solidFill>
                <a:latin typeface="Calibri"/>
                <a:ea typeface="Calibri"/>
                <a:cs typeface="Calibri"/>
                <a:sym typeface="Calibri"/>
              </a:rPr>
              <a:t>s</a:t>
            </a:r>
            <a:r>
              <a:rPr b="1" lang="en-US" sz="1600">
                <a:solidFill>
                  <a:schemeClr val="dk1"/>
                </a:solidFill>
                <a:latin typeface="Calibri"/>
                <a:ea typeface="Calibri"/>
                <a:cs typeface="Calibri"/>
                <a:sym typeface="Calibri"/>
              </a:rPr>
              <a:t>-Corrector</a:t>
            </a:r>
            <a:endParaRPr sz="16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CEOS ASCOR – Second-generation, higher-order corrector</a:t>
            </a:r>
            <a:endParaRPr/>
          </a:p>
          <a:p>
            <a:pPr indent="-342900" lvl="0" marL="34290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Enables high-resolution imaging with large convergence angles and high probe currents</a:t>
            </a:r>
            <a:endParaRPr/>
          </a:p>
          <a:p>
            <a:pPr indent="-342900" lvl="0" marL="34290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JEOL COSMO automated Corrector alignment routine</a:t>
            </a:r>
            <a:endParaRPr/>
          </a:p>
          <a:p>
            <a:pPr indent="-241300" lvl="0" marL="342900" marR="0" rtl="0" algn="l">
              <a:spcBef>
                <a:spcPts val="0"/>
              </a:spcBef>
              <a:spcAft>
                <a:spcPts val="0"/>
              </a:spcAft>
              <a:buClr>
                <a:schemeClr val="dk1"/>
              </a:buClr>
              <a:buSzPts val="1600"/>
              <a:buFont typeface="Arial"/>
              <a:buNone/>
            </a:pPr>
            <a:r>
              <a:t/>
            </a:r>
            <a:endParaRPr sz="1600">
              <a:solidFill>
                <a:schemeClr val="dk1"/>
              </a:solidFill>
              <a:latin typeface="Calibri"/>
              <a:ea typeface="Calibri"/>
              <a:cs typeface="Calibri"/>
              <a:sym typeface="Calibri"/>
            </a:endParaRPr>
          </a:p>
        </p:txBody>
      </p:sp>
      <p:pic>
        <p:nvPicPr>
          <p:cNvPr id="435" name="Google Shape;435;p40"/>
          <p:cNvPicPr preferRelativeResize="0"/>
          <p:nvPr/>
        </p:nvPicPr>
        <p:blipFill rotWithShape="1">
          <a:blip r:embed="rId3">
            <a:alphaModFix/>
          </a:blip>
          <a:srcRect b="0" l="0" r="0" t="0"/>
          <a:stretch/>
        </p:blipFill>
        <p:spPr>
          <a:xfrm>
            <a:off x="5710875" y="1168487"/>
            <a:ext cx="2812716" cy="2783917"/>
          </a:xfrm>
          <a:prstGeom prst="rect">
            <a:avLst/>
          </a:prstGeom>
          <a:noFill/>
          <a:ln>
            <a:noFill/>
          </a:ln>
        </p:spPr>
      </p:pic>
      <p:pic>
        <p:nvPicPr>
          <p:cNvPr id="436" name="Google Shape;436;p40"/>
          <p:cNvPicPr preferRelativeResize="0"/>
          <p:nvPr/>
        </p:nvPicPr>
        <p:blipFill rotWithShape="1">
          <a:blip r:embed="rId4">
            <a:alphaModFix/>
          </a:blip>
          <a:srcRect b="0" l="0" r="0" t="0"/>
          <a:stretch/>
        </p:blipFill>
        <p:spPr>
          <a:xfrm>
            <a:off x="6731824" y="2381699"/>
            <a:ext cx="980678" cy="970838"/>
          </a:xfrm>
          <a:prstGeom prst="rect">
            <a:avLst/>
          </a:prstGeom>
          <a:noFill/>
          <a:ln>
            <a:noFill/>
          </a:ln>
        </p:spPr>
      </p:pic>
      <p:pic>
        <p:nvPicPr>
          <p:cNvPr id="437" name="Google Shape;437;p40"/>
          <p:cNvPicPr preferRelativeResize="0"/>
          <p:nvPr/>
        </p:nvPicPr>
        <p:blipFill rotWithShape="1">
          <a:blip r:embed="rId5">
            <a:alphaModFix/>
          </a:blip>
          <a:srcRect b="0" l="0" r="0" t="0"/>
          <a:stretch/>
        </p:blipFill>
        <p:spPr>
          <a:xfrm>
            <a:off x="8581702" y="1407223"/>
            <a:ext cx="1982391" cy="1982391"/>
          </a:xfrm>
          <a:prstGeom prst="rect">
            <a:avLst/>
          </a:prstGeom>
          <a:noFill/>
          <a:ln>
            <a:noFill/>
          </a:ln>
        </p:spPr>
      </p:pic>
      <p:sp>
        <p:nvSpPr>
          <p:cNvPr id="438" name="Google Shape;438;p40"/>
          <p:cNvSpPr txBox="1"/>
          <p:nvPr/>
        </p:nvSpPr>
        <p:spPr>
          <a:xfrm>
            <a:off x="6078530" y="779808"/>
            <a:ext cx="207740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u="sng">
                <a:solidFill>
                  <a:schemeClr val="dk1"/>
                </a:solidFill>
                <a:latin typeface="Calibri"/>
                <a:ea typeface="Calibri"/>
                <a:cs typeface="Calibri"/>
                <a:sym typeface="Calibri"/>
              </a:rPr>
              <a:t>HAADF STEM Image</a:t>
            </a:r>
            <a:endParaRPr/>
          </a:p>
        </p:txBody>
      </p:sp>
      <p:sp>
        <p:nvSpPr>
          <p:cNvPr id="439" name="Google Shape;439;p40"/>
          <p:cNvSpPr txBox="1"/>
          <p:nvPr/>
        </p:nvSpPr>
        <p:spPr>
          <a:xfrm>
            <a:off x="9352068" y="3994514"/>
            <a:ext cx="1486775" cy="738664"/>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Ga-Ga dumbbells split by 63 pm</a:t>
            </a:r>
            <a:endParaRPr/>
          </a:p>
        </p:txBody>
      </p:sp>
      <p:sp>
        <p:nvSpPr>
          <p:cNvPr id="440" name="Google Shape;440;p40"/>
          <p:cNvSpPr txBox="1"/>
          <p:nvPr/>
        </p:nvSpPr>
        <p:spPr>
          <a:xfrm>
            <a:off x="8619356" y="1071694"/>
            <a:ext cx="197734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u="sng">
                <a:solidFill>
                  <a:schemeClr val="dk1"/>
                </a:solidFill>
                <a:latin typeface="Calibri"/>
                <a:ea typeface="Calibri"/>
                <a:cs typeface="Calibri"/>
                <a:sym typeface="Calibri"/>
              </a:rPr>
              <a:t>FFT</a:t>
            </a:r>
            <a:endParaRPr/>
          </a:p>
        </p:txBody>
      </p:sp>
      <p:sp>
        <p:nvSpPr>
          <p:cNvPr id="441" name="Google Shape;441;p40"/>
          <p:cNvSpPr/>
          <p:nvPr/>
        </p:nvSpPr>
        <p:spPr>
          <a:xfrm>
            <a:off x="6708897" y="2381699"/>
            <a:ext cx="980678" cy="970838"/>
          </a:xfrm>
          <a:prstGeom prst="rect">
            <a:avLst/>
          </a:prstGeom>
          <a:noFill/>
          <a:ln cap="flat" cmpd="sng" w="127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42" name="Google Shape;442;p40"/>
          <p:cNvPicPr preferRelativeResize="0"/>
          <p:nvPr/>
        </p:nvPicPr>
        <p:blipFill rotWithShape="1">
          <a:blip r:embed="rId6">
            <a:alphaModFix/>
          </a:blip>
          <a:srcRect b="0" l="0" r="0" t="0"/>
          <a:stretch/>
        </p:blipFill>
        <p:spPr>
          <a:xfrm>
            <a:off x="7084127" y="3513187"/>
            <a:ext cx="2232115" cy="2209718"/>
          </a:xfrm>
          <a:prstGeom prst="rect">
            <a:avLst/>
          </a:prstGeom>
          <a:noFill/>
          <a:ln cap="flat" cmpd="sng" w="15875">
            <a:solidFill>
              <a:srgbClr val="FF0000"/>
            </a:solidFill>
            <a:prstDash val="solid"/>
            <a:round/>
            <a:headEnd len="sm" w="sm" type="none"/>
            <a:tailEnd len="sm" w="sm" type="none"/>
          </a:ln>
        </p:spPr>
      </p:pic>
      <p:sp>
        <p:nvSpPr>
          <p:cNvPr id="443" name="Google Shape;443;p40"/>
          <p:cNvSpPr txBox="1"/>
          <p:nvPr/>
        </p:nvSpPr>
        <p:spPr>
          <a:xfrm>
            <a:off x="5244514" y="5903901"/>
            <a:ext cx="223211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From JEOL</a:t>
            </a:r>
            <a:endParaRPr/>
          </a:p>
        </p:txBody>
      </p:sp>
      <p:sp>
        <p:nvSpPr>
          <p:cNvPr id="444" name="Google Shape;444;p40"/>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1"/>
          <p:cNvSpPr txBox="1"/>
          <p:nvPr/>
        </p:nvSpPr>
        <p:spPr>
          <a:xfrm>
            <a:off x="6238420" y="773255"/>
            <a:ext cx="4383927" cy="61863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500">
                <a:solidFill>
                  <a:schemeClr val="accent1"/>
                </a:solidFill>
                <a:latin typeface="Calibri"/>
                <a:ea typeface="Calibri"/>
                <a:cs typeface="Calibri"/>
                <a:sym typeface="Calibri"/>
              </a:rPr>
              <a:t>JEOL</a:t>
            </a:r>
            <a:endParaRPr/>
          </a:p>
          <a:p>
            <a:pPr indent="-213995" lvl="0" marL="213995" marR="0" rtl="0" algn="l">
              <a:spcBef>
                <a:spcPts val="0"/>
              </a:spcBef>
              <a:spcAft>
                <a:spcPts val="0"/>
              </a:spcAft>
              <a:buClr>
                <a:schemeClr val="accent1"/>
              </a:buClr>
              <a:buSzPts val="1350"/>
              <a:buFont typeface="Arial"/>
              <a:buChar char="•"/>
            </a:pPr>
            <a:r>
              <a:rPr i="1" lang="en-US" sz="1350">
                <a:solidFill>
                  <a:schemeClr val="accent1"/>
                </a:solidFill>
                <a:latin typeface="Calibri"/>
                <a:ea typeface="Calibri"/>
                <a:cs typeface="Calibri"/>
                <a:sym typeface="Calibri"/>
              </a:rPr>
              <a:t>STEM C</a:t>
            </a:r>
            <a:r>
              <a:rPr baseline="-25000" i="1" lang="en-US" sz="1350">
                <a:solidFill>
                  <a:schemeClr val="accent1"/>
                </a:solidFill>
                <a:latin typeface="Calibri"/>
                <a:ea typeface="Calibri"/>
                <a:cs typeface="Calibri"/>
                <a:sym typeface="Calibri"/>
              </a:rPr>
              <a:t>s</a:t>
            </a:r>
            <a:r>
              <a:rPr i="1" lang="en-US" sz="1350">
                <a:solidFill>
                  <a:schemeClr val="accent1"/>
                </a:solidFill>
                <a:latin typeface="Calibri"/>
                <a:ea typeface="Calibri"/>
                <a:cs typeface="Calibri"/>
                <a:sym typeface="Calibri"/>
              </a:rPr>
              <a:t>-Corrected --Aligned at 30kV, 80kV, 200kV </a:t>
            </a:r>
            <a:endParaRPr i="1" sz="1350">
              <a:solidFill>
                <a:schemeClr val="accent1"/>
              </a:solidFill>
              <a:latin typeface="Calibri"/>
              <a:ea typeface="Calibri"/>
              <a:cs typeface="Calibri"/>
              <a:sym typeface="Calibri"/>
            </a:endParaRPr>
          </a:p>
          <a:p>
            <a:pPr indent="-213995" lvl="0" marL="213995" marR="0" rtl="0" algn="l">
              <a:spcBef>
                <a:spcPts val="0"/>
              </a:spcBef>
              <a:spcAft>
                <a:spcPts val="0"/>
              </a:spcAft>
              <a:buClr>
                <a:schemeClr val="accent1"/>
              </a:buClr>
              <a:buSzPts val="1350"/>
              <a:buFont typeface="Arial"/>
              <a:buChar char="•"/>
            </a:pPr>
            <a:r>
              <a:rPr i="1" lang="en-US" sz="1350">
                <a:solidFill>
                  <a:schemeClr val="accent1"/>
                </a:solidFill>
                <a:latin typeface="Calibri"/>
                <a:ea typeface="Calibri"/>
                <a:cs typeface="Calibri"/>
                <a:sym typeface="Calibri"/>
              </a:rPr>
              <a:t>Dual EDS</a:t>
            </a:r>
            <a:endParaRPr i="1" sz="1350">
              <a:solidFill>
                <a:schemeClr val="accent1"/>
              </a:solidFill>
              <a:latin typeface="Calibri"/>
              <a:ea typeface="Calibri"/>
              <a:cs typeface="Calibri"/>
              <a:sym typeface="Calibri"/>
            </a:endParaRPr>
          </a:p>
          <a:p>
            <a:pPr indent="-213995" lvl="0" marL="213995" marR="0" rtl="0" algn="l">
              <a:spcBef>
                <a:spcPts val="0"/>
              </a:spcBef>
              <a:spcAft>
                <a:spcPts val="0"/>
              </a:spcAft>
              <a:buClr>
                <a:schemeClr val="accent1"/>
              </a:buClr>
              <a:buSzPts val="1350"/>
              <a:buFont typeface="Arial"/>
              <a:buChar char="•"/>
            </a:pPr>
            <a:r>
              <a:rPr i="1" lang="en-US" sz="1350">
                <a:solidFill>
                  <a:schemeClr val="accent1"/>
                </a:solidFill>
                <a:latin typeface="Calibri"/>
                <a:ea typeface="Calibri"/>
                <a:cs typeface="Calibri"/>
                <a:sym typeface="Calibri"/>
              </a:rPr>
              <a:t>STEM HAADF, STEM ABF detectors</a:t>
            </a:r>
            <a:endParaRPr i="1" sz="1350">
              <a:solidFill>
                <a:schemeClr val="accent1"/>
              </a:solidFill>
              <a:latin typeface="Calibri"/>
              <a:ea typeface="Calibri"/>
              <a:cs typeface="Calibri"/>
              <a:sym typeface="Calibri"/>
            </a:endParaRPr>
          </a:p>
          <a:p>
            <a:pPr indent="-213995" lvl="0" marL="213995" marR="0" rtl="0" algn="l">
              <a:spcBef>
                <a:spcPts val="0"/>
              </a:spcBef>
              <a:spcAft>
                <a:spcPts val="0"/>
              </a:spcAft>
              <a:buClr>
                <a:schemeClr val="accent1"/>
              </a:buClr>
              <a:buSzPts val="1350"/>
              <a:buFont typeface="Arial"/>
              <a:buChar char="•"/>
            </a:pPr>
            <a:r>
              <a:rPr i="1" lang="en-US" sz="1350">
                <a:solidFill>
                  <a:schemeClr val="accent1"/>
                </a:solidFill>
                <a:latin typeface="Calibri"/>
                <a:ea typeface="Calibri"/>
                <a:cs typeface="Calibri"/>
                <a:sym typeface="Calibri"/>
              </a:rPr>
              <a:t>Segmented STEM (SAAF) Quad Detector</a:t>
            </a:r>
            <a:endParaRPr i="1" sz="1350">
              <a:solidFill>
                <a:schemeClr val="accent1"/>
              </a:solidFill>
              <a:latin typeface="Calibri"/>
              <a:ea typeface="Calibri"/>
              <a:cs typeface="Calibri"/>
              <a:sym typeface="Calibri"/>
            </a:endParaRPr>
          </a:p>
          <a:p>
            <a:pPr indent="-213995" lvl="0" marL="213995" marR="0" rtl="0" algn="l">
              <a:spcBef>
                <a:spcPts val="0"/>
              </a:spcBef>
              <a:spcAft>
                <a:spcPts val="0"/>
              </a:spcAft>
              <a:buClr>
                <a:schemeClr val="accent1"/>
              </a:buClr>
              <a:buSzPts val="1350"/>
              <a:buFont typeface="Arial"/>
              <a:buChar char="•"/>
            </a:pPr>
            <a:r>
              <a:rPr i="1" lang="en-US" sz="1350">
                <a:solidFill>
                  <a:schemeClr val="accent1"/>
                </a:solidFill>
                <a:latin typeface="Calibri"/>
                <a:ea typeface="Calibri"/>
                <a:cs typeface="Calibri"/>
                <a:sym typeface="Calibri"/>
              </a:rPr>
              <a:t>STEM Lorentz &amp; NBD alignments</a:t>
            </a:r>
            <a:endParaRPr i="1" sz="1350">
              <a:solidFill>
                <a:schemeClr val="accent1"/>
              </a:solidFill>
              <a:latin typeface="Calibri"/>
              <a:ea typeface="Calibri"/>
              <a:cs typeface="Calibri"/>
              <a:sym typeface="Calibri"/>
            </a:endParaRPr>
          </a:p>
          <a:p>
            <a:pPr indent="-213995" lvl="0" marL="213995" marR="0" rtl="0" algn="l">
              <a:spcBef>
                <a:spcPts val="0"/>
              </a:spcBef>
              <a:spcAft>
                <a:spcPts val="0"/>
              </a:spcAft>
              <a:buClr>
                <a:schemeClr val="accent1"/>
              </a:buClr>
              <a:buSzPts val="1350"/>
              <a:buFont typeface="Arial"/>
              <a:buChar char="•"/>
            </a:pPr>
            <a:r>
              <a:rPr i="1" lang="en-US" sz="1350">
                <a:solidFill>
                  <a:schemeClr val="accent1"/>
                </a:solidFill>
                <a:latin typeface="Calibri"/>
                <a:ea typeface="Calibri"/>
                <a:cs typeface="Calibri"/>
                <a:sym typeface="Calibri"/>
              </a:rPr>
              <a:t>Biprism</a:t>
            </a:r>
            <a:endParaRPr i="1" sz="1350">
              <a:solidFill>
                <a:schemeClr val="accent1"/>
              </a:solidFill>
              <a:latin typeface="Calibri"/>
              <a:ea typeface="Calibri"/>
              <a:cs typeface="Calibri"/>
              <a:sym typeface="Calibri"/>
            </a:endParaRPr>
          </a:p>
          <a:p>
            <a:pPr indent="-213995" lvl="0" marL="213995" marR="0" rtl="0" algn="l">
              <a:spcBef>
                <a:spcPts val="0"/>
              </a:spcBef>
              <a:spcAft>
                <a:spcPts val="0"/>
              </a:spcAft>
              <a:buClr>
                <a:schemeClr val="accent1"/>
              </a:buClr>
              <a:buSzPts val="1350"/>
              <a:buFont typeface="Arial"/>
              <a:buChar char="•"/>
            </a:pPr>
            <a:r>
              <a:rPr i="1" lang="en-US" sz="1350">
                <a:solidFill>
                  <a:schemeClr val="accent1"/>
                </a:solidFill>
                <a:latin typeface="Calibri"/>
                <a:ea typeface="Calibri"/>
                <a:cs typeface="Calibri"/>
                <a:sym typeface="Calibri"/>
              </a:rPr>
              <a:t>PyJEM (Python-based) scripting control of JEOL + IDES</a:t>
            </a:r>
            <a:endParaRPr i="1" sz="1350">
              <a:solidFill>
                <a:schemeClr val="accent1"/>
              </a:solidFill>
              <a:latin typeface="Calibri"/>
              <a:ea typeface="Calibri"/>
              <a:cs typeface="Calibri"/>
              <a:sym typeface="Calibri"/>
            </a:endParaRPr>
          </a:p>
          <a:p>
            <a:pPr indent="0" lvl="0" marL="0" marR="0" rtl="0" algn="l">
              <a:spcBef>
                <a:spcPts val="0"/>
              </a:spcBef>
              <a:spcAft>
                <a:spcPts val="0"/>
              </a:spcAft>
              <a:buNone/>
            </a:pPr>
            <a:r>
              <a:t/>
            </a:r>
            <a:endParaRPr i="1" sz="1350">
              <a:solidFill>
                <a:schemeClr val="accent1"/>
              </a:solidFill>
              <a:latin typeface="Calibri"/>
              <a:ea typeface="Calibri"/>
              <a:cs typeface="Calibri"/>
              <a:sym typeface="Calibri"/>
            </a:endParaRPr>
          </a:p>
          <a:p>
            <a:pPr indent="0" lvl="0" marL="0" marR="0" rtl="0" algn="l">
              <a:spcBef>
                <a:spcPts val="0"/>
              </a:spcBef>
              <a:spcAft>
                <a:spcPts val="0"/>
              </a:spcAft>
              <a:buNone/>
            </a:pPr>
            <a:r>
              <a:rPr b="1" i="1" lang="en-US" sz="1500">
                <a:solidFill>
                  <a:srgbClr val="C00000"/>
                </a:solidFill>
                <a:latin typeface="Calibri"/>
                <a:ea typeface="Calibri"/>
                <a:cs typeface="Calibri"/>
                <a:sym typeface="Calibri"/>
              </a:rPr>
              <a:t>IDES</a:t>
            </a:r>
            <a:endParaRPr b="1" i="1" sz="1500">
              <a:solidFill>
                <a:srgbClr val="C00000"/>
              </a:solidFill>
              <a:latin typeface="Calibri"/>
              <a:ea typeface="Calibri"/>
              <a:cs typeface="Calibri"/>
              <a:sym typeface="Calibri"/>
            </a:endParaRPr>
          </a:p>
          <a:p>
            <a:pPr indent="-213995" lvl="0" marL="213995" marR="0" rtl="0" algn="l">
              <a:spcBef>
                <a:spcPts val="0"/>
              </a:spcBef>
              <a:spcAft>
                <a:spcPts val="0"/>
              </a:spcAft>
              <a:buClr>
                <a:srgbClr val="C00000"/>
              </a:buClr>
              <a:buSzPts val="1350"/>
              <a:buFont typeface="Arial"/>
              <a:buChar char="•"/>
            </a:pPr>
            <a:r>
              <a:rPr i="1" lang="en-US" sz="1350">
                <a:solidFill>
                  <a:srgbClr val="C00000"/>
                </a:solidFill>
                <a:latin typeface="Calibri"/>
                <a:ea typeface="Calibri"/>
                <a:cs typeface="Calibri"/>
                <a:sym typeface="Calibri"/>
              </a:rPr>
              <a:t>EDM Synchrony (Electrostatic Dose Modulator)</a:t>
            </a:r>
            <a:endParaRPr i="1" sz="1350">
              <a:solidFill>
                <a:srgbClr val="C00000"/>
              </a:solidFill>
              <a:latin typeface="Calibri"/>
              <a:ea typeface="Calibri"/>
              <a:cs typeface="Calibri"/>
              <a:sym typeface="Calibri"/>
            </a:endParaRPr>
          </a:p>
          <a:p>
            <a:pPr indent="-213995" lvl="0" marL="213995" marR="0" rtl="0" algn="l">
              <a:spcBef>
                <a:spcPts val="0"/>
              </a:spcBef>
              <a:spcAft>
                <a:spcPts val="0"/>
              </a:spcAft>
              <a:buClr>
                <a:srgbClr val="C00000"/>
              </a:buClr>
              <a:buSzPts val="1350"/>
              <a:buFont typeface="Arial"/>
              <a:buChar char="•"/>
            </a:pPr>
            <a:r>
              <a:rPr i="1" lang="en-US" sz="1350">
                <a:solidFill>
                  <a:srgbClr val="C00000"/>
                </a:solidFill>
                <a:latin typeface="Calibri"/>
                <a:ea typeface="Calibri"/>
                <a:cs typeface="Calibri"/>
                <a:sym typeface="Calibri"/>
              </a:rPr>
              <a:t>Luminary Micro</a:t>
            </a:r>
            <a:endParaRPr i="1" sz="1350">
              <a:solidFill>
                <a:srgbClr val="C00000"/>
              </a:solidFill>
              <a:latin typeface="Calibri"/>
              <a:ea typeface="Calibri"/>
              <a:cs typeface="Calibri"/>
              <a:sym typeface="Calibri"/>
            </a:endParaRPr>
          </a:p>
          <a:p>
            <a:pPr indent="-213995" lvl="0" marL="213995" marR="0" rtl="0" algn="l">
              <a:spcBef>
                <a:spcPts val="0"/>
              </a:spcBef>
              <a:spcAft>
                <a:spcPts val="0"/>
              </a:spcAft>
              <a:buClr>
                <a:srgbClr val="C00000"/>
              </a:buClr>
              <a:buSzPts val="1350"/>
              <a:buFont typeface="Arial"/>
              <a:buChar char="•"/>
            </a:pPr>
            <a:r>
              <a:rPr i="1" lang="en-US" sz="1350">
                <a:solidFill>
                  <a:srgbClr val="C00000"/>
                </a:solidFill>
                <a:latin typeface="Calibri"/>
                <a:ea typeface="Calibri"/>
                <a:cs typeface="Calibri"/>
                <a:sym typeface="Calibri"/>
              </a:rPr>
              <a:t>Relativity Sub-framing</a:t>
            </a:r>
            <a:endParaRPr i="1" sz="1350">
              <a:solidFill>
                <a:srgbClr val="C00000"/>
              </a:solidFill>
              <a:latin typeface="Calibri"/>
              <a:ea typeface="Calibri"/>
              <a:cs typeface="Calibri"/>
              <a:sym typeface="Calibri"/>
            </a:endParaRPr>
          </a:p>
          <a:p>
            <a:pPr indent="-128270" lvl="0" marL="213995" marR="0" rtl="0" algn="l">
              <a:spcBef>
                <a:spcPts val="0"/>
              </a:spcBef>
              <a:spcAft>
                <a:spcPts val="0"/>
              </a:spcAft>
              <a:buClr>
                <a:schemeClr val="dk1"/>
              </a:buClr>
              <a:buSzPts val="1350"/>
              <a:buFont typeface="Arial"/>
              <a:buNone/>
            </a:pPr>
            <a:r>
              <a:t/>
            </a:r>
            <a:endParaRPr i="1" sz="1350">
              <a:solidFill>
                <a:srgbClr val="C00000"/>
              </a:solidFill>
              <a:latin typeface="Calibri"/>
              <a:ea typeface="Calibri"/>
              <a:cs typeface="Calibri"/>
              <a:sym typeface="Calibri"/>
            </a:endParaRPr>
          </a:p>
          <a:p>
            <a:pPr indent="0" lvl="0" marL="0" marR="0" rtl="0" algn="l">
              <a:spcBef>
                <a:spcPts val="0"/>
              </a:spcBef>
              <a:spcAft>
                <a:spcPts val="0"/>
              </a:spcAft>
              <a:buNone/>
            </a:pPr>
            <a:r>
              <a:rPr b="1" i="1" lang="en-US" sz="1500">
                <a:solidFill>
                  <a:srgbClr val="00B050"/>
                </a:solidFill>
                <a:latin typeface="Calibri"/>
                <a:ea typeface="Calibri"/>
                <a:cs typeface="Calibri"/>
                <a:sym typeface="Calibri"/>
              </a:rPr>
              <a:t>CEOS/TVIPS/DECTRIS/PN Detector</a:t>
            </a:r>
            <a:endParaRPr b="1" i="1" sz="1500">
              <a:solidFill>
                <a:srgbClr val="00B050"/>
              </a:solidFill>
              <a:latin typeface="Calibri"/>
              <a:ea typeface="Calibri"/>
              <a:cs typeface="Calibri"/>
              <a:sym typeface="Calibri"/>
            </a:endParaRPr>
          </a:p>
          <a:p>
            <a:pPr indent="-213995" lvl="0" marL="213995" marR="0" rtl="0" algn="l">
              <a:spcBef>
                <a:spcPts val="0"/>
              </a:spcBef>
              <a:spcAft>
                <a:spcPts val="0"/>
              </a:spcAft>
              <a:buClr>
                <a:srgbClr val="00B050"/>
              </a:buClr>
              <a:buSzPts val="1350"/>
              <a:buFont typeface="Arial"/>
              <a:buChar char="•"/>
            </a:pPr>
            <a:r>
              <a:rPr i="1" lang="en-US" sz="1350">
                <a:solidFill>
                  <a:srgbClr val="00B050"/>
                </a:solidFill>
                <a:latin typeface="Calibri"/>
                <a:ea typeface="Calibri"/>
                <a:cs typeface="Calibri"/>
                <a:sym typeface="Calibri"/>
              </a:rPr>
              <a:t>CEFID energy filter</a:t>
            </a:r>
            <a:endParaRPr i="1" sz="1350">
              <a:solidFill>
                <a:srgbClr val="00B050"/>
              </a:solidFill>
              <a:latin typeface="Calibri"/>
              <a:ea typeface="Calibri"/>
              <a:cs typeface="Calibri"/>
              <a:sym typeface="Calibri"/>
            </a:endParaRPr>
          </a:p>
          <a:p>
            <a:pPr indent="-213995" lvl="1" marL="671195" marR="0" rtl="0" algn="l">
              <a:spcBef>
                <a:spcPts val="0"/>
              </a:spcBef>
              <a:spcAft>
                <a:spcPts val="0"/>
              </a:spcAft>
              <a:buClr>
                <a:srgbClr val="00B050"/>
              </a:buClr>
              <a:buSzPts val="1200"/>
              <a:buFont typeface="Arial"/>
              <a:buChar char="•"/>
            </a:pPr>
            <a:r>
              <a:rPr b="0" i="1" lang="en-US" sz="1200" u="none" cap="none" strike="noStrike">
                <a:solidFill>
                  <a:srgbClr val="00B050"/>
                </a:solidFill>
                <a:latin typeface="Calibri"/>
                <a:ea typeface="Calibri"/>
                <a:cs typeface="Calibri"/>
                <a:sym typeface="Calibri"/>
              </a:rPr>
              <a:t>ELA detector</a:t>
            </a:r>
            <a:endParaRPr b="0" i="1" sz="1200" u="none" cap="none" strike="noStrike">
              <a:solidFill>
                <a:srgbClr val="00B050"/>
              </a:solidFill>
              <a:latin typeface="Calibri"/>
              <a:ea typeface="Calibri"/>
              <a:cs typeface="Calibri"/>
              <a:sym typeface="Calibri"/>
            </a:endParaRPr>
          </a:p>
          <a:p>
            <a:pPr indent="-213995" lvl="1" marL="671195" marR="0" rtl="0" algn="l">
              <a:spcBef>
                <a:spcPts val="0"/>
              </a:spcBef>
              <a:spcAft>
                <a:spcPts val="0"/>
              </a:spcAft>
              <a:buClr>
                <a:srgbClr val="00B050"/>
              </a:buClr>
              <a:buSzPts val="1200"/>
              <a:buFont typeface="Arial"/>
              <a:buChar char="•"/>
            </a:pPr>
            <a:r>
              <a:rPr b="0" i="1" lang="en-US" sz="1200" u="none" cap="none" strike="noStrike">
                <a:solidFill>
                  <a:srgbClr val="00B050"/>
                </a:solidFill>
                <a:latin typeface="Calibri"/>
                <a:ea typeface="Calibri"/>
                <a:cs typeface="Calibri"/>
                <a:sym typeface="Calibri"/>
              </a:rPr>
              <a:t>TVIPS XF416 detector</a:t>
            </a:r>
            <a:endParaRPr b="0" i="1" sz="1200" u="none" cap="none" strike="noStrike">
              <a:solidFill>
                <a:srgbClr val="00B050"/>
              </a:solidFill>
              <a:latin typeface="Calibri"/>
              <a:ea typeface="Calibri"/>
              <a:cs typeface="Calibri"/>
              <a:sym typeface="Calibri"/>
            </a:endParaRPr>
          </a:p>
          <a:p>
            <a:pPr indent="-213995" lvl="0" marL="213995" marR="0" rtl="0" algn="l">
              <a:spcBef>
                <a:spcPts val="0"/>
              </a:spcBef>
              <a:spcAft>
                <a:spcPts val="0"/>
              </a:spcAft>
              <a:buClr>
                <a:srgbClr val="00B050"/>
              </a:buClr>
              <a:buSzPts val="1350"/>
              <a:buFont typeface="Arial"/>
              <a:buChar char="•"/>
            </a:pPr>
            <a:r>
              <a:rPr i="1" lang="en-US" sz="1350">
                <a:solidFill>
                  <a:srgbClr val="00B050"/>
                </a:solidFill>
                <a:latin typeface="Calibri"/>
                <a:ea typeface="Calibri"/>
                <a:cs typeface="Calibri"/>
                <a:sym typeface="Calibri"/>
              </a:rPr>
              <a:t>TVIPS XF416 Bottom mount</a:t>
            </a:r>
            <a:endParaRPr i="1" sz="1350">
              <a:solidFill>
                <a:srgbClr val="00B050"/>
              </a:solidFill>
              <a:latin typeface="Calibri"/>
              <a:ea typeface="Calibri"/>
              <a:cs typeface="Calibri"/>
              <a:sym typeface="Calibri"/>
            </a:endParaRPr>
          </a:p>
          <a:p>
            <a:pPr indent="-213995" lvl="1" marL="671195" marR="0" rtl="0" algn="l">
              <a:spcBef>
                <a:spcPts val="0"/>
              </a:spcBef>
              <a:spcAft>
                <a:spcPts val="0"/>
              </a:spcAft>
              <a:buClr>
                <a:srgbClr val="00B050"/>
              </a:buClr>
              <a:buSzPts val="1350"/>
              <a:buFont typeface="Arial"/>
              <a:buChar char="•"/>
            </a:pPr>
            <a:r>
              <a:rPr b="0" i="1" lang="en-US" sz="1350" u="none" cap="none" strike="noStrike">
                <a:solidFill>
                  <a:srgbClr val="00B050"/>
                </a:solidFill>
                <a:latin typeface="Calibri"/>
                <a:ea typeface="Calibri"/>
                <a:cs typeface="Calibri"/>
                <a:sym typeface="Calibri"/>
              </a:rPr>
              <a:t>Use with IDES Relativity</a:t>
            </a:r>
            <a:endParaRPr/>
          </a:p>
          <a:p>
            <a:pPr indent="-213995" lvl="0" marL="213995" marR="0" rtl="0" algn="l">
              <a:spcBef>
                <a:spcPts val="0"/>
              </a:spcBef>
              <a:spcAft>
                <a:spcPts val="0"/>
              </a:spcAft>
              <a:buClr>
                <a:srgbClr val="00B050"/>
              </a:buClr>
              <a:buSzPts val="1350"/>
              <a:buFont typeface="Arial"/>
              <a:buChar char="•"/>
            </a:pPr>
            <a:r>
              <a:rPr i="1" lang="en-US" sz="1350">
                <a:solidFill>
                  <a:srgbClr val="00B050"/>
                </a:solidFill>
                <a:latin typeface="Calibri"/>
                <a:ea typeface="Calibri"/>
                <a:cs typeface="Calibri"/>
                <a:sym typeface="Calibri"/>
              </a:rPr>
              <a:t>PN Detector for STEM</a:t>
            </a:r>
            <a:endParaRPr/>
          </a:p>
          <a:p>
            <a:pPr indent="0" lvl="0" marL="0" marR="0" rtl="0" algn="l">
              <a:spcBef>
                <a:spcPts val="0"/>
              </a:spcBef>
              <a:spcAft>
                <a:spcPts val="0"/>
              </a:spcAft>
              <a:buNone/>
            </a:pPr>
            <a:r>
              <a:t/>
            </a:r>
            <a:endParaRPr b="1" i="1" sz="1500">
              <a:solidFill>
                <a:srgbClr val="632423"/>
              </a:solidFill>
              <a:latin typeface="Calibri"/>
              <a:ea typeface="Calibri"/>
              <a:cs typeface="Calibri"/>
              <a:sym typeface="Calibri"/>
            </a:endParaRPr>
          </a:p>
          <a:p>
            <a:pPr indent="0" lvl="0" marL="0" marR="0" rtl="0" algn="l">
              <a:spcBef>
                <a:spcPts val="0"/>
              </a:spcBef>
              <a:spcAft>
                <a:spcPts val="0"/>
              </a:spcAft>
              <a:buNone/>
            </a:pPr>
            <a:r>
              <a:rPr b="1" i="1" lang="en-US" sz="1500">
                <a:solidFill>
                  <a:srgbClr val="632423"/>
                </a:solidFill>
                <a:latin typeface="Calibri"/>
                <a:ea typeface="Calibri"/>
                <a:cs typeface="Calibri"/>
                <a:sym typeface="Calibri"/>
              </a:rPr>
              <a:t>Other</a:t>
            </a:r>
            <a:endParaRPr b="1" i="1" sz="1500">
              <a:solidFill>
                <a:srgbClr val="632423"/>
              </a:solidFill>
              <a:latin typeface="Calibri"/>
              <a:ea typeface="Calibri"/>
              <a:cs typeface="Calibri"/>
              <a:sym typeface="Calibri"/>
            </a:endParaRPr>
          </a:p>
          <a:p>
            <a:pPr indent="-213995" lvl="0" marL="213995" marR="0" rtl="0" algn="l">
              <a:spcBef>
                <a:spcPts val="0"/>
              </a:spcBef>
              <a:spcAft>
                <a:spcPts val="0"/>
              </a:spcAft>
              <a:buClr>
                <a:srgbClr val="632423"/>
              </a:buClr>
              <a:buSzPts val="1350"/>
              <a:buFont typeface="Arial"/>
              <a:buChar char="•"/>
            </a:pPr>
            <a:r>
              <a:rPr i="1" lang="en-US" sz="1350">
                <a:solidFill>
                  <a:srgbClr val="632423"/>
                </a:solidFill>
                <a:latin typeface="Calibri"/>
                <a:ea typeface="Calibri"/>
                <a:cs typeface="Calibri"/>
                <a:sym typeface="Calibri"/>
              </a:rPr>
              <a:t>Gatan Straining Holder (654)</a:t>
            </a:r>
            <a:endParaRPr i="1" sz="1350">
              <a:solidFill>
                <a:srgbClr val="632423"/>
              </a:solidFill>
              <a:latin typeface="Calibri"/>
              <a:ea typeface="Calibri"/>
              <a:cs typeface="Calibri"/>
              <a:sym typeface="Calibri"/>
            </a:endParaRPr>
          </a:p>
          <a:p>
            <a:pPr indent="-213995" lvl="0" marL="213995" marR="0" rtl="0" algn="l">
              <a:spcBef>
                <a:spcPts val="0"/>
              </a:spcBef>
              <a:spcAft>
                <a:spcPts val="0"/>
              </a:spcAft>
              <a:buClr>
                <a:srgbClr val="632423"/>
              </a:buClr>
              <a:buSzPts val="1350"/>
              <a:buFont typeface="Arial"/>
              <a:buChar char="•"/>
            </a:pPr>
            <a:r>
              <a:rPr i="1" lang="en-US" sz="1350">
                <a:solidFill>
                  <a:srgbClr val="632423"/>
                </a:solidFill>
                <a:latin typeface="Calibri"/>
                <a:ea typeface="Calibri"/>
                <a:cs typeface="Calibri"/>
                <a:sym typeface="Calibri"/>
              </a:rPr>
              <a:t>Simple Origin Dual Grid Cryo</a:t>
            </a:r>
            <a:endParaRPr i="1" sz="1350">
              <a:solidFill>
                <a:srgbClr val="632423"/>
              </a:solidFill>
              <a:latin typeface="Calibri"/>
              <a:ea typeface="Calibri"/>
              <a:cs typeface="Calibri"/>
              <a:sym typeface="Calibri"/>
            </a:endParaRPr>
          </a:p>
          <a:p>
            <a:pPr indent="-213995" lvl="0" marL="213995" marR="0" rtl="0" algn="l">
              <a:spcBef>
                <a:spcPts val="0"/>
              </a:spcBef>
              <a:spcAft>
                <a:spcPts val="0"/>
              </a:spcAft>
              <a:buClr>
                <a:srgbClr val="632423"/>
              </a:buClr>
              <a:buSzPts val="1350"/>
              <a:buFont typeface="Arial"/>
              <a:buChar char="•"/>
            </a:pPr>
            <a:r>
              <a:rPr i="1" lang="en-US" sz="1350">
                <a:solidFill>
                  <a:srgbClr val="632423"/>
                </a:solidFill>
                <a:latin typeface="Calibri"/>
                <a:ea typeface="Calibri"/>
                <a:cs typeface="Calibri"/>
                <a:sym typeface="Calibri"/>
              </a:rPr>
              <a:t>Protochips Poseidon holder</a:t>
            </a:r>
            <a:endParaRPr/>
          </a:p>
          <a:p>
            <a:pPr indent="-213995" lvl="0" marL="213995" marR="0" rtl="0" algn="l">
              <a:spcBef>
                <a:spcPts val="0"/>
              </a:spcBef>
              <a:spcAft>
                <a:spcPts val="0"/>
              </a:spcAft>
              <a:buClr>
                <a:srgbClr val="632423"/>
              </a:buClr>
              <a:buSzPts val="1350"/>
              <a:buFont typeface="Arial"/>
              <a:buChar char="•"/>
            </a:pPr>
            <a:r>
              <a:rPr i="1" lang="en-US" sz="1350">
                <a:solidFill>
                  <a:srgbClr val="632423"/>
                </a:solidFill>
                <a:latin typeface="Calibri"/>
                <a:ea typeface="Calibri"/>
                <a:cs typeface="Calibri"/>
                <a:sym typeface="Calibri"/>
              </a:rPr>
              <a:t>Protochips Atmosphere holder</a:t>
            </a:r>
            <a:endParaRPr/>
          </a:p>
          <a:p>
            <a:pPr indent="-213995" lvl="0" marL="213995" marR="0" rtl="0" algn="l">
              <a:spcBef>
                <a:spcPts val="0"/>
              </a:spcBef>
              <a:spcAft>
                <a:spcPts val="0"/>
              </a:spcAft>
              <a:buClr>
                <a:srgbClr val="632423"/>
              </a:buClr>
              <a:buSzPts val="1350"/>
              <a:buFont typeface="Arial"/>
              <a:buChar char="•"/>
            </a:pPr>
            <a:r>
              <a:rPr i="1" lang="en-US" sz="1350">
                <a:solidFill>
                  <a:srgbClr val="632423"/>
                </a:solidFill>
                <a:latin typeface="Calibri"/>
                <a:ea typeface="Calibri"/>
                <a:cs typeface="Calibri"/>
                <a:sym typeface="Calibri"/>
              </a:rPr>
              <a:t>Protochips Fusion holder</a:t>
            </a:r>
            <a:endParaRPr/>
          </a:p>
        </p:txBody>
      </p:sp>
      <p:sp>
        <p:nvSpPr>
          <p:cNvPr id="450" name="Google Shape;450;p41"/>
          <p:cNvSpPr txBox="1"/>
          <p:nvPr>
            <p:ph type="title"/>
          </p:nvPr>
        </p:nvSpPr>
        <p:spPr>
          <a:xfrm>
            <a:off x="768349" y="152400"/>
            <a:ext cx="10972800" cy="533400"/>
          </a:xfrm>
          <a:prstGeom prst="rect">
            <a:avLst/>
          </a:prstGeom>
          <a:noFill/>
          <a:ln>
            <a:noFill/>
          </a:ln>
        </p:spPr>
        <p:txBody>
          <a:bodyPr anchorCtr="0" anchor="t" bIns="45700" lIns="91425" spcFirstLastPara="1" rIns="91425" wrap="square" tIns="45700">
            <a:normAutofit fontScale="90000"/>
          </a:bodyPr>
          <a:lstStyle/>
          <a:p>
            <a:pPr indent="0" lvl="0" marL="0" rtl="0" algn="ctr">
              <a:spcBef>
                <a:spcPts val="0"/>
              </a:spcBef>
              <a:spcAft>
                <a:spcPts val="0"/>
              </a:spcAft>
              <a:buNone/>
            </a:pPr>
            <a:r>
              <a:rPr lang="en-US"/>
              <a:t>JEOL NEOARM + CEFID Configuration</a:t>
            </a:r>
            <a:endParaRPr/>
          </a:p>
        </p:txBody>
      </p:sp>
      <p:grpSp>
        <p:nvGrpSpPr>
          <p:cNvPr id="451" name="Google Shape;451;p41"/>
          <p:cNvGrpSpPr/>
          <p:nvPr/>
        </p:nvGrpSpPr>
        <p:grpSpPr>
          <a:xfrm>
            <a:off x="1318062" y="1096988"/>
            <a:ext cx="4519887" cy="4664023"/>
            <a:chOff x="1576114" y="1227045"/>
            <a:chExt cx="4519887" cy="4664023"/>
          </a:xfrm>
        </p:grpSpPr>
        <p:sp>
          <p:nvSpPr>
            <p:cNvPr id="452" name="Google Shape;452;p41"/>
            <p:cNvSpPr/>
            <p:nvPr/>
          </p:nvSpPr>
          <p:spPr>
            <a:xfrm>
              <a:off x="2864546" y="2196542"/>
              <a:ext cx="685800" cy="1383389"/>
            </a:xfrm>
            <a:prstGeom prst="rect">
              <a:avLst/>
            </a:prstGeom>
            <a:solidFill>
              <a:schemeClr val="lt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453" name="Google Shape;453;p41"/>
            <p:cNvSpPr/>
            <p:nvPr/>
          </p:nvSpPr>
          <p:spPr>
            <a:xfrm>
              <a:off x="2981543" y="4868487"/>
              <a:ext cx="1937790" cy="905608"/>
            </a:xfrm>
            <a:prstGeom prst="corner">
              <a:avLst>
                <a:gd fmla="val 50000" name="adj1"/>
                <a:gd fmla="val 50000" name="adj2"/>
              </a:avLst>
            </a:prstGeom>
            <a:solidFill>
              <a:schemeClr val="lt2"/>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B050"/>
                </a:solidFill>
                <a:latin typeface="Calibri"/>
                <a:ea typeface="Calibri"/>
                <a:cs typeface="Calibri"/>
                <a:sym typeface="Calibri"/>
              </a:endParaRPr>
            </a:p>
          </p:txBody>
        </p:sp>
        <p:sp>
          <p:nvSpPr>
            <p:cNvPr id="454" name="Google Shape;454;p41"/>
            <p:cNvSpPr/>
            <p:nvPr/>
          </p:nvSpPr>
          <p:spPr>
            <a:xfrm>
              <a:off x="3463074" y="5402473"/>
              <a:ext cx="1001108" cy="30008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350">
                  <a:solidFill>
                    <a:srgbClr val="00B050"/>
                  </a:solidFill>
                  <a:latin typeface="Calibri"/>
                  <a:ea typeface="Calibri"/>
                  <a:cs typeface="Calibri"/>
                  <a:sym typeface="Calibri"/>
                </a:rPr>
                <a:t>CEOS CEFID</a:t>
              </a:r>
              <a:endParaRPr/>
            </a:p>
          </p:txBody>
        </p:sp>
        <p:sp>
          <p:nvSpPr>
            <p:cNvPr id="455" name="Google Shape;455;p41"/>
            <p:cNvSpPr/>
            <p:nvPr/>
          </p:nvSpPr>
          <p:spPr>
            <a:xfrm>
              <a:off x="2864546" y="1227045"/>
              <a:ext cx="685800" cy="484748"/>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chemeClr val="lt1"/>
                  </a:solidFill>
                  <a:latin typeface="Calibri"/>
                  <a:ea typeface="Calibri"/>
                  <a:cs typeface="Calibri"/>
                  <a:sym typeface="Calibri"/>
                </a:rPr>
                <a:t>200kV CFEG</a:t>
              </a:r>
              <a:endParaRPr/>
            </a:p>
          </p:txBody>
        </p:sp>
        <p:sp>
          <p:nvSpPr>
            <p:cNvPr id="456" name="Google Shape;456;p41"/>
            <p:cNvSpPr/>
            <p:nvPr/>
          </p:nvSpPr>
          <p:spPr>
            <a:xfrm>
              <a:off x="2864546" y="3579756"/>
              <a:ext cx="685800" cy="1418350"/>
            </a:xfrm>
            <a:prstGeom prst="rect">
              <a:avLst/>
            </a:prstGeom>
            <a:solidFill>
              <a:schemeClr val="lt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accent1"/>
                  </a:solidFill>
                  <a:latin typeface="Calibri"/>
                  <a:ea typeface="Calibri"/>
                  <a:cs typeface="Calibri"/>
                  <a:sym typeface="Calibri"/>
                </a:rPr>
                <a:t>STEM detectors</a:t>
              </a:r>
              <a:endParaRPr/>
            </a:p>
          </p:txBody>
        </p:sp>
        <p:sp>
          <p:nvSpPr>
            <p:cNvPr id="457" name="Google Shape;457;p41"/>
            <p:cNvSpPr txBox="1"/>
            <p:nvPr/>
          </p:nvSpPr>
          <p:spPr>
            <a:xfrm>
              <a:off x="2169410" y="3792396"/>
              <a:ext cx="967095" cy="276999"/>
            </a:xfrm>
            <a:prstGeom prst="rect">
              <a:avLst/>
            </a:prstGeom>
            <a:solidFill>
              <a:schemeClr val="lt2"/>
            </a:solidFill>
            <a:ln cap="flat" cmpd="sng" w="254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C00000"/>
                  </a:solidFill>
                  <a:latin typeface="Calibri"/>
                  <a:ea typeface="Calibri"/>
                  <a:cs typeface="Calibri"/>
                  <a:sym typeface="Calibri"/>
                </a:rPr>
                <a:t>Relativity</a:t>
              </a:r>
              <a:endParaRPr/>
            </a:p>
          </p:txBody>
        </p:sp>
        <p:sp>
          <p:nvSpPr>
            <p:cNvPr id="458" name="Google Shape;458;p41"/>
            <p:cNvSpPr/>
            <p:nvPr/>
          </p:nvSpPr>
          <p:spPr>
            <a:xfrm>
              <a:off x="2864545" y="2046844"/>
              <a:ext cx="685800" cy="484748"/>
            </a:xfrm>
            <a:prstGeom prst="rect">
              <a:avLst/>
            </a:prstGeom>
            <a:solidFill>
              <a:schemeClr val="lt2"/>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accent1"/>
                  </a:solidFill>
                  <a:latin typeface="Calibri"/>
                  <a:ea typeface="Calibri"/>
                  <a:cs typeface="Calibri"/>
                  <a:sym typeface="Calibri"/>
                </a:rPr>
                <a:t>STEM Cs Corrector</a:t>
              </a:r>
              <a:endParaRPr/>
            </a:p>
          </p:txBody>
        </p:sp>
        <p:sp>
          <p:nvSpPr>
            <p:cNvPr id="459" name="Google Shape;459;p41"/>
            <p:cNvSpPr txBox="1"/>
            <p:nvPr/>
          </p:nvSpPr>
          <p:spPr>
            <a:xfrm>
              <a:off x="3922892" y="3337383"/>
              <a:ext cx="1154171" cy="276999"/>
            </a:xfrm>
            <a:prstGeom prst="rect">
              <a:avLst/>
            </a:prstGeom>
            <a:solidFill>
              <a:schemeClr val="lt2"/>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chemeClr val="accent1"/>
                  </a:solidFill>
                  <a:latin typeface="Calibri"/>
                  <a:ea typeface="Calibri"/>
                  <a:cs typeface="Calibri"/>
                  <a:sym typeface="Calibri"/>
                </a:rPr>
                <a:t>HR pole piece</a:t>
              </a:r>
              <a:endParaRPr/>
            </a:p>
          </p:txBody>
        </p:sp>
        <p:sp>
          <p:nvSpPr>
            <p:cNvPr id="460" name="Google Shape;460;p41"/>
            <p:cNvSpPr/>
            <p:nvPr/>
          </p:nvSpPr>
          <p:spPr>
            <a:xfrm>
              <a:off x="3511006" y="3381596"/>
              <a:ext cx="415082" cy="82296"/>
            </a:xfrm>
            <a:prstGeom prst="leftArrow">
              <a:avLst>
                <a:gd fmla="val 50000" name="adj1"/>
                <a:gd fmla="val 73585"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461" name="Google Shape;461;p41"/>
            <p:cNvSpPr/>
            <p:nvPr/>
          </p:nvSpPr>
          <p:spPr>
            <a:xfrm>
              <a:off x="1638301" y="3074460"/>
              <a:ext cx="1546542" cy="447365"/>
            </a:xfrm>
            <a:prstGeom prst="rect">
              <a:avLst/>
            </a:prstGeom>
            <a:solidFill>
              <a:schemeClr val="lt2"/>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chemeClr val="accent1"/>
                  </a:solidFill>
                  <a:latin typeface="Calibri"/>
                  <a:ea typeface="Calibri"/>
                  <a:cs typeface="Calibri"/>
                  <a:sym typeface="Calibri"/>
                </a:rPr>
                <a:t>EDS </a:t>
              </a:r>
              <a:endParaRPr/>
            </a:p>
            <a:p>
              <a:pPr indent="0" lvl="0" marL="0" marR="0" rtl="0" algn="ctr">
                <a:spcBef>
                  <a:spcPts val="0"/>
                </a:spcBef>
                <a:spcAft>
                  <a:spcPts val="0"/>
                </a:spcAft>
                <a:buNone/>
              </a:pPr>
              <a:r>
                <a:rPr lang="en-US" sz="1350">
                  <a:solidFill>
                    <a:schemeClr val="accent1"/>
                  </a:solidFill>
                  <a:latin typeface="Calibri"/>
                  <a:ea typeface="Calibri"/>
                  <a:cs typeface="Calibri"/>
                  <a:sym typeface="Calibri"/>
                </a:rPr>
                <a:t>Dual 100mm</a:t>
              </a:r>
              <a:r>
                <a:rPr baseline="30000" lang="en-US" sz="1350">
                  <a:solidFill>
                    <a:schemeClr val="accent1"/>
                  </a:solidFill>
                  <a:latin typeface="Calibri"/>
                  <a:ea typeface="Calibri"/>
                  <a:cs typeface="Calibri"/>
                  <a:sym typeface="Calibri"/>
                </a:rPr>
                <a:t>2</a:t>
              </a:r>
              <a:r>
                <a:rPr lang="en-US" sz="1350">
                  <a:solidFill>
                    <a:schemeClr val="accent1"/>
                  </a:solidFill>
                  <a:latin typeface="Calibri"/>
                  <a:ea typeface="Calibri"/>
                  <a:cs typeface="Calibri"/>
                  <a:sym typeface="Calibri"/>
                </a:rPr>
                <a:t> SDD</a:t>
              </a:r>
              <a:endParaRPr/>
            </a:p>
          </p:txBody>
        </p:sp>
        <p:sp>
          <p:nvSpPr>
            <p:cNvPr id="462" name="Google Shape;462;p41"/>
            <p:cNvSpPr/>
            <p:nvPr/>
          </p:nvSpPr>
          <p:spPr>
            <a:xfrm>
              <a:off x="3218025" y="4754594"/>
              <a:ext cx="1062171" cy="359376"/>
            </a:xfrm>
            <a:prstGeom prst="rect">
              <a:avLst/>
            </a:prstGeom>
            <a:solidFill>
              <a:schemeClr val="lt2"/>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00B050"/>
                  </a:solidFill>
                  <a:latin typeface="Calibri"/>
                  <a:ea typeface="Calibri"/>
                  <a:cs typeface="Calibri"/>
                  <a:sym typeface="Calibri"/>
                </a:rPr>
                <a:t>TVIPS XF416</a:t>
              </a:r>
              <a:endParaRPr/>
            </a:p>
          </p:txBody>
        </p:sp>
        <p:sp>
          <p:nvSpPr>
            <p:cNvPr id="463" name="Google Shape;463;p41"/>
            <p:cNvSpPr/>
            <p:nvPr/>
          </p:nvSpPr>
          <p:spPr>
            <a:xfrm>
              <a:off x="4919334" y="5269999"/>
              <a:ext cx="1176667" cy="621069"/>
            </a:xfrm>
            <a:prstGeom prst="rect">
              <a:avLst/>
            </a:prstGeom>
            <a:solidFill>
              <a:schemeClr val="lt2"/>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00B050"/>
                  </a:solidFill>
                  <a:latin typeface="Calibri"/>
                  <a:ea typeface="Calibri"/>
                  <a:cs typeface="Calibri"/>
                  <a:sym typeface="Calibri"/>
                </a:rPr>
                <a:t>DECTRIS ELA</a:t>
              </a:r>
              <a:endParaRPr/>
            </a:p>
          </p:txBody>
        </p:sp>
        <p:sp>
          <p:nvSpPr>
            <p:cNvPr id="464" name="Google Shape;464;p41"/>
            <p:cNvSpPr txBox="1"/>
            <p:nvPr/>
          </p:nvSpPr>
          <p:spPr>
            <a:xfrm>
              <a:off x="2526492" y="1714930"/>
              <a:ext cx="1320165" cy="331611"/>
            </a:xfrm>
            <a:prstGeom prst="rect">
              <a:avLst/>
            </a:prstGeom>
            <a:solidFill>
              <a:schemeClr val="lt2"/>
            </a:solidFill>
            <a:ln cap="flat" cmpd="sng" w="254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C00000"/>
                  </a:solidFill>
                  <a:latin typeface="Calibri"/>
                  <a:ea typeface="Calibri"/>
                  <a:cs typeface="Calibri"/>
                  <a:sym typeface="Calibri"/>
                </a:rPr>
                <a:t>EDM Synchrony</a:t>
              </a:r>
              <a:endParaRPr/>
            </a:p>
          </p:txBody>
        </p:sp>
        <p:sp>
          <p:nvSpPr>
            <p:cNvPr id="465" name="Google Shape;465;p41"/>
            <p:cNvSpPr txBox="1"/>
            <p:nvPr/>
          </p:nvSpPr>
          <p:spPr>
            <a:xfrm>
              <a:off x="1576114" y="2621014"/>
              <a:ext cx="1320165" cy="303445"/>
            </a:xfrm>
            <a:prstGeom prst="rect">
              <a:avLst/>
            </a:prstGeom>
            <a:solidFill>
              <a:schemeClr val="lt2"/>
            </a:solidFill>
            <a:ln cap="flat" cmpd="sng" w="254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C00000"/>
                  </a:solidFill>
                  <a:latin typeface="Calibri"/>
                  <a:ea typeface="Calibri"/>
                  <a:cs typeface="Calibri"/>
                  <a:sym typeface="Calibri"/>
                </a:rPr>
                <a:t>Luminary Micro</a:t>
              </a:r>
              <a:endParaRPr/>
            </a:p>
          </p:txBody>
        </p:sp>
        <p:sp>
          <p:nvSpPr>
            <p:cNvPr id="466" name="Google Shape;466;p41"/>
            <p:cNvSpPr txBox="1"/>
            <p:nvPr/>
          </p:nvSpPr>
          <p:spPr>
            <a:xfrm>
              <a:off x="3571673" y="2838823"/>
              <a:ext cx="1531343" cy="446502"/>
            </a:xfrm>
            <a:prstGeom prst="rect">
              <a:avLst/>
            </a:prstGeom>
            <a:solidFill>
              <a:schemeClr val="lt2"/>
            </a:solidFill>
            <a:ln cap="flat" cmpd="sng" w="25400">
              <a:solidFill>
                <a:srgbClr val="49442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632423"/>
                  </a:solidFill>
                  <a:latin typeface="Calibri"/>
                  <a:ea typeface="Calibri"/>
                  <a:cs typeface="Calibri"/>
                  <a:sym typeface="Calibri"/>
                </a:rPr>
                <a:t>Gatan 654</a:t>
              </a:r>
              <a:endParaRPr/>
            </a:p>
            <a:p>
              <a:pPr indent="0" lvl="0" marL="0" marR="0" rtl="0" algn="ctr">
                <a:spcBef>
                  <a:spcPts val="0"/>
                </a:spcBef>
                <a:spcAft>
                  <a:spcPts val="0"/>
                </a:spcAft>
                <a:buNone/>
              </a:pPr>
              <a:r>
                <a:rPr lang="en-US" sz="1350">
                  <a:solidFill>
                    <a:srgbClr val="632423"/>
                  </a:solidFill>
                  <a:latin typeface="Calibri"/>
                  <a:ea typeface="Calibri"/>
                  <a:cs typeface="Calibri"/>
                  <a:sym typeface="Calibri"/>
                </a:rPr>
                <a:t>Dual Grid Cryo</a:t>
              </a:r>
              <a:endParaRPr/>
            </a:p>
          </p:txBody>
        </p:sp>
        <p:sp>
          <p:nvSpPr>
            <p:cNvPr id="467" name="Google Shape;467;p41"/>
            <p:cNvSpPr txBox="1"/>
            <p:nvPr/>
          </p:nvSpPr>
          <p:spPr>
            <a:xfrm>
              <a:off x="3409160" y="3934822"/>
              <a:ext cx="1154171" cy="276999"/>
            </a:xfrm>
            <a:prstGeom prst="rect">
              <a:avLst/>
            </a:prstGeom>
            <a:solidFill>
              <a:schemeClr val="lt2"/>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chemeClr val="accent1"/>
                  </a:solidFill>
                  <a:latin typeface="Calibri"/>
                  <a:ea typeface="Calibri"/>
                  <a:cs typeface="Calibri"/>
                  <a:sym typeface="Calibri"/>
                </a:rPr>
                <a:t>SAAF Quad</a:t>
              </a:r>
              <a:endParaRPr/>
            </a:p>
          </p:txBody>
        </p:sp>
        <p:sp>
          <p:nvSpPr>
            <p:cNvPr id="468" name="Google Shape;468;p41"/>
            <p:cNvSpPr txBox="1"/>
            <p:nvPr/>
          </p:nvSpPr>
          <p:spPr>
            <a:xfrm>
              <a:off x="3236411" y="3628634"/>
              <a:ext cx="760629" cy="276999"/>
            </a:xfrm>
            <a:prstGeom prst="rect">
              <a:avLst/>
            </a:prstGeom>
            <a:solidFill>
              <a:schemeClr val="lt2"/>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chemeClr val="accent1"/>
                  </a:solidFill>
                  <a:latin typeface="Calibri"/>
                  <a:ea typeface="Calibri"/>
                  <a:cs typeface="Calibri"/>
                  <a:sym typeface="Calibri"/>
                </a:rPr>
                <a:t>Biprism</a:t>
              </a:r>
              <a:endParaRPr/>
            </a:p>
          </p:txBody>
        </p:sp>
        <p:sp>
          <p:nvSpPr>
            <p:cNvPr id="469" name="Google Shape;469;p41"/>
            <p:cNvSpPr/>
            <p:nvPr/>
          </p:nvSpPr>
          <p:spPr>
            <a:xfrm rot="-5400000">
              <a:off x="4207922" y="5063321"/>
              <a:ext cx="1062171" cy="359376"/>
            </a:xfrm>
            <a:prstGeom prst="rect">
              <a:avLst/>
            </a:prstGeom>
            <a:solidFill>
              <a:schemeClr val="lt2"/>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00B050"/>
                  </a:solidFill>
                  <a:latin typeface="Calibri"/>
                  <a:ea typeface="Calibri"/>
                  <a:cs typeface="Calibri"/>
                  <a:sym typeface="Calibri"/>
                </a:rPr>
                <a:t>TVIPS XF416</a:t>
              </a:r>
              <a:endParaRPr/>
            </a:p>
          </p:txBody>
        </p:sp>
        <p:sp>
          <p:nvSpPr>
            <p:cNvPr id="470" name="Google Shape;470;p41"/>
            <p:cNvSpPr/>
            <p:nvPr/>
          </p:nvSpPr>
          <p:spPr>
            <a:xfrm>
              <a:off x="2058966" y="4762278"/>
              <a:ext cx="1062171" cy="359376"/>
            </a:xfrm>
            <a:prstGeom prst="rect">
              <a:avLst/>
            </a:prstGeom>
            <a:solidFill>
              <a:schemeClr val="lt2"/>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00B050"/>
                  </a:solidFill>
                  <a:latin typeface="Calibri"/>
                  <a:ea typeface="Calibri"/>
                  <a:cs typeface="Calibri"/>
                  <a:sym typeface="Calibri"/>
                </a:rPr>
                <a:t>PN STEM</a:t>
              </a:r>
              <a:endParaRPr/>
            </a:p>
          </p:txBody>
        </p:sp>
      </p:grpSp>
      <p:sp>
        <p:nvSpPr>
          <p:cNvPr id="471" name="Google Shape;471;p41"/>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72" name="Google Shape;472;p41"/>
          <p:cNvSpPr txBox="1"/>
          <p:nvPr/>
        </p:nvSpPr>
        <p:spPr>
          <a:xfrm>
            <a:off x="1638301" y="6322263"/>
            <a:ext cx="346471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From JEOL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42"/>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Sample 1 to be Analyzed</a:t>
            </a:r>
            <a:endParaRPr/>
          </a:p>
        </p:txBody>
      </p:sp>
      <p:sp>
        <p:nvSpPr>
          <p:cNvPr id="478" name="Google Shape;478;p42"/>
          <p:cNvSpPr txBox="1"/>
          <p:nvPr/>
        </p:nvSpPr>
        <p:spPr>
          <a:xfrm>
            <a:off x="768349" y="3843278"/>
            <a:ext cx="6191130"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Ge and Si are in group IV of the periodic table. However, Ge is heavier than Si and has larger lattice constant. The contrast between the Si</a:t>
            </a:r>
            <a:r>
              <a:rPr baseline="-25000" lang="en-US" sz="1800">
                <a:solidFill>
                  <a:schemeClr val="dk1"/>
                </a:solidFill>
                <a:latin typeface="Calibri"/>
                <a:ea typeface="Calibri"/>
                <a:cs typeface="Calibri"/>
                <a:sym typeface="Calibri"/>
              </a:rPr>
              <a:t>1-x</a:t>
            </a:r>
            <a:r>
              <a:rPr lang="en-US" sz="1800">
                <a:solidFill>
                  <a:schemeClr val="dk1"/>
                </a:solidFill>
                <a:latin typeface="Calibri"/>
                <a:ea typeface="Calibri"/>
                <a:cs typeface="Calibri"/>
                <a:sym typeface="Calibri"/>
              </a:rPr>
              <a:t>Ge</a:t>
            </a:r>
            <a:r>
              <a:rPr baseline="-25000" lang="en-US" sz="1800">
                <a:solidFill>
                  <a:schemeClr val="dk1"/>
                </a:solidFill>
                <a:latin typeface="Calibri"/>
                <a:ea typeface="Calibri"/>
                <a:cs typeface="Calibri"/>
                <a:sym typeface="Calibri"/>
              </a:rPr>
              <a:t>x</a:t>
            </a:r>
            <a:r>
              <a:rPr lang="en-US" sz="1800">
                <a:solidFill>
                  <a:schemeClr val="dk1"/>
                </a:solidFill>
                <a:latin typeface="Calibri"/>
                <a:ea typeface="Calibri"/>
                <a:cs typeface="Calibri"/>
                <a:sym typeface="Calibri"/>
              </a:rPr>
              <a:t> layers and pure Si layers depends on x.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ADF in STEM gives higher contrast because of the larger atomic mass of Ge compared to Si.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What to look for:</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Thickness of SiGe layers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Sharpness of the Si/SiGe interfaces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Defects in the multilayer</a:t>
            </a:r>
            <a:endParaRPr/>
          </a:p>
        </p:txBody>
      </p:sp>
      <p:sp>
        <p:nvSpPr>
          <p:cNvPr id="479" name="Google Shape;479;p42"/>
          <p:cNvSpPr txBox="1"/>
          <p:nvPr/>
        </p:nvSpPr>
        <p:spPr>
          <a:xfrm>
            <a:off x="10686811" y="1657623"/>
            <a:ext cx="5824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Ge</a:t>
            </a:r>
            <a:endParaRPr/>
          </a:p>
        </p:txBody>
      </p:sp>
      <p:sp>
        <p:nvSpPr>
          <p:cNvPr id="480" name="Google Shape;480;p42"/>
          <p:cNvSpPr txBox="1"/>
          <p:nvPr/>
        </p:nvSpPr>
        <p:spPr>
          <a:xfrm>
            <a:off x="10686811" y="4581743"/>
            <a:ext cx="5824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Si</a:t>
            </a:r>
            <a:endParaRPr/>
          </a:p>
        </p:txBody>
      </p:sp>
      <p:pic>
        <p:nvPicPr>
          <p:cNvPr descr="A close-up of a molecule&#10;&#10;AI-generated content may be incorrect." id="481" name="Google Shape;481;p42"/>
          <p:cNvPicPr preferRelativeResize="0"/>
          <p:nvPr/>
        </p:nvPicPr>
        <p:blipFill rotWithShape="1">
          <a:blip r:embed="rId3">
            <a:alphaModFix/>
          </a:blip>
          <a:srcRect b="13123" l="34815" r="34166" t="11461"/>
          <a:stretch/>
        </p:blipFill>
        <p:spPr>
          <a:xfrm>
            <a:off x="8188173" y="874385"/>
            <a:ext cx="2590854" cy="2559736"/>
          </a:xfrm>
          <a:prstGeom prst="rect">
            <a:avLst/>
          </a:prstGeom>
          <a:noFill/>
          <a:ln>
            <a:noFill/>
          </a:ln>
        </p:spPr>
      </p:pic>
      <p:pic>
        <p:nvPicPr>
          <p:cNvPr descr="A blue dot logo&#10;&#10;AI-generated content may be incorrect." id="482" name="Google Shape;482;p42"/>
          <p:cNvPicPr preferRelativeResize="0"/>
          <p:nvPr/>
        </p:nvPicPr>
        <p:blipFill rotWithShape="1">
          <a:blip r:embed="rId4">
            <a:alphaModFix/>
          </a:blip>
          <a:srcRect b="38262" l="44437" r="44718" t="38788"/>
          <a:stretch/>
        </p:blipFill>
        <p:spPr>
          <a:xfrm>
            <a:off x="8188173" y="4014996"/>
            <a:ext cx="2341385" cy="2013525"/>
          </a:xfrm>
          <a:prstGeom prst="rect">
            <a:avLst/>
          </a:prstGeom>
          <a:noFill/>
          <a:ln>
            <a:noFill/>
          </a:ln>
        </p:spPr>
      </p:pic>
      <p:grpSp>
        <p:nvGrpSpPr>
          <p:cNvPr id="483" name="Google Shape;483;p42"/>
          <p:cNvGrpSpPr/>
          <p:nvPr/>
        </p:nvGrpSpPr>
        <p:grpSpPr>
          <a:xfrm>
            <a:off x="112755" y="1188673"/>
            <a:ext cx="7280255" cy="2240327"/>
            <a:chOff x="55157" y="1178685"/>
            <a:chExt cx="7280255" cy="2240327"/>
          </a:xfrm>
        </p:grpSpPr>
        <p:grpSp>
          <p:nvGrpSpPr>
            <p:cNvPr id="484" name="Google Shape;484;p42"/>
            <p:cNvGrpSpPr/>
            <p:nvPr/>
          </p:nvGrpSpPr>
          <p:grpSpPr>
            <a:xfrm>
              <a:off x="55157" y="1217463"/>
              <a:ext cx="7280255" cy="2201549"/>
              <a:chOff x="757146" y="2038471"/>
              <a:chExt cx="7280255" cy="2201549"/>
            </a:xfrm>
          </p:grpSpPr>
          <p:sp>
            <p:nvSpPr>
              <p:cNvPr id="485" name="Google Shape;485;p42"/>
              <p:cNvSpPr/>
              <p:nvPr/>
            </p:nvSpPr>
            <p:spPr>
              <a:xfrm>
                <a:off x="2108362" y="2038471"/>
                <a:ext cx="4146833" cy="2201549"/>
              </a:xfrm>
              <a:prstGeom prst="rect">
                <a:avLst/>
              </a:prstGeom>
              <a:no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6" name="Google Shape;486;p42"/>
              <p:cNvSpPr/>
              <p:nvPr/>
            </p:nvSpPr>
            <p:spPr>
              <a:xfrm>
                <a:off x="2108362" y="3022762"/>
                <a:ext cx="4146833" cy="99011"/>
              </a:xfrm>
              <a:prstGeom prst="rec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7" name="Google Shape;487;p42"/>
              <p:cNvSpPr/>
              <p:nvPr/>
            </p:nvSpPr>
            <p:spPr>
              <a:xfrm>
                <a:off x="2108361" y="2174371"/>
                <a:ext cx="4146833" cy="99011"/>
              </a:xfrm>
              <a:prstGeom prst="rec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8" name="Google Shape;488;p42"/>
              <p:cNvSpPr/>
              <p:nvPr/>
            </p:nvSpPr>
            <p:spPr>
              <a:xfrm>
                <a:off x="2108361" y="2714080"/>
                <a:ext cx="4146833" cy="99011"/>
              </a:xfrm>
              <a:prstGeom prst="rec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9" name="Google Shape;489;p42"/>
              <p:cNvSpPr/>
              <p:nvPr/>
            </p:nvSpPr>
            <p:spPr>
              <a:xfrm>
                <a:off x="2108361" y="2441313"/>
                <a:ext cx="4146833" cy="99011"/>
              </a:xfrm>
              <a:prstGeom prst="rec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0" name="Google Shape;490;p42"/>
              <p:cNvSpPr txBox="1"/>
              <p:nvPr/>
            </p:nvSpPr>
            <p:spPr>
              <a:xfrm>
                <a:off x="757146" y="2597595"/>
                <a:ext cx="71055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Si</a:t>
                </a:r>
                <a:endParaRPr/>
              </a:p>
            </p:txBody>
          </p:sp>
          <p:sp>
            <p:nvSpPr>
              <p:cNvPr id="491" name="Google Shape;491;p42"/>
              <p:cNvSpPr txBox="1"/>
              <p:nvPr/>
            </p:nvSpPr>
            <p:spPr>
              <a:xfrm>
                <a:off x="6743457" y="2306152"/>
                <a:ext cx="12939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Si</a:t>
                </a:r>
                <a:r>
                  <a:rPr baseline="-25000" lang="en-US" sz="1800">
                    <a:solidFill>
                      <a:schemeClr val="dk1"/>
                    </a:solidFill>
                    <a:latin typeface="Calibri"/>
                    <a:ea typeface="Calibri"/>
                    <a:cs typeface="Calibri"/>
                    <a:sym typeface="Calibri"/>
                  </a:rPr>
                  <a:t>20</a:t>
                </a:r>
                <a:r>
                  <a:rPr lang="en-US" sz="1800">
                    <a:solidFill>
                      <a:schemeClr val="dk1"/>
                    </a:solidFill>
                    <a:latin typeface="Calibri"/>
                    <a:ea typeface="Calibri"/>
                    <a:cs typeface="Calibri"/>
                    <a:sym typeface="Calibri"/>
                  </a:rPr>
                  <a:t>Ge</a:t>
                </a:r>
                <a:r>
                  <a:rPr baseline="-25000" lang="en-US" sz="1800">
                    <a:solidFill>
                      <a:schemeClr val="dk1"/>
                    </a:solidFill>
                    <a:latin typeface="Calibri"/>
                    <a:ea typeface="Calibri"/>
                    <a:cs typeface="Calibri"/>
                    <a:sym typeface="Calibri"/>
                  </a:rPr>
                  <a:t>80</a:t>
                </a:r>
                <a:endParaRPr/>
              </a:p>
            </p:txBody>
          </p:sp>
          <p:cxnSp>
            <p:nvCxnSpPr>
              <p:cNvPr id="492" name="Google Shape;492;p42"/>
              <p:cNvCxnSpPr/>
              <p:nvPr/>
            </p:nvCxnSpPr>
            <p:spPr>
              <a:xfrm flipH="1" rot="10800000">
                <a:off x="1135720" y="2347154"/>
                <a:ext cx="1078172" cy="366926"/>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93" name="Google Shape;493;p42"/>
              <p:cNvCxnSpPr/>
              <p:nvPr/>
            </p:nvCxnSpPr>
            <p:spPr>
              <a:xfrm>
                <a:off x="1130242" y="2720836"/>
                <a:ext cx="1065830" cy="767862"/>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94" name="Google Shape;494;p42"/>
              <p:cNvCxnSpPr/>
              <p:nvPr/>
            </p:nvCxnSpPr>
            <p:spPr>
              <a:xfrm>
                <a:off x="1213862" y="2739570"/>
                <a:ext cx="982210" cy="158331"/>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95" name="Google Shape;495;p42"/>
              <p:cNvCxnSpPr/>
              <p:nvPr/>
            </p:nvCxnSpPr>
            <p:spPr>
              <a:xfrm flipH="1" rot="10800000">
                <a:off x="1130242" y="2609710"/>
                <a:ext cx="1065830" cy="99011"/>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96" name="Google Shape;496;p42"/>
              <p:cNvCxnSpPr/>
              <p:nvPr/>
            </p:nvCxnSpPr>
            <p:spPr>
              <a:xfrm flipH="1" rot="10800000">
                <a:off x="1112422" y="2075824"/>
                <a:ext cx="1013758" cy="663746"/>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97" name="Google Shape;497;p42"/>
              <p:cNvCxnSpPr>
                <a:endCxn id="487" idx="3"/>
              </p:cNvCxnSpPr>
              <p:nvPr/>
            </p:nvCxnSpPr>
            <p:spPr>
              <a:xfrm rot="10800000">
                <a:off x="6255194" y="2223877"/>
                <a:ext cx="584700" cy="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98" name="Google Shape;498;p42"/>
              <p:cNvCxnSpPr/>
              <p:nvPr/>
            </p:nvCxnSpPr>
            <p:spPr>
              <a:xfrm flipH="1">
                <a:off x="6249370" y="2490818"/>
                <a:ext cx="488263" cy="1"/>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99" name="Google Shape;499;p42"/>
              <p:cNvCxnSpPr>
                <a:stCxn id="491" idx="1"/>
                <a:endCxn id="488" idx="3"/>
              </p:cNvCxnSpPr>
              <p:nvPr/>
            </p:nvCxnSpPr>
            <p:spPr>
              <a:xfrm flipH="1">
                <a:off x="6255057" y="2490818"/>
                <a:ext cx="488400" cy="27270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500" name="Google Shape;500;p42"/>
              <p:cNvCxnSpPr>
                <a:stCxn id="491" idx="1"/>
                <a:endCxn id="486" idx="3"/>
              </p:cNvCxnSpPr>
              <p:nvPr/>
            </p:nvCxnSpPr>
            <p:spPr>
              <a:xfrm flipH="1">
                <a:off x="6255057" y="2490818"/>
                <a:ext cx="488400" cy="58140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8039"/>
                  </a:srgbClr>
                </a:outerShdw>
              </a:effectLst>
            </p:spPr>
          </p:cxnSp>
        </p:grpSp>
        <p:sp>
          <p:nvSpPr>
            <p:cNvPr id="501" name="Google Shape;501;p42"/>
            <p:cNvSpPr txBox="1"/>
            <p:nvPr/>
          </p:nvSpPr>
          <p:spPr>
            <a:xfrm>
              <a:off x="6085295" y="1178685"/>
              <a:ext cx="71055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Ge</a:t>
              </a:r>
              <a:endParaRPr/>
            </a:p>
          </p:txBody>
        </p:sp>
      </p:grpSp>
      <p:sp>
        <p:nvSpPr>
          <p:cNvPr id="502" name="Google Shape;502;p42"/>
          <p:cNvSpPr txBox="1"/>
          <p:nvPr/>
        </p:nvSpPr>
        <p:spPr>
          <a:xfrm>
            <a:off x="8694177" y="3304349"/>
            <a:ext cx="25407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Calibri"/>
                <a:ea typeface="Calibri"/>
                <a:cs typeface="Calibri"/>
                <a:sym typeface="Calibri"/>
              </a:rPr>
              <a:t>a=</a:t>
            </a:r>
            <a:r>
              <a:rPr lang="en-US" sz="1800">
                <a:solidFill>
                  <a:schemeClr val="dk1"/>
                </a:solidFill>
                <a:latin typeface="Calibri"/>
                <a:ea typeface="Calibri"/>
                <a:cs typeface="Calibri"/>
                <a:sym typeface="Calibri"/>
              </a:rPr>
              <a:t>0.5658  nm</a:t>
            </a:r>
            <a:endParaRPr/>
          </a:p>
        </p:txBody>
      </p:sp>
      <p:sp>
        <p:nvSpPr>
          <p:cNvPr id="503" name="Google Shape;503;p42"/>
          <p:cNvSpPr txBox="1"/>
          <p:nvPr/>
        </p:nvSpPr>
        <p:spPr>
          <a:xfrm>
            <a:off x="8714246" y="5934832"/>
            <a:ext cx="226377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Calibri"/>
                <a:ea typeface="Calibri"/>
                <a:cs typeface="Calibri"/>
                <a:sym typeface="Calibri"/>
              </a:rPr>
              <a:t>a=</a:t>
            </a:r>
            <a:r>
              <a:rPr lang="en-US" sz="1800">
                <a:solidFill>
                  <a:schemeClr val="dk1"/>
                </a:solidFill>
                <a:latin typeface="Calibri"/>
                <a:ea typeface="Calibri"/>
                <a:cs typeface="Calibri"/>
                <a:sym typeface="Calibri"/>
              </a:rPr>
              <a:t>0.543  nm</a:t>
            </a:r>
            <a:endParaRPr/>
          </a:p>
        </p:txBody>
      </p:sp>
      <p:sp>
        <p:nvSpPr>
          <p:cNvPr id="504" name="Google Shape;504;p42"/>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05" name="Google Shape;505;p42"/>
          <p:cNvSpPr txBox="1"/>
          <p:nvPr/>
        </p:nvSpPr>
        <p:spPr>
          <a:xfrm>
            <a:off x="1060576" y="3478505"/>
            <a:ext cx="47904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Sample from Riss Card at UMD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3"/>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Misfit Dislocations</a:t>
            </a:r>
            <a:endParaRPr/>
          </a:p>
        </p:txBody>
      </p:sp>
      <p:pic>
        <p:nvPicPr>
          <p:cNvPr descr="A blue and white pattern&#10;&#10;AI-generated content may be incorrect." id="511" name="Google Shape;511;p43"/>
          <p:cNvPicPr preferRelativeResize="0"/>
          <p:nvPr/>
        </p:nvPicPr>
        <p:blipFill rotWithShape="1">
          <a:blip r:embed="rId3">
            <a:alphaModFix/>
          </a:blip>
          <a:srcRect b="23121" l="25679" r="25464" t="23518"/>
          <a:stretch/>
        </p:blipFill>
        <p:spPr>
          <a:xfrm>
            <a:off x="825382" y="3872371"/>
            <a:ext cx="4984751" cy="2212395"/>
          </a:xfrm>
          <a:prstGeom prst="rect">
            <a:avLst/>
          </a:prstGeom>
          <a:noFill/>
          <a:ln>
            <a:noFill/>
          </a:ln>
        </p:spPr>
      </p:pic>
      <p:pic>
        <p:nvPicPr>
          <p:cNvPr descr="A close-up of a pattern&#10;&#10;AI-generated content may be incorrect." id="512" name="Google Shape;512;p43"/>
          <p:cNvPicPr preferRelativeResize="0"/>
          <p:nvPr/>
        </p:nvPicPr>
        <p:blipFill rotWithShape="1">
          <a:blip r:embed="rId4">
            <a:alphaModFix/>
          </a:blip>
          <a:srcRect b="33449" l="34807" r="34791" t="32787"/>
          <a:stretch/>
        </p:blipFill>
        <p:spPr>
          <a:xfrm>
            <a:off x="825382" y="1573988"/>
            <a:ext cx="5092701" cy="2298382"/>
          </a:xfrm>
          <a:prstGeom prst="rect">
            <a:avLst/>
          </a:prstGeom>
          <a:noFill/>
          <a:ln>
            <a:noFill/>
          </a:ln>
        </p:spPr>
      </p:pic>
      <p:pic>
        <p:nvPicPr>
          <p:cNvPr id="513" name="Google Shape;513;p43"/>
          <p:cNvPicPr preferRelativeResize="0"/>
          <p:nvPr/>
        </p:nvPicPr>
        <p:blipFill rotWithShape="1">
          <a:blip r:embed="rId5">
            <a:alphaModFix/>
          </a:blip>
          <a:srcRect b="38323" l="6674" r="21811" t="22105"/>
          <a:stretch/>
        </p:blipFill>
        <p:spPr>
          <a:xfrm>
            <a:off x="6096000" y="1573988"/>
            <a:ext cx="5721350" cy="2371861"/>
          </a:xfrm>
          <a:prstGeom prst="rect">
            <a:avLst/>
          </a:prstGeom>
          <a:noFill/>
          <a:ln>
            <a:noFill/>
          </a:ln>
        </p:spPr>
      </p:pic>
      <p:sp>
        <p:nvSpPr>
          <p:cNvPr id="514" name="Google Shape;514;p43"/>
          <p:cNvSpPr txBox="1"/>
          <p:nvPr/>
        </p:nvSpPr>
        <p:spPr>
          <a:xfrm>
            <a:off x="6602316" y="4895826"/>
            <a:ext cx="4984751"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Misfit dislocations (</a:t>
            </a:r>
            <a:r>
              <a:rPr lang="en-US" sz="1800">
                <a:solidFill>
                  <a:srgbClr val="FF0000"/>
                </a:solidFill>
                <a:latin typeface="Calibri"/>
                <a:ea typeface="Calibri"/>
                <a:cs typeface="Calibri"/>
                <a:sym typeface="Calibri"/>
              </a:rPr>
              <a:t>red</a:t>
            </a:r>
            <a:r>
              <a:rPr lang="en-US" sz="1800">
                <a:solidFill>
                  <a:schemeClr val="dk1"/>
                </a:solidFill>
                <a:latin typeface="Calibri"/>
                <a:ea typeface="Calibri"/>
                <a:cs typeface="Calibri"/>
                <a:sym typeface="Calibri"/>
              </a:rPr>
              <a:t>) form at the interface between film and substrate. Dislocations degrade the properties of the sample.</a:t>
            </a:r>
            <a:endParaRPr/>
          </a:p>
        </p:txBody>
      </p:sp>
      <p:sp>
        <p:nvSpPr>
          <p:cNvPr id="515" name="Google Shape;515;p43"/>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16" name="Google Shape;516;p43"/>
          <p:cNvSpPr txBox="1"/>
          <p:nvPr/>
        </p:nvSpPr>
        <p:spPr>
          <a:xfrm>
            <a:off x="7228114" y="4043578"/>
            <a:ext cx="22455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Film under strain</a:t>
            </a:r>
            <a:endParaRPr/>
          </a:p>
        </p:txBody>
      </p:sp>
      <p:sp>
        <p:nvSpPr>
          <p:cNvPr id="517" name="Google Shape;517;p43"/>
          <p:cNvSpPr txBox="1"/>
          <p:nvPr/>
        </p:nvSpPr>
        <p:spPr>
          <a:xfrm>
            <a:off x="9884863" y="4014766"/>
            <a:ext cx="21460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Partially relaxed film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4"/>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Sample 2 : TbFeO</a:t>
            </a:r>
            <a:r>
              <a:rPr baseline="-25000" lang="en-US"/>
              <a:t>3</a:t>
            </a:r>
            <a:r>
              <a:rPr lang="en-US"/>
              <a:t> on YSZ</a:t>
            </a:r>
            <a:endParaRPr/>
          </a:p>
        </p:txBody>
      </p:sp>
      <p:sp>
        <p:nvSpPr>
          <p:cNvPr id="523" name="Google Shape;523;p44"/>
          <p:cNvSpPr txBox="1"/>
          <p:nvPr/>
        </p:nvSpPr>
        <p:spPr>
          <a:xfrm>
            <a:off x="1055237" y="894657"/>
            <a:ext cx="10484153" cy="147732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Used for </a:t>
            </a:r>
            <a:r>
              <a:rPr lang="en-US" sz="1800" u="none" strike="noStrike">
                <a:solidFill>
                  <a:schemeClr val="dk1"/>
                </a:solidFill>
                <a:latin typeface="Google Sans"/>
                <a:ea typeface="Google Sans"/>
                <a:cs typeface="Google Sans"/>
                <a:sym typeface="Google Sans"/>
              </a:rPr>
              <a:t>photocatalysis, electronics, and magnetic applications</a:t>
            </a:r>
            <a:r>
              <a:rPr lang="en-US" sz="1800">
                <a:solidFill>
                  <a:schemeClr val="dk1"/>
                </a:solidFill>
                <a:latin typeface="Calibri"/>
                <a:ea typeface="Calibri"/>
                <a:cs typeface="Calibri"/>
                <a:sym typeface="Calibri"/>
              </a:rPr>
              <a:t>.</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TbFeO</a:t>
            </a:r>
            <a:r>
              <a:rPr baseline="-25000" lang="en-US" sz="1800">
                <a:solidFill>
                  <a:schemeClr val="dk1"/>
                </a:solidFill>
                <a:latin typeface="Calibri"/>
                <a:ea typeface="Calibri"/>
                <a:cs typeface="Calibri"/>
                <a:sym typeface="Calibri"/>
              </a:rPr>
              <a:t>3 </a:t>
            </a:r>
            <a:r>
              <a:rPr lang="en-US" sz="1800">
                <a:solidFill>
                  <a:schemeClr val="dk1"/>
                </a:solidFill>
                <a:latin typeface="Calibri"/>
                <a:ea typeface="Calibri"/>
                <a:cs typeface="Calibri"/>
                <a:sym typeface="Calibri"/>
              </a:rPr>
              <a:t>film deposited by PLD on Y</a:t>
            </a:r>
            <a:r>
              <a:rPr baseline="-25000" lang="en-US" sz="1800">
                <a:solidFill>
                  <a:schemeClr val="dk1"/>
                </a:solidFill>
                <a:latin typeface="Calibri"/>
                <a:ea typeface="Calibri"/>
                <a:cs typeface="Calibri"/>
                <a:sym typeface="Calibri"/>
              </a:rPr>
              <a:t>2</a:t>
            </a:r>
            <a:r>
              <a:rPr lang="en-US" sz="1800">
                <a:solidFill>
                  <a:schemeClr val="dk1"/>
                </a:solidFill>
                <a:latin typeface="Calibri"/>
                <a:ea typeface="Calibri"/>
                <a:cs typeface="Calibri"/>
                <a:sym typeface="Calibri"/>
              </a:rPr>
              <a:t>O</a:t>
            </a:r>
            <a:r>
              <a:rPr baseline="-25000" lang="en-US" sz="1800">
                <a:solidFill>
                  <a:schemeClr val="dk1"/>
                </a:solidFill>
                <a:latin typeface="Calibri"/>
                <a:ea typeface="Calibri"/>
                <a:cs typeface="Calibri"/>
                <a:sym typeface="Calibri"/>
              </a:rPr>
              <a:t>3</a:t>
            </a:r>
            <a:r>
              <a:rPr lang="en-US" sz="1800">
                <a:solidFill>
                  <a:schemeClr val="dk1"/>
                </a:solidFill>
                <a:latin typeface="Calibri"/>
                <a:ea typeface="Calibri"/>
                <a:cs typeface="Calibri"/>
                <a:sym typeface="Calibri"/>
              </a:rPr>
              <a:t> stabilized zirconia Zr</a:t>
            </a:r>
            <a:r>
              <a:rPr baseline="-25000" lang="en-US" sz="1800">
                <a:solidFill>
                  <a:schemeClr val="dk1"/>
                </a:solidFill>
                <a:latin typeface="Calibri"/>
                <a:ea typeface="Calibri"/>
                <a:cs typeface="Calibri"/>
                <a:sym typeface="Calibri"/>
              </a:rPr>
              <a:t>2</a:t>
            </a:r>
            <a:r>
              <a:rPr lang="en-US" sz="1800">
                <a:solidFill>
                  <a:schemeClr val="dk1"/>
                </a:solidFill>
                <a:latin typeface="Calibri"/>
                <a:ea typeface="Calibri"/>
                <a:cs typeface="Calibri"/>
                <a:sym typeface="Calibri"/>
              </a:rPr>
              <a:t>O</a:t>
            </a:r>
            <a:r>
              <a:rPr baseline="-25000" lang="en-US" sz="1800">
                <a:solidFill>
                  <a:schemeClr val="dk1"/>
                </a:solidFill>
                <a:latin typeface="Calibri"/>
                <a:ea typeface="Calibri"/>
                <a:cs typeface="Calibri"/>
                <a:sym typeface="Calibri"/>
              </a:rPr>
              <a:t>4 </a:t>
            </a:r>
            <a:r>
              <a:rPr lang="en-US" sz="1800">
                <a:solidFill>
                  <a:schemeClr val="dk1"/>
                </a:solidFill>
                <a:latin typeface="Calibri"/>
                <a:ea typeface="Calibri"/>
                <a:cs typeface="Calibri"/>
                <a:sym typeface="Calibri"/>
              </a:rPr>
              <a:t> with </a:t>
            </a:r>
            <a:r>
              <a:rPr lang="en-US" sz="1800">
                <a:solidFill>
                  <a:srgbClr val="FF0000"/>
                </a:solidFill>
                <a:latin typeface="Calibri"/>
                <a:ea typeface="Calibri"/>
                <a:cs typeface="Calibri"/>
                <a:sym typeface="Calibri"/>
              </a:rPr>
              <a:t>hexagonal structure</a:t>
            </a:r>
            <a:r>
              <a:rPr lang="en-US" sz="1800">
                <a:solidFill>
                  <a:schemeClr val="dk1"/>
                </a:solidFill>
                <a:latin typeface="Calibri"/>
                <a:ea typeface="Calibri"/>
                <a:cs typeface="Calibri"/>
                <a:sym typeface="Calibri"/>
              </a:rPr>
              <a:t>.</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Y</a:t>
            </a:r>
            <a:r>
              <a:rPr baseline="-25000" lang="en-US" sz="1800">
                <a:solidFill>
                  <a:schemeClr val="dk1"/>
                </a:solidFill>
                <a:latin typeface="Calibri"/>
                <a:ea typeface="Calibri"/>
                <a:cs typeface="Calibri"/>
                <a:sym typeface="Calibri"/>
              </a:rPr>
              <a:t>x</a:t>
            </a:r>
            <a:r>
              <a:rPr lang="en-US" sz="1800">
                <a:solidFill>
                  <a:schemeClr val="dk1"/>
                </a:solidFill>
                <a:latin typeface="Calibri"/>
                <a:ea typeface="Calibri"/>
                <a:cs typeface="Calibri"/>
                <a:sym typeface="Calibri"/>
              </a:rPr>
              <a:t>Zr</a:t>
            </a:r>
            <a:r>
              <a:rPr baseline="-25000" lang="en-US" sz="1800">
                <a:solidFill>
                  <a:schemeClr val="dk1"/>
                </a:solidFill>
                <a:latin typeface="Calibri"/>
                <a:ea typeface="Calibri"/>
                <a:cs typeface="Calibri"/>
                <a:sym typeface="Calibri"/>
              </a:rPr>
              <a:t>1-x</a:t>
            </a:r>
            <a:r>
              <a:rPr lang="en-US" sz="1800">
                <a:solidFill>
                  <a:schemeClr val="dk1"/>
                </a:solidFill>
                <a:latin typeface="Calibri"/>
                <a:ea typeface="Calibri"/>
                <a:cs typeface="Calibri"/>
                <a:sym typeface="Calibri"/>
              </a:rPr>
              <a:t>O</a:t>
            </a:r>
            <a:r>
              <a:rPr baseline="-25000" lang="en-US" sz="1800">
                <a:solidFill>
                  <a:schemeClr val="dk1"/>
                </a:solidFill>
                <a:latin typeface="Calibri"/>
                <a:ea typeface="Calibri"/>
                <a:cs typeface="Calibri"/>
                <a:sym typeface="Calibri"/>
              </a:rPr>
              <a:t>3</a:t>
            </a:r>
            <a:r>
              <a:rPr lang="en-US" sz="1800">
                <a:solidFill>
                  <a:schemeClr val="dk1"/>
                </a:solidFill>
                <a:latin typeface="Calibri"/>
                <a:ea typeface="Calibri"/>
                <a:cs typeface="Calibri"/>
                <a:sym typeface="Calibri"/>
              </a:rPr>
              <a:t> the value of x determines the crystal structure of YSZ and this controls the crystal structure of TbFeO</a:t>
            </a:r>
            <a:r>
              <a:rPr baseline="-25000" lang="en-US" sz="1800">
                <a:solidFill>
                  <a:schemeClr val="dk1"/>
                </a:solidFill>
                <a:latin typeface="Calibri"/>
                <a:ea typeface="Calibri"/>
                <a:cs typeface="Calibri"/>
                <a:sym typeface="Calibri"/>
              </a:rPr>
              <a:t>3 </a:t>
            </a:r>
            <a:r>
              <a:rPr lang="en-US" sz="1800">
                <a:solidFill>
                  <a:schemeClr val="dk1"/>
                </a:solidFill>
                <a:latin typeface="Calibri"/>
                <a:ea typeface="Calibri"/>
                <a:cs typeface="Calibri"/>
                <a:sym typeface="Calibri"/>
              </a:rPr>
              <a:t> and its properties</a:t>
            </a:r>
            <a:endParaRPr baseline="-25000"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p:txBody>
      </p:sp>
      <p:pic>
        <p:nvPicPr>
          <p:cNvPr id="524" name="Google Shape;524;p44"/>
          <p:cNvPicPr preferRelativeResize="0"/>
          <p:nvPr/>
        </p:nvPicPr>
        <p:blipFill rotWithShape="1">
          <a:blip r:embed="rId3">
            <a:alphaModFix/>
          </a:blip>
          <a:srcRect b="0" l="0" r="0" t="0"/>
          <a:stretch/>
        </p:blipFill>
        <p:spPr>
          <a:xfrm>
            <a:off x="1338402" y="2371985"/>
            <a:ext cx="3011473" cy="2724159"/>
          </a:xfrm>
          <a:prstGeom prst="rect">
            <a:avLst/>
          </a:prstGeom>
          <a:noFill/>
          <a:ln>
            <a:noFill/>
          </a:ln>
        </p:spPr>
      </p:pic>
      <p:sp>
        <p:nvSpPr>
          <p:cNvPr id="525" name="Google Shape;525;p44"/>
          <p:cNvSpPr txBox="1"/>
          <p:nvPr/>
        </p:nvSpPr>
        <p:spPr>
          <a:xfrm>
            <a:off x="827072" y="5788073"/>
            <a:ext cx="4765655"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Cao, Yiming et. Al. (2016). Magnetic phase transition and giant anisotropic magnetic entropy change in TbFeO3 single crystal. Journal of Applied Physics. 119. 063904. 10.1063/1.4941105. </a:t>
            </a:r>
            <a:endParaRPr/>
          </a:p>
        </p:txBody>
      </p:sp>
      <p:sp>
        <p:nvSpPr>
          <p:cNvPr id="526" name="Google Shape;526;p44"/>
          <p:cNvSpPr txBox="1"/>
          <p:nvPr/>
        </p:nvSpPr>
        <p:spPr>
          <a:xfrm>
            <a:off x="1015377" y="5186110"/>
            <a:ext cx="38812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Usual structure Orthorhombic</a:t>
            </a:r>
            <a:endParaRPr/>
          </a:p>
        </p:txBody>
      </p:sp>
      <p:sp>
        <p:nvSpPr>
          <p:cNvPr id="527" name="Google Shape;527;p44"/>
          <p:cNvSpPr txBox="1"/>
          <p:nvPr/>
        </p:nvSpPr>
        <p:spPr>
          <a:xfrm>
            <a:off x="5266880" y="2346640"/>
            <a:ext cx="6096000"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rgbClr val="222222"/>
                </a:solidFill>
                <a:latin typeface="Arial"/>
                <a:ea typeface="Arial"/>
                <a:cs typeface="Arial"/>
                <a:sym typeface="Arial"/>
              </a:rPr>
              <a:t>It is known that under special deposition/synthesis conditions, </a:t>
            </a:r>
            <a:r>
              <a:rPr lang="en-US" sz="1800">
                <a:solidFill>
                  <a:schemeClr val="dk1"/>
                </a:solidFill>
                <a:latin typeface="Calibri"/>
                <a:ea typeface="Calibri"/>
                <a:cs typeface="Calibri"/>
                <a:sym typeface="Calibri"/>
              </a:rPr>
              <a:t>TbFeO</a:t>
            </a:r>
            <a:r>
              <a:rPr baseline="-25000" lang="en-US" sz="1800">
                <a:solidFill>
                  <a:schemeClr val="dk1"/>
                </a:solidFill>
                <a:latin typeface="Calibri"/>
                <a:ea typeface="Calibri"/>
                <a:cs typeface="Calibri"/>
                <a:sym typeface="Calibri"/>
              </a:rPr>
              <a:t>3 </a:t>
            </a:r>
            <a:r>
              <a:rPr b="0" i="0" lang="en-US" sz="1800">
                <a:solidFill>
                  <a:srgbClr val="222222"/>
                </a:solidFill>
                <a:latin typeface="Arial"/>
                <a:ea typeface="Arial"/>
                <a:cs typeface="Arial"/>
                <a:sym typeface="Arial"/>
              </a:rPr>
              <a:t>grows in a hexagonal structure, which has a completely different property compared to the orthorhombic one. Using autonomous deposition condition optimization experiment Dr. Takeuchi’s team found the best condition to fabricate phase pure metastable hexagonal phase, and this is what we show here. </a:t>
            </a:r>
            <a:endParaRPr/>
          </a:p>
          <a:p>
            <a:pPr indent="0" lvl="0" marL="0" marR="0" rtl="0" algn="l">
              <a:spcBef>
                <a:spcPts val="0"/>
              </a:spcBef>
              <a:spcAft>
                <a:spcPts val="0"/>
              </a:spcAft>
              <a:buNone/>
            </a:pPr>
            <a:r>
              <a:t/>
            </a:r>
            <a:endParaRPr sz="1800">
              <a:solidFill>
                <a:srgbClr val="222222"/>
              </a:solidFill>
              <a:latin typeface="Arial"/>
              <a:ea typeface="Arial"/>
              <a:cs typeface="Arial"/>
              <a:sym typeface="Arial"/>
            </a:endParaRPr>
          </a:p>
          <a:p>
            <a:pPr indent="0" lvl="0" marL="0" marR="0" rtl="0" algn="l">
              <a:spcBef>
                <a:spcPts val="0"/>
              </a:spcBef>
              <a:spcAft>
                <a:spcPts val="0"/>
              </a:spcAft>
              <a:buNone/>
            </a:pPr>
            <a:r>
              <a:rPr lang="en-US" sz="1800">
                <a:solidFill>
                  <a:srgbClr val="222222"/>
                </a:solidFill>
                <a:latin typeface="Arial"/>
                <a:ea typeface="Arial"/>
                <a:cs typeface="Arial"/>
                <a:sym typeface="Arial"/>
              </a:rPr>
              <a:t>This structure could also have defects  that affect the properties.</a:t>
            </a:r>
            <a:endParaRPr sz="1800">
              <a:solidFill>
                <a:schemeClr val="dk1"/>
              </a:solidFill>
              <a:latin typeface="Calibri"/>
              <a:ea typeface="Calibri"/>
              <a:cs typeface="Calibri"/>
              <a:sym typeface="Calibri"/>
            </a:endParaRPr>
          </a:p>
        </p:txBody>
      </p:sp>
      <p:sp>
        <p:nvSpPr>
          <p:cNvPr id="528" name="Google Shape;528;p44"/>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grpSp>
        <p:nvGrpSpPr>
          <p:cNvPr id="533" name="Google Shape;533;p45"/>
          <p:cNvGrpSpPr/>
          <p:nvPr/>
        </p:nvGrpSpPr>
        <p:grpSpPr>
          <a:xfrm>
            <a:off x="1737421" y="978381"/>
            <a:ext cx="8717157" cy="5309395"/>
            <a:chOff x="1828800" y="792931"/>
            <a:chExt cx="8629650" cy="5289550"/>
          </a:xfrm>
        </p:grpSpPr>
        <p:grpSp>
          <p:nvGrpSpPr>
            <p:cNvPr id="534" name="Google Shape;534;p45"/>
            <p:cNvGrpSpPr/>
            <p:nvPr/>
          </p:nvGrpSpPr>
          <p:grpSpPr>
            <a:xfrm>
              <a:off x="1828800" y="792931"/>
              <a:ext cx="2667000" cy="2514600"/>
              <a:chOff x="342" y="864"/>
              <a:chExt cx="1868" cy="2112"/>
            </a:xfrm>
          </p:grpSpPr>
          <p:pic>
            <p:nvPicPr>
              <p:cNvPr id="535" name="Google Shape;535;p45"/>
              <p:cNvPicPr preferRelativeResize="0"/>
              <p:nvPr/>
            </p:nvPicPr>
            <p:blipFill rotWithShape="1">
              <a:blip r:embed="rId3">
                <a:alphaModFix/>
              </a:blip>
              <a:srcRect b="0" l="0" r="0" t="0"/>
              <a:stretch/>
            </p:blipFill>
            <p:spPr>
              <a:xfrm>
                <a:off x="342" y="864"/>
                <a:ext cx="1868" cy="2112"/>
              </a:xfrm>
              <a:prstGeom prst="rect">
                <a:avLst/>
              </a:prstGeom>
              <a:noFill/>
              <a:ln>
                <a:noFill/>
              </a:ln>
            </p:spPr>
          </p:pic>
          <p:sp>
            <p:nvSpPr>
              <p:cNvPr id="536" name="Google Shape;536;p45"/>
              <p:cNvSpPr/>
              <p:nvPr/>
            </p:nvSpPr>
            <p:spPr>
              <a:xfrm>
                <a:off x="1056" y="1440"/>
                <a:ext cx="672" cy="456"/>
              </a:xfrm>
              <a:prstGeom prst="rect">
                <a:avLst/>
              </a:prstGeom>
              <a:noFill/>
              <a:ln cap="flat" cmpd="sng" w="28575">
                <a:solidFill>
                  <a:srgbClr val="FF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37" name="Google Shape;537;p45"/>
            <p:cNvGrpSpPr/>
            <p:nvPr/>
          </p:nvGrpSpPr>
          <p:grpSpPr>
            <a:xfrm>
              <a:off x="7696200" y="1035819"/>
              <a:ext cx="2762250" cy="1600200"/>
              <a:chOff x="3840" y="576"/>
              <a:chExt cx="1740" cy="1008"/>
            </a:xfrm>
          </p:grpSpPr>
          <p:grpSp>
            <p:nvGrpSpPr>
              <p:cNvPr id="538" name="Google Shape;538;p45"/>
              <p:cNvGrpSpPr/>
              <p:nvPr/>
            </p:nvGrpSpPr>
            <p:grpSpPr>
              <a:xfrm>
                <a:off x="3936" y="576"/>
                <a:ext cx="1644" cy="960"/>
                <a:chOff x="1248" y="2112"/>
                <a:chExt cx="2208" cy="1344"/>
              </a:xfrm>
            </p:grpSpPr>
            <p:sp>
              <p:nvSpPr>
                <p:cNvPr id="539" name="Google Shape;539;p45"/>
                <p:cNvSpPr/>
                <p:nvPr/>
              </p:nvSpPr>
              <p:spPr>
                <a:xfrm>
                  <a:off x="1248" y="2112"/>
                  <a:ext cx="2208" cy="1344"/>
                </a:xfrm>
                <a:prstGeom prst="rect">
                  <a:avLst/>
                </a:prstGeom>
                <a:solidFill>
                  <a:srgbClr val="FFFFFF"/>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40" name="Google Shape;540;p45"/>
                <p:cNvGrpSpPr/>
                <p:nvPr/>
              </p:nvGrpSpPr>
              <p:grpSpPr>
                <a:xfrm>
                  <a:off x="1344" y="2172"/>
                  <a:ext cx="2032" cy="1188"/>
                  <a:chOff x="1344" y="2172"/>
                  <a:chExt cx="2032" cy="1188"/>
                </a:xfrm>
              </p:grpSpPr>
              <p:cxnSp>
                <p:nvCxnSpPr>
                  <p:cNvPr id="541" name="Google Shape;541;p45"/>
                  <p:cNvCxnSpPr/>
                  <p:nvPr/>
                </p:nvCxnSpPr>
                <p:spPr>
                  <a:xfrm flipH="1">
                    <a:off x="2256" y="3072"/>
                    <a:ext cx="192" cy="240"/>
                  </a:xfrm>
                  <a:prstGeom prst="straightConnector1">
                    <a:avLst/>
                  </a:prstGeom>
                  <a:noFill/>
                  <a:ln cap="flat" cmpd="sng" w="9525">
                    <a:solidFill>
                      <a:srgbClr val="000000"/>
                    </a:solidFill>
                    <a:prstDash val="solid"/>
                    <a:round/>
                    <a:headEnd len="med" w="med" type="none"/>
                    <a:tailEnd len="med" w="med" type="none"/>
                  </a:ln>
                </p:spPr>
              </p:cxnSp>
              <p:cxnSp>
                <p:nvCxnSpPr>
                  <p:cNvPr id="542" name="Google Shape;542;p45"/>
                  <p:cNvCxnSpPr/>
                  <p:nvPr/>
                </p:nvCxnSpPr>
                <p:spPr>
                  <a:xfrm flipH="1">
                    <a:off x="2256" y="2640"/>
                    <a:ext cx="192" cy="240"/>
                  </a:xfrm>
                  <a:prstGeom prst="straightConnector1">
                    <a:avLst/>
                  </a:prstGeom>
                  <a:noFill/>
                  <a:ln cap="flat" cmpd="sng" w="9525">
                    <a:solidFill>
                      <a:srgbClr val="000000"/>
                    </a:solidFill>
                    <a:prstDash val="solid"/>
                    <a:round/>
                    <a:headEnd len="med" w="med" type="none"/>
                    <a:tailEnd len="med" w="med" type="none"/>
                  </a:ln>
                </p:spPr>
              </p:cxnSp>
              <p:cxnSp>
                <p:nvCxnSpPr>
                  <p:cNvPr id="543" name="Google Shape;543;p45"/>
                  <p:cNvCxnSpPr/>
                  <p:nvPr/>
                </p:nvCxnSpPr>
                <p:spPr>
                  <a:xfrm flipH="1">
                    <a:off x="2256" y="2208"/>
                    <a:ext cx="192" cy="240"/>
                  </a:xfrm>
                  <a:prstGeom prst="straightConnector1">
                    <a:avLst/>
                  </a:prstGeom>
                  <a:noFill/>
                  <a:ln cap="flat" cmpd="sng" w="9525">
                    <a:solidFill>
                      <a:srgbClr val="000000"/>
                    </a:solidFill>
                    <a:prstDash val="solid"/>
                    <a:round/>
                    <a:headEnd len="med" w="med" type="none"/>
                    <a:tailEnd len="med" w="med" type="none"/>
                  </a:ln>
                </p:spPr>
              </p:cxnSp>
              <p:sp>
                <p:nvSpPr>
                  <p:cNvPr id="544" name="Google Shape;544;p45"/>
                  <p:cNvSpPr/>
                  <p:nvPr/>
                </p:nvSpPr>
                <p:spPr>
                  <a:xfrm>
                    <a:off x="2460" y="2652"/>
                    <a:ext cx="432" cy="432"/>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45"/>
                  <p:cNvSpPr/>
                  <p:nvPr/>
                </p:nvSpPr>
                <p:spPr>
                  <a:xfrm>
                    <a:off x="2856" y="2616"/>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45"/>
                  <p:cNvSpPr/>
                  <p:nvPr/>
                </p:nvSpPr>
                <p:spPr>
                  <a:xfrm>
                    <a:off x="2856" y="3048"/>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45"/>
                  <p:cNvSpPr/>
                  <p:nvPr/>
                </p:nvSpPr>
                <p:spPr>
                  <a:xfrm>
                    <a:off x="2412" y="2604"/>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8" name="Google Shape;548;p45"/>
                  <p:cNvSpPr/>
                  <p:nvPr/>
                </p:nvSpPr>
                <p:spPr>
                  <a:xfrm>
                    <a:off x="2412" y="3036"/>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9" name="Google Shape;549;p45"/>
                  <p:cNvSpPr/>
                  <p:nvPr/>
                </p:nvSpPr>
                <p:spPr>
                  <a:xfrm>
                    <a:off x="2652" y="2844"/>
                    <a:ext cx="48" cy="48"/>
                  </a:xfrm>
                  <a:prstGeom prst="ellipse">
                    <a:avLst/>
                  </a:prstGeom>
                  <a:gradFill>
                    <a:gsLst>
                      <a:gs pos="0">
                        <a:srgbClr val="FFFFFF"/>
                      </a:gs>
                      <a:gs pos="100000">
                        <a:srgbClr val="FF0000"/>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45"/>
                  <p:cNvSpPr/>
                  <p:nvPr/>
                </p:nvSpPr>
                <p:spPr>
                  <a:xfrm>
                    <a:off x="1392" y="2880"/>
                    <a:ext cx="432" cy="432"/>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1" name="Google Shape;551;p45"/>
                  <p:cNvSpPr/>
                  <p:nvPr/>
                </p:nvSpPr>
                <p:spPr>
                  <a:xfrm>
                    <a:off x="1776" y="2832"/>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45"/>
                  <p:cNvSpPr/>
                  <p:nvPr/>
                </p:nvSpPr>
                <p:spPr>
                  <a:xfrm>
                    <a:off x="1776" y="3264"/>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45"/>
                  <p:cNvSpPr/>
                  <p:nvPr/>
                </p:nvSpPr>
                <p:spPr>
                  <a:xfrm>
                    <a:off x="1344" y="2832"/>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45"/>
                  <p:cNvSpPr/>
                  <p:nvPr/>
                </p:nvSpPr>
                <p:spPr>
                  <a:xfrm>
                    <a:off x="1344" y="3264"/>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5" name="Google Shape;555;p45"/>
                  <p:cNvSpPr/>
                  <p:nvPr/>
                </p:nvSpPr>
                <p:spPr>
                  <a:xfrm>
                    <a:off x="1584" y="3072"/>
                    <a:ext cx="48" cy="48"/>
                  </a:xfrm>
                  <a:prstGeom prst="ellipse">
                    <a:avLst/>
                  </a:prstGeom>
                  <a:gradFill>
                    <a:gsLst>
                      <a:gs pos="0">
                        <a:srgbClr val="FFFFFF"/>
                      </a:gs>
                      <a:gs pos="100000">
                        <a:srgbClr val="FF0000"/>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45"/>
                  <p:cNvSpPr/>
                  <p:nvPr/>
                </p:nvSpPr>
                <p:spPr>
                  <a:xfrm>
                    <a:off x="1824" y="2880"/>
                    <a:ext cx="432" cy="432"/>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7" name="Google Shape;557;p45"/>
                  <p:cNvSpPr/>
                  <p:nvPr/>
                </p:nvSpPr>
                <p:spPr>
                  <a:xfrm>
                    <a:off x="2208" y="2832"/>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45"/>
                  <p:cNvSpPr/>
                  <p:nvPr/>
                </p:nvSpPr>
                <p:spPr>
                  <a:xfrm>
                    <a:off x="2208" y="3264"/>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45"/>
                  <p:cNvSpPr/>
                  <p:nvPr/>
                </p:nvSpPr>
                <p:spPr>
                  <a:xfrm>
                    <a:off x="1776" y="2832"/>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0" name="Google Shape;560;p45"/>
                  <p:cNvSpPr/>
                  <p:nvPr/>
                </p:nvSpPr>
                <p:spPr>
                  <a:xfrm>
                    <a:off x="1776" y="3264"/>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45"/>
                  <p:cNvSpPr/>
                  <p:nvPr/>
                </p:nvSpPr>
                <p:spPr>
                  <a:xfrm>
                    <a:off x="2016" y="3072"/>
                    <a:ext cx="48" cy="48"/>
                  </a:xfrm>
                  <a:prstGeom prst="ellipse">
                    <a:avLst/>
                  </a:prstGeom>
                  <a:gradFill>
                    <a:gsLst>
                      <a:gs pos="0">
                        <a:srgbClr val="FFFFFF"/>
                      </a:gs>
                      <a:gs pos="100000">
                        <a:srgbClr val="FF0000"/>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45"/>
                  <p:cNvSpPr/>
                  <p:nvPr/>
                </p:nvSpPr>
                <p:spPr>
                  <a:xfrm>
                    <a:off x="2452" y="2220"/>
                    <a:ext cx="432" cy="432"/>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45"/>
                  <p:cNvSpPr/>
                  <p:nvPr/>
                </p:nvSpPr>
                <p:spPr>
                  <a:xfrm>
                    <a:off x="2836" y="2172"/>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45"/>
                  <p:cNvSpPr/>
                  <p:nvPr/>
                </p:nvSpPr>
                <p:spPr>
                  <a:xfrm>
                    <a:off x="2848" y="2616"/>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45"/>
                  <p:cNvSpPr/>
                  <p:nvPr/>
                </p:nvSpPr>
                <p:spPr>
                  <a:xfrm>
                    <a:off x="2404" y="2172"/>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6" name="Google Shape;566;p45"/>
                  <p:cNvSpPr/>
                  <p:nvPr/>
                </p:nvSpPr>
                <p:spPr>
                  <a:xfrm>
                    <a:off x="2404" y="2604"/>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45"/>
                  <p:cNvSpPr/>
                  <p:nvPr/>
                </p:nvSpPr>
                <p:spPr>
                  <a:xfrm>
                    <a:off x="2644" y="2412"/>
                    <a:ext cx="48" cy="48"/>
                  </a:xfrm>
                  <a:prstGeom prst="ellipse">
                    <a:avLst/>
                  </a:prstGeom>
                  <a:gradFill>
                    <a:gsLst>
                      <a:gs pos="0">
                        <a:srgbClr val="FFFFFF"/>
                      </a:gs>
                      <a:gs pos="100000">
                        <a:srgbClr val="FF0000"/>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45"/>
                  <p:cNvSpPr/>
                  <p:nvPr/>
                </p:nvSpPr>
                <p:spPr>
                  <a:xfrm>
                    <a:off x="2884" y="2220"/>
                    <a:ext cx="432" cy="432"/>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9" name="Google Shape;569;p45"/>
                  <p:cNvSpPr/>
                  <p:nvPr/>
                </p:nvSpPr>
                <p:spPr>
                  <a:xfrm>
                    <a:off x="3268" y="2172"/>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45"/>
                  <p:cNvSpPr/>
                  <p:nvPr/>
                </p:nvSpPr>
                <p:spPr>
                  <a:xfrm>
                    <a:off x="3280" y="2616"/>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45"/>
                  <p:cNvSpPr/>
                  <p:nvPr/>
                </p:nvSpPr>
                <p:spPr>
                  <a:xfrm>
                    <a:off x="2836" y="2172"/>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45"/>
                  <p:cNvSpPr/>
                  <p:nvPr/>
                </p:nvSpPr>
                <p:spPr>
                  <a:xfrm>
                    <a:off x="2848" y="2616"/>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p45"/>
                  <p:cNvSpPr/>
                  <p:nvPr/>
                </p:nvSpPr>
                <p:spPr>
                  <a:xfrm>
                    <a:off x="3076" y="2412"/>
                    <a:ext cx="48" cy="48"/>
                  </a:xfrm>
                  <a:prstGeom prst="ellipse">
                    <a:avLst/>
                  </a:prstGeom>
                  <a:gradFill>
                    <a:gsLst>
                      <a:gs pos="0">
                        <a:srgbClr val="FFFFFF"/>
                      </a:gs>
                      <a:gs pos="100000">
                        <a:srgbClr val="FF0000"/>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45"/>
                  <p:cNvSpPr/>
                  <p:nvPr/>
                </p:nvSpPr>
                <p:spPr>
                  <a:xfrm>
                    <a:off x="2892" y="2652"/>
                    <a:ext cx="432" cy="432"/>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5" name="Google Shape;575;p45"/>
                  <p:cNvSpPr/>
                  <p:nvPr/>
                </p:nvSpPr>
                <p:spPr>
                  <a:xfrm>
                    <a:off x="3276" y="2604"/>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p45"/>
                  <p:cNvSpPr/>
                  <p:nvPr/>
                </p:nvSpPr>
                <p:spPr>
                  <a:xfrm>
                    <a:off x="3276" y="3036"/>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45"/>
                  <p:cNvSpPr/>
                  <p:nvPr/>
                </p:nvSpPr>
                <p:spPr>
                  <a:xfrm>
                    <a:off x="2844" y="2604"/>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8" name="Google Shape;578;p45"/>
                  <p:cNvSpPr/>
                  <p:nvPr/>
                </p:nvSpPr>
                <p:spPr>
                  <a:xfrm>
                    <a:off x="2844" y="3036"/>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9" name="Google Shape;579;p45"/>
                  <p:cNvSpPr/>
                  <p:nvPr/>
                </p:nvSpPr>
                <p:spPr>
                  <a:xfrm>
                    <a:off x="3084" y="2844"/>
                    <a:ext cx="48" cy="48"/>
                  </a:xfrm>
                  <a:prstGeom prst="ellipse">
                    <a:avLst/>
                  </a:prstGeom>
                  <a:gradFill>
                    <a:gsLst>
                      <a:gs pos="0">
                        <a:srgbClr val="FFFFFF"/>
                      </a:gs>
                      <a:gs pos="100000">
                        <a:srgbClr val="FF0000"/>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0" name="Google Shape;580;p45"/>
                  <p:cNvSpPr/>
                  <p:nvPr/>
                </p:nvSpPr>
                <p:spPr>
                  <a:xfrm>
                    <a:off x="1392" y="2448"/>
                    <a:ext cx="432" cy="432"/>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p45"/>
                  <p:cNvSpPr/>
                  <p:nvPr/>
                </p:nvSpPr>
                <p:spPr>
                  <a:xfrm>
                    <a:off x="1776" y="2400"/>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45"/>
                  <p:cNvSpPr/>
                  <p:nvPr/>
                </p:nvSpPr>
                <p:spPr>
                  <a:xfrm>
                    <a:off x="1776" y="2832"/>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45"/>
                  <p:cNvSpPr/>
                  <p:nvPr/>
                </p:nvSpPr>
                <p:spPr>
                  <a:xfrm>
                    <a:off x="1344" y="2400"/>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4" name="Google Shape;584;p45"/>
                  <p:cNvSpPr/>
                  <p:nvPr/>
                </p:nvSpPr>
                <p:spPr>
                  <a:xfrm>
                    <a:off x="1344" y="2832"/>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45"/>
                  <p:cNvSpPr/>
                  <p:nvPr/>
                </p:nvSpPr>
                <p:spPr>
                  <a:xfrm>
                    <a:off x="1584" y="2640"/>
                    <a:ext cx="48" cy="48"/>
                  </a:xfrm>
                  <a:prstGeom prst="ellipse">
                    <a:avLst/>
                  </a:prstGeom>
                  <a:gradFill>
                    <a:gsLst>
                      <a:gs pos="0">
                        <a:srgbClr val="FFFFFF"/>
                      </a:gs>
                      <a:gs pos="100000">
                        <a:srgbClr val="FF0000"/>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6" name="Google Shape;586;p45"/>
                  <p:cNvSpPr/>
                  <p:nvPr/>
                </p:nvSpPr>
                <p:spPr>
                  <a:xfrm>
                    <a:off x="1824" y="2448"/>
                    <a:ext cx="432" cy="43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45"/>
                  <p:cNvSpPr/>
                  <p:nvPr/>
                </p:nvSpPr>
                <p:spPr>
                  <a:xfrm>
                    <a:off x="2208" y="2400"/>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8" name="Google Shape;588;p45"/>
                  <p:cNvSpPr/>
                  <p:nvPr/>
                </p:nvSpPr>
                <p:spPr>
                  <a:xfrm>
                    <a:off x="2208" y="2832"/>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p45"/>
                  <p:cNvSpPr/>
                  <p:nvPr/>
                </p:nvSpPr>
                <p:spPr>
                  <a:xfrm>
                    <a:off x="1776" y="2400"/>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45"/>
                  <p:cNvSpPr/>
                  <p:nvPr/>
                </p:nvSpPr>
                <p:spPr>
                  <a:xfrm>
                    <a:off x="1776" y="2832"/>
                    <a:ext cx="96" cy="9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1" name="Google Shape;591;p45"/>
                  <p:cNvSpPr/>
                  <p:nvPr/>
                </p:nvSpPr>
                <p:spPr>
                  <a:xfrm>
                    <a:off x="2016" y="2640"/>
                    <a:ext cx="48" cy="48"/>
                  </a:xfrm>
                  <a:prstGeom prst="ellipse">
                    <a:avLst/>
                  </a:prstGeom>
                  <a:gradFill>
                    <a:gsLst>
                      <a:gs pos="0">
                        <a:srgbClr val="FFFFFF"/>
                      </a:gs>
                      <a:gs pos="100000">
                        <a:srgbClr val="FF0000"/>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592" name="Google Shape;592;p45"/>
              <p:cNvSpPr txBox="1"/>
              <p:nvPr/>
            </p:nvSpPr>
            <p:spPr>
              <a:xfrm>
                <a:off x="3840" y="576"/>
                <a:ext cx="450"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0000"/>
                    </a:solidFill>
                    <a:latin typeface="Arial"/>
                    <a:ea typeface="Arial"/>
                    <a:cs typeface="Arial"/>
                    <a:sym typeface="Arial"/>
                  </a:rPr>
                  <a:t>Ba/Sr</a:t>
                </a:r>
                <a:endParaRPr b="1" sz="1000">
                  <a:solidFill>
                    <a:srgbClr val="000000"/>
                  </a:solidFill>
                  <a:latin typeface="Arial"/>
                  <a:ea typeface="Arial"/>
                  <a:cs typeface="Arial"/>
                  <a:sym typeface="Arial"/>
                </a:endParaRPr>
              </a:p>
            </p:txBody>
          </p:sp>
          <p:sp>
            <p:nvSpPr>
              <p:cNvPr id="593" name="Google Shape;593;p45"/>
              <p:cNvSpPr txBox="1"/>
              <p:nvPr/>
            </p:nvSpPr>
            <p:spPr>
              <a:xfrm>
                <a:off x="4080" y="960"/>
                <a:ext cx="251"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0000"/>
                    </a:solidFill>
                    <a:latin typeface="Arial"/>
                    <a:ea typeface="Arial"/>
                    <a:cs typeface="Arial"/>
                    <a:sym typeface="Arial"/>
                  </a:rPr>
                  <a:t>Ti</a:t>
                </a:r>
                <a:endParaRPr b="1" sz="1000">
                  <a:solidFill>
                    <a:srgbClr val="000000"/>
                  </a:solidFill>
                  <a:latin typeface="Arial"/>
                  <a:ea typeface="Arial"/>
                  <a:cs typeface="Arial"/>
                  <a:sym typeface="Arial"/>
                </a:endParaRPr>
              </a:p>
            </p:txBody>
          </p:sp>
          <p:cxnSp>
            <p:nvCxnSpPr>
              <p:cNvPr id="594" name="Google Shape;594;p45"/>
              <p:cNvCxnSpPr/>
              <p:nvPr/>
            </p:nvCxnSpPr>
            <p:spPr>
              <a:xfrm>
                <a:off x="4713" y="1484"/>
                <a:ext cx="259" cy="0"/>
              </a:xfrm>
              <a:prstGeom prst="straightConnector1">
                <a:avLst/>
              </a:prstGeom>
              <a:noFill/>
              <a:ln cap="flat" cmpd="sng" w="9525">
                <a:solidFill>
                  <a:srgbClr val="000000"/>
                </a:solidFill>
                <a:prstDash val="solid"/>
                <a:round/>
                <a:headEnd len="med" w="med" type="none"/>
                <a:tailEnd len="med" w="med" type="none"/>
              </a:ln>
            </p:spPr>
          </p:cxnSp>
          <p:cxnSp>
            <p:nvCxnSpPr>
              <p:cNvPr id="595" name="Google Shape;595;p45"/>
              <p:cNvCxnSpPr/>
              <p:nvPr/>
            </p:nvCxnSpPr>
            <p:spPr>
              <a:xfrm>
                <a:off x="4929" y="1303"/>
                <a:ext cx="0" cy="181"/>
              </a:xfrm>
              <a:prstGeom prst="straightConnector1">
                <a:avLst/>
              </a:prstGeom>
              <a:noFill/>
              <a:ln cap="flat" cmpd="sng" w="9525">
                <a:solidFill>
                  <a:srgbClr val="000000"/>
                </a:solidFill>
                <a:prstDash val="solid"/>
                <a:round/>
                <a:headEnd len="med" w="med" type="triangle"/>
                <a:tailEnd len="med" w="med" type="triangle"/>
              </a:ln>
            </p:spPr>
          </p:cxnSp>
          <p:sp>
            <p:nvSpPr>
              <p:cNvPr id="596" name="Google Shape;596;p45"/>
              <p:cNvSpPr txBox="1"/>
              <p:nvPr/>
            </p:nvSpPr>
            <p:spPr>
              <a:xfrm>
                <a:off x="4906" y="1323"/>
                <a:ext cx="537"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½[010]</a:t>
                </a:r>
                <a:endParaRPr/>
              </a:p>
            </p:txBody>
          </p:sp>
          <p:cxnSp>
            <p:nvCxnSpPr>
              <p:cNvPr id="597" name="Google Shape;597;p45"/>
              <p:cNvCxnSpPr/>
              <p:nvPr/>
            </p:nvCxnSpPr>
            <p:spPr>
              <a:xfrm>
                <a:off x="4608" y="576"/>
                <a:ext cx="0" cy="1008"/>
              </a:xfrm>
              <a:prstGeom prst="straightConnector1">
                <a:avLst/>
              </a:prstGeom>
              <a:noFill/>
              <a:ln cap="flat" cmpd="sng" w="9525">
                <a:solidFill>
                  <a:schemeClr val="dk1"/>
                </a:solidFill>
                <a:prstDash val="dot"/>
                <a:round/>
                <a:headEnd len="med" w="med" type="none"/>
                <a:tailEnd len="med" w="med" type="none"/>
              </a:ln>
            </p:spPr>
          </p:cxnSp>
          <p:cxnSp>
            <p:nvCxnSpPr>
              <p:cNvPr id="598" name="Google Shape;598;p45"/>
              <p:cNvCxnSpPr/>
              <p:nvPr/>
            </p:nvCxnSpPr>
            <p:spPr>
              <a:xfrm>
                <a:off x="4896" y="576"/>
                <a:ext cx="0" cy="1008"/>
              </a:xfrm>
              <a:prstGeom prst="straightConnector1">
                <a:avLst/>
              </a:prstGeom>
              <a:noFill/>
              <a:ln cap="flat" cmpd="sng" w="9525">
                <a:solidFill>
                  <a:schemeClr val="dk1"/>
                </a:solidFill>
                <a:prstDash val="dot"/>
                <a:round/>
                <a:headEnd len="med" w="med" type="none"/>
                <a:tailEnd len="med" w="med" type="none"/>
              </a:ln>
            </p:spPr>
          </p:cxnSp>
        </p:grpSp>
        <p:sp>
          <p:nvSpPr>
            <p:cNvPr id="599" name="Google Shape;599;p45"/>
            <p:cNvSpPr txBox="1"/>
            <p:nvPr/>
          </p:nvSpPr>
          <p:spPr>
            <a:xfrm>
              <a:off x="8077200" y="2864619"/>
              <a:ext cx="2057400" cy="366712"/>
            </a:xfrm>
            <a:prstGeom prst="rect">
              <a:avLst/>
            </a:prstGeom>
            <a:solidFill>
              <a:srgbClr val="E2EBF7"/>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ADB is Ba/Sr rich </a:t>
              </a:r>
              <a:endParaRPr/>
            </a:p>
          </p:txBody>
        </p:sp>
        <p:grpSp>
          <p:nvGrpSpPr>
            <p:cNvPr id="600" name="Google Shape;600;p45"/>
            <p:cNvGrpSpPr/>
            <p:nvPr/>
          </p:nvGrpSpPr>
          <p:grpSpPr>
            <a:xfrm>
              <a:off x="7772400" y="3931419"/>
              <a:ext cx="2590800" cy="1371600"/>
              <a:chOff x="3840" y="2112"/>
              <a:chExt cx="1776" cy="864"/>
            </a:xfrm>
          </p:grpSpPr>
          <p:cxnSp>
            <p:nvCxnSpPr>
              <p:cNvPr id="601" name="Google Shape;601;p45"/>
              <p:cNvCxnSpPr/>
              <p:nvPr/>
            </p:nvCxnSpPr>
            <p:spPr>
              <a:xfrm>
                <a:off x="4822" y="2112"/>
                <a:ext cx="0" cy="864"/>
              </a:xfrm>
              <a:prstGeom prst="straightConnector1">
                <a:avLst/>
              </a:prstGeom>
              <a:noFill/>
              <a:ln cap="rnd" cmpd="sng" w="9525">
                <a:solidFill>
                  <a:srgbClr val="000000"/>
                </a:solidFill>
                <a:prstDash val="dot"/>
                <a:round/>
                <a:headEnd len="med" w="med" type="none"/>
                <a:tailEnd len="med" w="med" type="none"/>
              </a:ln>
            </p:spPr>
          </p:cxnSp>
          <p:cxnSp>
            <p:nvCxnSpPr>
              <p:cNvPr id="602" name="Google Shape;602;p45"/>
              <p:cNvCxnSpPr/>
              <p:nvPr/>
            </p:nvCxnSpPr>
            <p:spPr>
              <a:xfrm>
                <a:off x="5107" y="2112"/>
                <a:ext cx="0" cy="864"/>
              </a:xfrm>
              <a:prstGeom prst="straightConnector1">
                <a:avLst/>
              </a:prstGeom>
              <a:noFill/>
              <a:ln cap="rnd" cmpd="sng" w="9525">
                <a:solidFill>
                  <a:srgbClr val="000000"/>
                </a:solidFill>
                <a:prstDash val="dot"/>
                <a:round/>
                <a:headEnd len="med" w="med" type="none"/>
                <a:tailEnd len="med" w="med" type="none"/>
              </a:ln>
            </p:spPr>
          </p:cxnSp>
          <p:grpSp>
            <p:nvGrpSpPr>
              <p:cNvPr id="603" name="Google Shape;603;p45"/>
              <p:cNvGrpSpPr/>
              <p:nvPr/>
            </p:nvGrpSpPr>
            <p:grpSpPr>
              <a:xfrm>
                <a:off x="5038" y="2178"/>
                <a:ext cx="190" cy="594"/>
                <a:chOff x="896" y="3744"/>
                <a:chExt cx="192" cy="672"/>
              </a:xfrm>
            </p:grpSpPr>
            <p:sp>
              <p:nvSpPr>
                <p:cNvPr id="604" name="Google Shape;604;p45"/>
                <p:cNvSpPr/>
                <p:nvPr/>
              </p:nvSpPr>
              <p:spPr>
                <a:xfrm>
                  <a:off x="912" y="3744"/>
                  <a:ext cx="176" cy="672"/>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605" name="Google Shape;605;p45"/>
                <p:cNvCxnSpPr/>
                <p:nvPr/>
              </p:nvCxnSpPr>
              <p:spPr>
                <a:xfrm>
                  <a:off x="896" y="4080"/>
                  <a:ext cx="192" cy="0"/>
                </a:xfrm>
                <a:prstGeom prst="straightConnector1">
                  <a:avLst/>
                </a:prstGeom>
                <a:noFill/>
                <a:ln cap="flat" cmpd="sng" w="9525">
                  <a:solidFill>
                    <a:srgbClr val="000000"/>
                  </a:solidFill>
                  <a:prstDash val="solid"/>
                  <a:round/>
                  <a:headEnd len="med" w="med" type="none"/>
                  <a:tailEnd len="med" w="med" type="none"/>
                </a:ln>
              </p:spPr>
            </p:cxnSp>
          </p:grpSp>
          <p:grpSp>
            <p:nvGrpSpPr>
              <p:cNvPr id="606" name="Google Shape;606;p45"/>
              <p:cNvGrpSpPr/>
              <p:nvPr/>
            </p:nvGrpSpPr>
            <p:grpSpPr>
              <a:xfrm>
                <a:off x="4703" y="2327"/>
                <a:ext cx="191" cy="595"/>
                <a:chOff x="896" y="3744"/>
                <a:chExt cx="192" cy="672"/>
              </a:xfrm>
            </p:grpSpPr>
            <p:sp>
              <p:nvSpPr>
                <p:cNvPr id="607" name="Google Shape;607;p45"/>
                <p:cNvSpPr/>
                <p:nvPr/>
              </p:nvSpPr>
              <p:spPr>
                <a:xfrm>
                  <a:off x="912" y="3744"/>
                  <a:ext cx="176" cy="672"/>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608" name="Google Shape;608;p45"/>
                <p:cNvCxnSpPr/>
                <p:nvPr/>
              </p:nvCxnSpPr>
              <p:spPr>
                <a:xfrm>
                  <a:off x="896" y="4080"/>
                  <a:ext cx="192" cy="0"/>
                </a:xfrm>
                <a:prstGeom prst="straightConnector1">
                  <a:avLst/>
                </a:prstGeom>
                <a:noFill/>
                <a:ln cap="flat" cmpd="sng" w="9525">
                  <a:solidFill>
                    <a:srgbClr val="000000"/>
                  </a:solidFill>
                  <a:prstDash val="solid"/>
                  <a:round/>
                  <a:headEnd len="med" w="med" type="none"/>
                  <a:tailEnd len="med" w="med" type="none"/>
                </a:ln>
              </p:spPr>
            </p:cxnSp>
          </p:grpSp>
          <p:sp>
            <p:nvSpPr>
              <p:cNvPr id="609" name="Google Shape;609;p45"/>
              <p:cNvSpPr/>
              <p:nvPr/>
            </p:nvSpPr>
            <p:spPr>
              <a:xfrm>
                <a:off x="5209" y="2451"/>
                <a:ext cx="80"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0" name="Google Shape;610;p45"/>
              <p:cNvSpPr/>
              <p:nvPr/>
            </p:nvSpPr>
            <p:spPr>
              <a:xfrm>
                <a:off x="5209" y="2743"/>
                <a:ext cx="80" cy="63"/>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1" name="Google Shape;611;p45"/>
              <p:cNvSpPr/>
              <p:nvPr/>
            </p:nvSpPr>
            <p:spPr>
              <a:xfrm>
                <a:off x="5044" y="2605"/>
                <a:ext cx="38" cy="31"/>
              </a:xfrm>
              <a:prstGeom prst="ellipse">
                <a:avLst/>
              </a:prstGeom>
              <a:gradFill>
                <a:gsLst>
                  <a:gs pos="0">
                    <a:srgbClr val="FFFFFF"/>
                  </a:gs>
                  <a:gs pos="100000">
                    <a:srgbClr val="FF0000"/>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2" name="Google Shape;612;p45"/>
              <p:cNvSpPr/>
              <p:nvPr/>
            </p:nvSpPr>
            <p:spPr>
              <a:xfrm>
                <a:off x="4016" y="2628"/>
                <a:ext cx="352" cy="29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3" name="Google Shape;613;p45"/>
              <p:cNvSpPr/>
              <p:nvPr/>
            </p:nvSpPr>
            <p:spPr>
              <a:xfrm>
                <a:off x="4330" y="2596"/>
                <a:ext cx="77"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4" name="Google Shape;614;p45"/>
              <p:cNvSpPr/>
              <p:nvPr/>
            </p:nvSpPr>
            <p:spPr>
              <a:xfrm>
                <a:off x="4330" y="2886"/>
                <a:ext cx="77"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5" name="Google Shape;615;p45"/>
              <p:cNvSpPr/>
              <p:nvPr/>
            </p:nvSpPr>
            <p:spPr>
              <a:xfrm>
                <a:off x="3977" y="2596"/>
                <a:ext cx="77"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6" name="Google Shape;616;p45"/>
              <p:cNvSpPr/>
              <p:nvPr/>
            </p:nvSpPr>
            <p:spPr>
              <a:xfrm>
                <a:off x="3977" y="2886"/>
                <a:ext cx="77"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7" name="Google Shape;617;p45"/>
              <p:cNvSpPr/>
              <p:nvPr/>
            </p:nvSpPr>
            <p:spPr>
              <a:xfrm>
                <a:off x="4172" y="2758"/>
                <a:ext cx="41" cy="32"/>
              </a:xfrm>
              <a:prstGeom prst="ellipse">
                <a:avLst/>
              </a:prstGeom>
              <a:gradFill>
                <a:gsLst>
                  <a:gs pos="0">
                    <a:srgbClr val="FFFFFF"/>
                  </a:gs>
                  <a:gs pos="100000">
                    <a:srgbClr val="FF0000"/>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8" name="Google Shape;618;p45"/>
              <p:cNvSpPr/>
              <p:nvPr/>
            </p:nvSpPr>
            <p:spPr>
              <a:xfrm>
                <a:off x="4368" y="2628"/>
                <a:ext cx="352" cy="29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9" name="Google Shape;619;p45"/>
              <p:cNvSpPr/>
              <p:nvPr/>
            </p:nvSpPr>
            <p:spPr>
              <a:xfrm>
                <a:off x="4682" y="2596"/>
                <a:ext cx="77"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0" name="Google Shape;620;p45"/>
              <p:cNvSpPr/>
              <p:nvPr/>
            </p:nvSpPr>
            <p:spPr>
              <a:xfrm>
                <a:off x="4682" y="2886"/>
                <a:ext cx="77"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1" name="Google Shape;621;p45"/>
              <p:cNvSpPr/>
              <p:nvPr/>
            </p:nvSpPr>
            <p:spPr>
              <a:xfrm>
                <a:off x="4330" y="2596"/>
                <a:ext cx="77"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2" name="Google Shape;622;p45"/>
              <p:cNvSpPr/>
              <p:nvPr/>
            </p:nvSpPr>
            <p:spPr>
              <a:xfrm>
                <a:off x="4330" y="2886"/>
                <a:ext cx="77"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3" name="Google Shape;623;p45"/>
              <p:cNvSpPr/>
              <p:nvPr/>
            </p:nvSpPr>
            <p:spPr>
              <a:xfrm>
                <a:off x="4524" y="2758"/>
                <a:ext cx="40" cy="32"/>
              </a:xfrm>
              <a:prstGeom prst="ellipse">
                <a:avLst/>
              </a:prstGeom>
              <a:gradFill>
                <a:gsLst>
                  <a:gs pos="0">
                    <a:srgbClr val="FFFFFF"/>
                  </a:gs>
                  <a:gs pos="100000">
                    <a:srgbClr val="FF0000"/>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4" name="Google Shape;624;p45"/>
              <p:cNvSpPr/>
              <p:nvPr/>
            </p:nvSpPr>
            <p:spPr>
              <a:xfrm>
                <a:off x="5194" y="2154"/>
                <a:ext cx="78"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5" name="Google Shape;625;p45"/>
              <p:cNvSpPr/>
              <p:nvPr/>
            </p:nvSpPr>
            <p:spPr>
              <a:xfrm>
                <a:off x="5203" y="2451"/>
                <a:ext cx="78"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45"/>
              <p:cNvSpPr/>
              <p:nvPr/>
            </p:nvSpPr>
            <p:spPr>
              <a:xfrm>
                <a:off x="5036" y="2315"/>
                <a:ext cx="40" cy="32"/>
              </a:xfrm>
              <a:prstGeom prst="ellipse">
                <a:avLst/>
              </a:prstGeom>
              <a:gradFill>
                <a:gsLst>
                  <a:gs pos="0">
                    <a:srgbClr val="FFFFFF"/>
                  </a:gs>
                  <a:gs pos="100000">
                    <a:srgbClr val="FF0000"/>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7" name="Google Shape;627;p45"/>
              <p:cNvSpPr/>
              <p:nvPr/>
            </p:nvSpPr>
            <p:spPr>
              <a:xfrm>
                <a:off x="5232" y="2185"/>
                <a:ext cx="353" cy="291"/>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8" name="Google Shape;628;p45"/>
              <p:cNvSpPr/>
              <p:nvPr/>
            </p:nvSpPr>
            <p:spPr>
              <a:xfrm>
                <a:off x="5538" y="2154"/>
                <a:ext cx="78"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9" name="Google Shape;629;p45"/>
              <p:cNvSpPr/>
              <p:nvPr/>
            </p:nvSpPr>
            <p:spPr>
              <a:xfrm>
                <a:off x="5532" y="2451"/>
                <a:ext cx="77"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 name="Google Shape;630;p45"/>
              <p:cNvSpPr/>
              <p:nvPr/>
            </p:nvSpPr>
            <p:spPr>
              <a:xfrm>
                <a:off x="5194" y="2154"/>
                <a:ext cx="78"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45"/>
              <p:cNvSpPr/>
              <p:nvPr/>
            </p:nvSpPr>
            <p:spPr>
              <a:xfrm>
                <a:off x="5203" y="2451"/>
                <a:ext cx="78"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45"/>
              <p:cNvSpPr/>
              <p:nvPr/>
            </p:nvSpPr>
            <p:spPr>
              <a:xfrm>
                <a:off x="5388" y="2315"/>
                <a:ext cx="41" cy="32"/>
              </a:xfrm>
              <a:prstGeom prst="ellipse">
                <a:avLst/>
              </a:prstGeom>
              <a:gradFill>
                <a:gsLst>
                  <a:gs pos="0">
                    <a:srgbClr val="FFFFFF"/>
                  </a:gs>
                  <a:gs pos="100000">
                    <a:srgbClr val="FF0000"/>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3" name="Google Shape;633;p45"/>
              <p:cNvSpPr/>
              <p:nvPr/>
            </p:nvSpPr>
            <p:spPr>
              <a:xfrm>
                <a:off x="5231" y="2476"/>
                <a:ext cx="353" cy="29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4" name="Google Shape;634;p45"/>
              <p:cNvSpPr/>
              <p:nvPr/>
            </p:nvSpPr>
            <p:spPr>
              <a:xfrm>
                <a:off x="5535" y="2443"/>
                <a:ext cx="80" cy="6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45"/>
              <p:cNvSpPr/>
              <p:nvPr/>
            </p:nvSpPr>
            <p:spPr>
              <a:xfrm>
                <a:off x="5535" y="2734"/>
                <a:ext cx="80" cy="63"/>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45"/>
              <p:cNvSpPr/>
              <p:nvPr/>
            </p:nvSpPr>
            <p:spPr>
              <a:xfrm>
                <a:off x="5200" y="2443"/>
                <a:ext cx="77" cy="66"/>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7" name="Google Shape;637;p45"/>
              <p:cNvSpPr/>
              <p:nvPr/>
            </p:nvSpPr>
            <p:spPr>
              <a:xfrm>
                <a:off x="5200" y="2734"/>
                <a:ext cx="77" cy="63"/>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8" name="Google Shape;638;p45"/>
              <p:cNvSpPr/>
              <p:nvPr/>
            </p:nvSpPr>
            <p:spPr>
              <a:xfrm>
                <a:off x="5396" y="2605"/>
                <a:ext cx="40" cy="31"/>
              </a:xfrm>
              <a:prstGeom prst="ellipse">
                <a:avLst/>
              </a:prstGeom>
              <a:gradFill>
                <a:gsLst>
                  <a:gs pos="0">
                    <a:srgbClr val="FFFFFF"/>
                  </a:gs>
                  <a:gs pos="100000">
                    <a:srgbClr val="FF0000"/>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9" name="Google Shape;639;p45"/>
              <p:cNvSpPr/>
              <p:nvPr/>
            </p:nvSpPr>
            <p:spPr>
              <a:xfrm>
                <a:off x="4016" y="2338"/>
                <a:ext cx="352" cy="29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45"/>
              <p:cNvSpPr/>
              <p:nvPr/>
            </p:nvSpPr>
            <p:spPr>
              <a:xfrm>
                <a:off x="4330" y="2308"/>
                <a:ext cx="77" cy="63"/>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1" name="Google Shape;641;p45"/>
              <p:cNvSpPr/>
              <p:nvPr/>
            </p:nvSpPr>
            <p:spPr>
              <a:xfrm>
                <a:off x="4330" y="2596"/>
                <a:ext cx="77"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 name="Google Shape;642;p45"/>
              <p:cNvSpPr/>
              <p:nvPr/>
            </p:nvSpPr>
            <p:spPr>
              <a:xfrm>
                <a:off x="3977" y="2308"/>
                <a:ext cx="77" cy="63"/>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3" name="Google Shape;643;p45"/>
              <p:cNvSpPr/>
              <p:nvPr/>
            </p:nvSpPr>
            <p:spPr>
              <a:xfrm>
                <a:off x="3977" y="2596"/>
                <a:ext cx="77"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45"/>
              <p:cNvSpPr/>
              <p:nvPr/>
            </p:nvSpPr>
            <p:spPr>
              <a:xfrm>
                <a:off x="4172" y="2468"/>
                <a:ext cx="41" cy="32"/>
              </a:xfrm>
              <a:prstGeom prst="ellipse">
                <a:avLst/>
              </a:prstGeom>
              <a:gradFill>
                <a:gsLst>
                  <a:gs pos="0">
                    <a:srgbClr val="FFFFFF"/>
                  </a:gs>
                  <a:gs pos="100000">
                    <a:srgbClr val="FF0000"/>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5" name="Google Shape;645;p45"/>
              <p:cNvSpPr/>
              <p:nvPr/>
            </p:nvSpPr>
            <p:spPr>
              <a:xfrm>
                <a:off x="4368" y="2338"/>
                <a:ext cx="352" cy="29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45"/>
              <p:cNvSpPr/>
              <p:nvPr/>
            </p:nvSpPr>
            <p:spPr>
              <a:xfrm>
                <a:off x="4682" y="2308"/>
                <a:ext cx="77" cy="63"/>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7" name="Google Shape;647;p45"/>
              <p:cNvSpPr/>
              <p:nvPr/>
            </p:nvSpPr>
            <p:spPr>
              <a:xfrm>
                <a:off x="4682" y="2596"/>
                <a:ext cx="77"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45"/>
              <p:cNvSpPr/>
              <p:nvPr/>
            </p:nvSpPr>
            <p:spPr>
              <a:xfrm>
                <a:off x="4330" y="2308"/>
                <a:ext cx="77" cy="63"/>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9" name="Google Shape;649;p45"/>
              <p:cNvSpPr/>
              <p:nvPr/>
            </p:nvSpPr>
            <p:spPr>
              <a:xfrm>
                <a:off x="4330" y="2596"/>
                <a:ext cx="77" cy="65"/>
              </a:xfrm>
              <a:prstGeom prst="ellipse">
                <a:avLst/>
              </a:prstGeom>
              <a:gradFill>
                <a:gsLst>
                  <a:gs pos="0">
                    <a:srgbClr val="FFFFFF"/>
                  </a:gs>
                  <a:gs pos="100000">
                    <a:srgbClr val="3333CC"/>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45"/>
              <p:cNvSpPr/>
              <p:nvPr/>
            </p:nvSpPr>
            <p:spPr>
              <a:xfrm>
                <a:off x="4524" y="2468"/>
                <a:ext cx="40" cy="32"/>
              </a:xfrm>
              <a:prstGeom prst="ellipse">
                <a:avLst/>
              </a:prstGeom>
              <a:gradFill>
                <a:gsLst>
                  <a:gs pos="0">
                    <a:srgbClr val="FFFFFF"/>
                  </a:gs>
                  <a:gs pos="100000">
                    <a:srgbClr val="FF0000"/>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1" name="Google Shape;651;p45"/>
              <p:cNvSpPr/>
              <p:nvPr/>
            </p:nvSpPr>
            <p:spPr>
              <a:xfrm>
                <a:off x="4869" y="2454"/>
                <a:ext cx="39" cy="33"/>
              </a:xfrm>
              <a:prstGeom prst="ellipse">
                <a:avLst/>
              </a:prstGeom>
              <a:gradFill>
                <a:gsLst>
                  <a:gs pos="0">
                    <a:srgbClr val="FFFFFF"/>
                  </a:gs>
                  <a:gs pos="100000">
                    <a:srgbClr val="FF0000"/>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2" name="Google Shape;652;p45"/>
              <p:cNvSpPr/>
              <p:nvPr/>
            </p:nvSpPr>
            <p:spPr>
              <a:xfrm>
                <a:off x="4885" y="2762"/>
                <a:ext cx="40" cy="32"/>
              </a:xfrm>
              <a:prstGeom prst="ellipse">
                <a:avLst/>
              </a:prstGeom>
              <a:gradFill>
                <a:gsLst>
                  <a:gs pos="0">
                    <a:srgbClr val="FFFFFF"/>
                  </a:gs>
                  <a:gs pos="100000">
                    <a:srgbClr val="FF0000"/>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653" name="Google Shape;653;p45"/>
              <p:cNvCxnSpPr/>
              <p:nvPr/>
            </p:nvCxnSpPr>
            <p:spPr>
              <a:xfrm flipH="1" rot="10800000">
                <a:off x="4902" y="2327"/>
                <a:ext cx="142" cy="127"/>
              </a:xfrm>
              <a:prstGeom prst="straightConnector1">
                <a:avLst/>
              </a:prstGeom>
              <a:noFill/>
              <a:ln cap="flat" cmpd="sng" w="9525">
                <a:solidFill>
                  <a:srgbClr val="000000"/>
                </a:solidFill>
                <a:prstDash val="solid"/>
                <a:round/>
                <a:headEnd len="med" w="med" type="none"/>
                <a:tailEnd len="med" w="med" type="none"/>
              </a:ln>
            </p:spPr>
          </p:cxnSp>
          <p:cxnSp>
            <p:nvCxnSpPr>
              <p:cNvPr id="654" name="Google Shape;654;p45"/>
              <p:cNvCxnSpPr/>
              <p:nvPr/>
            </p:nvCxnSpPr>
            <p:spPr>
              <a:xfrm flipH="1" rot="10800000">
                <a:off x="4908" y="2631"/>
                <a:ext cx="144" cy="127"/>
              </a:xfrm>
              <a:prstGeom prst="straightConnector1">
                <a:avLst/>
              </a:prstGeom>
              <a:noFill/>
              <a:ln cap="flat" cmpd="sng" w="9525">
                <a:solidFill>
                  <a:srgbClr val="000000"/>
                </a:solidFill>
                <a:prstDash val="solid"/>
                <a:round/>
                <a:headEnd len="med" w="med" type="none"/>
                <a:tailEnd len="med" w="med" type="none"/>
              </a:ln>
            </p:spPr>
          </p:cxnSp>
          <p:cxnSp>
            <p:nvCxnSpPr>
              <p:cNvPr id="655" name="Google Shape;655;p45"/>
              <p:cNvCxnSpPr/>
              <p:nvPr/>
            </p:nvCxnSpPr>
            <p:spPr>
              <a:xfrm flipH="1" rot="10800000">
                <a:off x="4917" y="2779"/>
                <a:ext cx="143" cy="128"/>
              </a:xfrm>
              <a:prstGeom prst="straightConnector1">
                <a:avLst/>
              </a:prstGeom>
              <a:noFill/>
              <a:ln cap="flat" cmpd="sng" w="9525">
                <a:solidFill>
                  <a:srgbClr val="000000"/>
                </a:solidFill>
                <a:prstDash val="dot"/>
                <a:round/>
                <a:headEnd len="med" w="med" type="none"/>
                <a:tailEnd len="med" w="med" type="none"/>
              </a:ln>
            </p:spPr>
          </p:cxnSp>
          <p:cxnSp>
            <p:nvCxnSpPr>
              <p:cNvPr id="656" name="Google Shape;656;p45"/>
              <p:cNvCxnSpPr/>
              <p:nvPr/>
            </p:nvCxnSpPr>
            <p:spPr>
              <a:xfrm flipH="1" rot="10800000">
                <a:off x="4900" y="2192"/>
                <a:ext cx="142" cy="127"/>
              </a:xfrm>
              <a:prstGeom prst="straightConnector1">
                <a:avLst/>
              </a:prstGeom>
              <a:noFill/>
              <a:ln cap="flat" cmpd="sng" w="9525">
                <a:solidFill>
                  <a:srgbClr val="000000"/>
                </a:solidFill>
                <a:prstDash val="dot"/>
                <a:round/>
                <a:headEnd len="med" w="med" type="none"/>
                <a:tailEnd len="med" w="med" type="none"/>
              </a:ln>
            </p:spPr>
          </p:cxnSp>
          <p:sp>
            <p:nvSpPr>
              <p:cNvPr id="657" name="Google Shape;657;p45"/>
              <p:cNvSpPr txBox="1"/>
              <p:nvPr/>
            </p:nvSpPr>
            <p:spPr>
              <a:xfrm>
                <a:off x="3840" y="2154"/>
                <a:ext cx="490"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0000"/>
                    </a:solidFill>
                    <a:latin typeface="Arial"/>
                    <a:ea typeface="Arial"/>
                    <a:cs typeface="Arial"/>
                    <a:sym typeface="Arial"/>
                  </a:rPr>
                  <a:t>Ba/Sr</a:t>
                </a:r>
                <a:endParaRPr b="1" sz="1000">
                  <a:solidFill>
                    <a:srgbClr val="000000"/>
                  </a:solidFill>
                  <a:latin typeface="Arial"/>
                  <a:ea typeface="Arial"/>
                  <a:cs typeface="Arial"/>
                  <a:sym typeface="Arial"/>
                </a:endParaRPr>
              </a:p>
            </p:txBody>
          </p:sp>
          <p:sp>
            <p:nvSpPr>
              <p:cNvPr id="658" name="Google Shape;658;p45"/>
              <p:cNvSpPr txBox="1"/>
              <p:nvPr/>
            </p:nvSpPr>
            <p:spPr>
              <a:xfrm>
                <a:off x="4069" y="2489"/>
                <a:ext cx="237" cy="3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0000"/>
                    </a:solidFill>
                    <a:latin typeface="Arial"/>
                    <a:ea typeface="Arial"/>
                    <a:cs typeface="Arial"/>
                    <a:sym typeface="Arial"/>
                  </a:rPr>
                  <a:t>Ti</a:t>
                </a:r>
                <a:endParaRPr b="1" sz="1000">
                  <a:solidFill>
                    <a:srgbClr val="000000"/>
                  </a:solidFill>
                  <a:latin typeface="Arial"/>
                  <a:ea typeface="Arial"/>
                  <a:cs typeface="Arial"/>
                  <a:sym typeface="Arial"/>
                </a:endParaRPr>
              </a:p>
            </p:txBody>
          </p:sp>
        </p:grpSp>
        <p:sp>
          <p:nvSpPr>
            <p:cNvPr id="659" name="Google Shape;659;p45"/>
            <p:cNvSpPr txBox="1"/>
            <p:nvPr/>
          </p:nvSpPr>
          <p:spPr>
            <a:xfrm>
              <a:off x="8001000" y="5607819"/>
              <a:ext cx="2133600" cy="366712"/>
            </a:xfrm>
            <a:prstGeom prst="rect">
              <a:avLst/>
            </a:prstGeom>
            <a:solidFill>
              <a:srgbClr val="E2EBF7"/>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ADB is Ti rich</a:t>
              </a:r>
              <a:endParaRPr/>
            </a:p>
          </p:txBody>
        </p:sp>
        <p:grpSp>
          <p:nvGrpSpPr>
            <p:cNvPr id="660" name="Google Shape;660;p45"/>
            <p:cNvGrpSpPr/>
            <p:nvPr/>
          </p:nvGrpSpPr>
          <p:grpSpPr>
            <a:xfrm>
              <a:off x="4724400" y="1075507"/>
              <a:ext cx="2895600" cy="2003425"/>
              <a:chOff x="2016" y="672"/>
              <a:chExt cx="1872" cy="1359"/>
            </a:xfrm>
          </p:grpSpPr>
          <p:grpSp>
            <p:nvGrpSpPr>
              <p:cNvPr id="661" name="Google Shape;661;p45"/>
              <p:cNvGrpSpPr/>
              <p:nvPr/>
            </p:nvGrpSpPr>
            <p:grpSpPr>
              <a:xfrm>
                <a:off x="2064" y="672"/>
                <a:ext cx="1824" cy="1296"/>
                <a:chOff x="1968" y="816"/>
                <a:chExt cx="1824" cy="1296"/>
              </a:xfrm>
            </p:grpSpPr>
            <p:pic>
              <p:nvPicPr>
                <p:cNvPr id="662" name="Google Shape;662;p45"/>
                <p:cNvPicPr preferRelativeResize="0"/>
                <p:nvPr/>
              </p:nvPicPr>
              <p:blipFill rotWithShape="1">
                <a:blip r:embed="rId4">
                  <a:alphaModFix/>
                </a:blip>
                <a:srcRect b="0" l="0" r="0" t="0"/>
                <a:stretch/>
              </p:blipFill>
              <p:spPr>
                <a:xfrm>
                  <a:off x="1968" y="816"/>
                  <a:ext cx="1824" cy="1296"/>
                </a:xfrm>
                <a:prstGeom prst="rect">
                  <a:avLst/>
                </a:prstGeom>
                <a:noFill/>
                <a:ln>
                  <a:noFill/>
                </a:ln>
              </p:spPr>
            </p:pic>
            <p:sp>
              <p:nvSpPr>
                <p:cNvPr id="663" name="Google Shape;663;p45"/>
                <p:cNvSpPr/>
                <p:nvPr/>
              </p:nvSpPr>
              <p:spPr>
                <a:xfrm>
                  <a:off x="2946" y="932"/>
                  <a:ext cx="78"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64" name="Google Shape;664;p45"/>
                <p:cNvSpPr/>
                <p:nvPr/>
              </p:nvSpPr>
              <p:spPr>
                <a:xfrm>
                  <a:off x="3235" y="932"/>
                  <a:ext cx="77"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65" name="Google Shape;665;p45"/>
                <p:cNvSpPr/>
                <p:nvPr/>
              </p:nvSpPr>
              <p:spPr>
                <a:xfrm>
                  <a:off x="3090" y="932"/>
                  <a:ext cx="77"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66" name="Google Shape;666;p45"/>
                <p:cNvSpPr/>
                <p:nvPr/>
              </p:nvSpPr>
              <p:spPr>
                <a:xfrm>
                  <a:off x="3379" y="932"/>
                  <a:ext cx="78"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67" name="Google Shape;667;p45"/>
                <p:cNvSpPr/>
                <p:nvPr/>
              </p:nvSpPr>
              <p:spPr>
                <a:xfrm>
                  <a:off x="2740" y="1158"/>
                  <a:ext cx="78"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68" name="Google Shape;668;p45"/>
                <p:cNvSpPr/>
                <p:nvPr/>
              </p:nvSpPr>
              <p:spPr>
                <a:xfrm>
                  <a:off x="2962" y="1398"/>
                  <a:ext cx="78"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69" name="Google Shape;669;p45"/>
                <p:cNvSpPr/>
                <p:nvPr/>
              </p:nvSpPr>
              <p:spPr>
                <a:xfrm>
                  <a:off x="2740" y="992"/>
                  <a:ext cx="78" cy="72"/>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70" name="Google Shape;670;p45"/>
                <p:cNvSpPr/>
                <p:nvPr/>
              </p:nvSpPr>
              <p:spPr>
                <a:xfrm>
                  <a:off x="2962" y="1248"/>
                  <a:ext cx="78" cy="72"/>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71" name="Google Shape;671;p45"/>
                <p:cNvSpPr/>
                <p:nvPr/>
              </p:nvSpPr>
              <p:spPr>
                <a:xfrm>
                  <a:off x="2594" y="989"/>
                  <a:ext cx="78" cy="72"/>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72" name="Google Shape;672;p45"/>
                <p:cNvSpPr/>
                <p:nvPr/>
              </p:nvSpPr>
              <p:spPr>
                <a:xfrm>
                  <a:off x="2594" y="1158"/>
                  <a:ext cx="78"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73" name="Google Shape;673;p45"/>
                <p:cNvSpPr/>
                <p:nvPr/>
              </p:nvSpPr>
              <p:spPr>
                <a:xfrm>
                  <a:off x="2444" y="989"/>
                  <a:ext cx="78" cy="72"/>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74" name="Google Shape;674;p45"/>
                <p:cNvSpPr/>
                <p:nvPr/>
              </p:nvSpPr>
              <p:spPr>
                <a:xfrm>
                  <a:off x="3107" y="1248"/>
                  <a:ext cx="78" cy="72"/>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75" name="Google Shape;675;p45"/>
                <p:cNvSpPr/>
                <p:nvPr/>
              </p:nvSpPr>
              <p:spPr>
                <a:xfrm>
                  <a:off x="2444" y="1158"/>
                  <a:ext cx="78"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76" name="Google Shape;676;p45"/>
                <p:cNvSpPr/>
                <p:nvPr/>
              </p:nvSpPr>
              <p:spPr>
                <a:xfrm>
                  <a:off x="2590" y="1324"/>
                  <a:ext cx="78"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77" name="Google Shape;677;p45"/>
                <p:cNvSpPr/>
                <p:nvPr/>
              </p:nvSpPr>
              <p:spPr>
                <a:xfrm>
                  <a:off x="2444" y="1324"/>
                  <a:ext cx="78"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78" name="Google Shape;678;p45"/>
                <p:cNvSpPr/>
                <p:nvPr/>
              </p:nvSpPr>
              <p:spPr>
                <a:xfrm>
                  <a:off x="2723" y="1323"/>
                  <a:ext cx="77"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79" name="Google Shape;679;p45"/>
                <p:cNvSpPr/>
                <p:nvPr/>
              </p:nvSpPr>
              <p:spPr>
                <a:xfrm>
                  <a:off x="2946" y="1082"/>
                  <a:ext cx="78"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80" name="Google Shape;680;p45"/>
                <p:cNvSpPr/>
                <p:nvPr/>
              </p:nvSpPr>
              <p:spPr>
                <a:xfrm>
                  <a:off x="3107" y="1398"/>
                  <a:ext cx="78"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81" name="Google Shape;681;p45"/>
                <p:cNvSpPr/>
                <p:nvPr/>
              </p:nvSpPr>
              <p:spPr>
                <a:xfrm>
                  <a:off x="3107" y="1082"/>
                  <a:ext cx="76"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82" name="Google Shape;682;p45"/>
                <p:cNvSpPr/>
                <p:nvPr/>
              </p:nvSpPr>
              <p:spPr>
                <a:xfrm>
                  <a:off x="2594" y="1483"/>
                  <a:ext cx="78"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83" name="Google Shape;683;p45"/>
                <p:cNvSpPr/>
                <p:nvPr/>
              </p:nvSpPr>
              <p:spPr>
                <a:xfrm>
                  <a:off x="2740" y="1481"/>
                  <a:ext cx="78" cy="70"/>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84" name="Google Shape;684;p45"/>
                <p:cNvSpPr/>
                <p:nvPr/>
              </p:nvSpPr>
              <p:spPr>
                <a:xfrm>
                  <a:off x="3235" y="1082"/>
                  <a:ext cx="77"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85" name="Google Shape;685;p45"/>
                <p:cNvSpPr/>
                <p:nvPr/>
              </p:nvSpPr>
              <p:spPr>
                <a:xfrm>
                  <a:off x="3251" y="1248"/>
                  <a:ext cx="77" cy="72"/>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86" name="Google Shape;686;p45"/>
                <p:cNvSpPr/>
                <p:nvPr/>
              </p:nvSpPr>
              <p:spPr>
                <a:xfrm>
                  <a:off x="2444" y="1483"/>
                  <a:ext cx="78"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87" name="Google Shape;687;p45"/>
                <p:cNvSpPr/>
                <p:nvPr/>
              </p:nvSpPr>
              <p:spPr>
                <a:xfrm>
                  <a:off x="3251" y="1398"/>
                  <a:ext cx="77"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88" name="Google Shape;688;p45"/>
                <p:cNvSpPr/>
                <p:nvPr/>
              </p:nvSpPr>
              <p:spPr>
                <a:xfrm>
                  <a:off x="3379" y="1082"/>
                  <a:ext cx="78"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89" name="Google Shape;689;p45"/>
                <p:cNvSpPr/>
                <p:nvPr/>
              </p:nvSpPr>
              <p:spPr>
                <a:xfrm>
                  <a:off x="3383" y="1248"/>
                  <a:ext cx="78" cy="72"/>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90" name="Google Shape;690;p45"/>
                <p:cNvSpPr/>
                <p:nvPr/>
              </p:nvSpPr>
              <p:spPr>
                <a:xfrm>
                  <a:off x="2299" y="992"/>
                  <a:ext cx="77" cy="72"/>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91" name="Google Shape;691;p45"/>
                <p:cNvSpPr/>
                <p:nvPr/>
              </p:nvSpPr>
              <p:spPr>
                <a:xfrm>
                  <a:off x="3383" y="1398"/>
                  <a:ext cx="78"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92" name="Google Shape;692;p45"/>
                <p:cNvSpPr/>
                <p:nvPr/>
              </p:nvSpPr>
              <p:spPr>
                <a:xfrm>
                  <a:off x="2299" y="1158"/>
                  <a:ext cx="77"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93" name="Google Shape;693;p45"/>
                <p:cNvSpPr/>
                <p:nvPr/>
              </p:nvSpPr>
              <p:spPr>
                <a:xfrm>
                  <a:off x="2299" y="1323"/>
                  <a:ext cx="77"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94" name="Google Shape;694;p45"/>
                <p:cNvSpPr/>
                <p:nvPr/>
              </p:nvSpPr>
              <p:spPr>
                <a:xfrm>
                  <a:off x="2299" y="1481"/>
                  <a:ext cx="77" cy="72"/>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695" name="Google Shape;695;p45"/>
                <p:cNvSpPr/>
                <p:nvPr/>
              </p:nvSpPr>
              <p:spPr>
                <a:xfrm>
                  <a:off x="2401" y="1412"/>
                  <a:ext cx="25" cy="30"/>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6" name="Google Shape;696;p45"/>
                <p:cNvSpPr/>
                <p:nvPr/>
              </p:nvSpPr>
              <p:spPr>
                <a:xfrm>
                  <a:off x="3347" y="1338"/>
                  <a:ext cx="26" cy="31"/>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7" name="Google Shape;697;p45"/>
                <p:cNvSpPr/>
                <p:nvPr/>
              </p:nvSpPr>
              <p:spPr>
                <a:xfrm>
                  <a:off x="3203" y="1338"/>
                  <a:ext cx="25" cy="31"/>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8" name="Google Shape;698;p45"/>
                <p:cNvSpPr/>
                <p:nvPr/>
              </p:nvSpPr>
              <p:spPr>
                <a:xfrm>
                  <a:off x="3059" y="1338"/>
                  <a:ext cx="26" cy="31"/>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9" name="Google Shape;699;p45"/>
                <p:cNvSpPr/>
                <p:nvPr/>
              </p:nvSpPr>
              <p:spPr>
                <a:xfrm>
                  <a:off x="2530" y="1414"/>
                  <a:ext cx="26" cy="30"/>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0" name="Google Shape;700;p45"/>
                <p:cNvSpPr/>
                <p:nvPr/>
              </p:nvSpPr>
              <p:spPr>
                <a:xfrm>
                  <a:off x="2674" y="1414"/>
                  <a:ext cx="26" cy="30"/>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1" name="Google Shape;701;p45"/>
                <p:cNvSpPr/>
                <p:nvPr/>
              </p:nvSpPr>
              <p:spPr>
                <a:xfrm>
                  <a:off x="2674" y="1248"/>
                  <a:ext cx="26" cy="30"/>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2" name="Google Shape;702;p45"/>
                <p:cNvSpPr/>
                <p:nvPr/>
              </p:nvSpPr>
              <p:spPr>
                <a:xfrm>
                  <a:off x="2530" y="1248"/>
                  <a:ext cx="26" cy="30"/>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3" name="Google Shape;703;p45"/>
                <p:cNvSpPr/>
                <p:nvPr/>
              </p:nvSpPr>
              <p:spPr>
                <a:xfrm>
                  <a:off x="2674" y="1098"/>
                  <a:ext cx="26" cy="31"/>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4" name="Google Shape;704;p45"/>
                <p:cNvSpPr/>
                <p:nvPr/>
              </p:nvSpPr>
              <p:spPr>
                <a:xfrm>
                  <a:off x="2530" y="1098"/>
                  <a:ext cx="26" cy="31"/>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5" name="Google Shape;705;p45"/>
                <p:cNvSpPr/>
                <p:nvPr/>
              </p:nvSpPr>
              <p:spPr>
                <a:xfrm>
                  <a:off x="2402" y="1098"/>
                  <a:ext cx="26" cy="31"/>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6" name="Google Shape;706;p45"/>
                <p:cNvSpPr/>
                <p:nvPr/>
              </p:nvSpPr>
              <p:spPr>
                <a:xfrm>
                  <a:off x="2402" y="1248"/>
                  <a:ext cx="26" cy="30"/>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7" name="Google Shape;707;p45"/>
                <p:cNvSpPr/>
                <p:nvPr/>
              </p:nvSpPr>
              <p:spPr>
                <a:xfrm>
                  <a:off x="3187" y="1028"/>
                  <a:ext cx="26" cy="31"/>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8" name="Google Shape;708;p45"/>
                <p:cNvSpPr/>
                <p:nvPr/>
              </p:nvSpPr>
              <p:spPr>
                <a:xfrm>
                  <a:off x="3060" y="1183"/>
                  <a:ext cx="26" cy="30"/>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9" name="Google Shape;709;p45"/>
                <p:cNvSpPr/>
                <p:nvPr/>
              </p:nvSpPr>
              <p:spPr>
                <a:xfrm>
                  <a:off x="3059" y="1028"/>
                  <a:ext cx="26" cy="31"/>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45"/>
                <p:cNvSpPr/>
                <p:nvPr/>
              </p:nvSpPr>
              <p:spPr>
                <a:xfrm>
                  <a:off x="3203" y="1187"/>
                  <a:ext cx="25" cy="32"/>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1" name="Google Shape;711;p45"/>
                <p:cNvSpPr/>
                <p:nvPr/>
              </p:nvSpPr>
              <p:spPr>
                <a:xfrm>
                  <a:off x="3331" y="1187"/>
                  <a:ext cx="27" cy="32"/>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 name="Google Shape;712;p45"/>
                <p:cNvSpPr/>
                <p:nvPr/>
              </p:nvSpPr>
              <p:spPr>
                <a:xfrm>
                  <a:off x="3331" y="1028"/>
                  <a:ext cx="27" cy="31"/>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713" name="Google Shape;713;p45"/>
                <p:cNvGrpSpPr/>
                <p:nvPr/>
              </p:nvGrpSpPr>
              <p:grpSpPr>
                <a:xfrm>
                  <a:off x="2860" y="998"/>
                  <a:ext cx="82" cy="67"/>
                  <a:chOff x="3024" y="3024"/>
                  <a:chExt cx="240" cy="240"/>
                </a:xfrm>
              </p:grpSpPr>
              <p:sp>
                <p:nvSpPr>
                  <p:cNvPr id="714" name="Google Shape;714;p45"/>
                  <p:cNvSpPr/>
                  <p:nvPr/>
                </p:nvSpPr>
                <p:spPr>
                  <a:xfrm>
                    <a:off x="3024" y="3024"/>
                    <a:ext cx="240" cy="240"/>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15" name="Google Shape;715;p45"/>
                  <p:cNvSpPr/>
                  <p:nvPr/>
                </p:nvSpPr>
                <p:spPr>
                  <a:xfrm>
                    <a:off x="3120" y="3120"/>
                    <a:ext cx="48" cy="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16" name="Google Shape;716;p45"/>
                <p:cNvGrpSpPr/>
                <p:nvPr/>
              </p:nvGrpSpPr>
              <p:grpSpPr>
                <a:xfrm>
                  <a:off x="2860" y="1148"/>
                  <a:ext cx="82" cy="66"/>
                  <a:chOff x="3024" y="3024"/>
                  <a:chExt cx="240" cy="240"/>
                </a:xfrm>
              </p:grpSpPr>
              <p:sp>
                <p:nvSpPr>
                  <p:cNvPr id="717" name="Google Shape;717;p45"/>
                  <p:cNvSpPr/>
                  <p:nvPr/>
                </p:nvSpPr>
                <p:spPr>
                  <a:xfrm>
                    <a:off x="3024" y="3024"/>
                    <a:ext cx="240" cy="240"/>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18" name="Google Shape;718;p45"/>
                  <p:cNvSpPr/>
                  <p:nvPr/>
                </p:nvSpPr>
                <p:spPr>
                  <a:xfrm>
                    <a:off x="3120" y="3120"/>
                    <a:ext cx="48" cy="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19" name="Google Shape;719;p45"/>
                <p:cNvGrpSpPr/>
                <p:nvPr/>
              </p:nvGrpSpPr>
              <p:grpSpPr>
                <a:xfrm>
                  <a:off x="2860" y="1331"/>
                  <a:ext cx="82" cy="66"/>
                  <a:chOff x="3024" y="3024"/>
                  <a:chExt cx="240" cy="240"/>
                </a:xfrm>
              </p:grpSpPr>
              <p:sp>
                <p:nvSpPr>
                  <p:cNvPr id="720" name="Google Shape;720;p45"/>
                  <p:cNvSpPr/>
                  <p:nvPr/>
                </p:nvSpPr>
                <p:spPr>
                  <a:xfrm>
                    <a:off x="3024" y="3024"/>
                    <a:ext cx="240" cy="240"/>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21" name="Google Shape;721;p45"/>
                  <p:cNvSpPr/>
                  <p:nvPr/>
                </p:nvSpPr>
                <p:spPr>
                  <a:xfrm>
                    <a:off x="3120" y="3120"/>
                    <a:ext cx="48" cy="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22" name="Google Shape;722;p45"/>
                <p:cNvGrpSpPr/>
                <p:nvPr/>
              </p:nvGrpSpPr>
              <p:grpSpPr>
                <a:xfrm>
                  <a:off x="2859" y="1486"/>
                  <a:ext cx="82" cy="66"/>
                  <a:chOff x="3024" y="3024"/>
                  <a:chExt cx="240" cy="240"/>
                </a:xfrm>
              </p:grpSpPr>
              <p:sp>
                <p:nvSpPr>
                  <p:cNvPr id="723" name="Google Shape;723;p45"/>
                  <p:cNvSpPr/>
                  <p:nvPr/>
                </p:nvSpPr>
                <p:spPr>
                  <a:xfrm>
                    <a:off x="3024" y="3024"/>
                    <a:ext cx="240" cy="240"/>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24" name="Google Shape;724;p45"/>
                  <p:cNvSpPr/>
                  <p:nvPr/>
                </p:nvSpPr>
                <p:spPr>
                  <a:xfrm>
                    <a:off x="3120" y="3120"/>
                    <a:ext cx="48" cy="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25" name="Google Shape;725;p45"/>
                <p:cNvSpPr/>
                <p:nvPr/>
              </p:nvSpPr>
              <p:spPr>
                <a:xfrm>
                  <a:off x="2797" y="1397"/>
                  <a:ext cx="83"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26" name="Google Shape;726;p45"/>
                <p:cNvSpPr/>
                <p:nvPr/>
              </p:nvSpPr>
              <p:spPr>
                <a:xfrm>
                  <a:off x="2830" y="1424"/>
                  <a:ext cx="17" cy="13"/>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727" name="Google Shape;727;p45"/>
                <p:cNvGrpSpPr/>
                <p:nvPr/>
              </p:nvGrpSpPr>
              <p:grpSpPr>
                <a:xfrm>
                  <a:off x="2797" y="1248"/>
                  <a:ext cx="83" cy="66"/>
                  <a:chOff x="3024" y="3024"/>
                  <a:chExt cx="240" cy="240"/>
                </a:xfrm>
              </p:grpSpPr>
              <p:sp>
                <p:nvSpPr>
                  <p:cNvPr id="728" name="Google Shape;728;p45"/>
                  <p:cNvSpPr/>
                  <p:nvPr/>
                </p:nvSpPr>
                <p:spPr>
                  <a:xfrm>
                    <a:off x="3024" y="3024"/>
                    <a:ext cx="240" cy="240"/>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29" name="Google Shape;729;p45"/>
                  <p:cNvSpPr/>
                  <p:nvPr/>
                </p:nvSpPr>
                <p:spPr>
                  <a:xfrm>
                    <a:off x="3120" y="3120"/>
                    <a:ext cx="48" cy="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30" name="Google Shape;730;p45"/>
                <p:cNvGrpSpPr/>
                <p:nvPr/>
              </p:nvGrpSpPr>
              <p:grpSpPr>
                <a:xfrm>
                  <a:off x="2797" y="1082"/>
                  <a:ext cx="83" cy="66"/>
                  <a:chOff x="3024" y="3024"/>
                  <a:chExt cx="240" cy="240"/>
                </a:xfrm>
              </p:grpSpPr>
              <p:sp>
                <p:nvSpPr>
                  <p:cNvPr id="731" name="Google Shape;731;p45"/>
                  <p:cNvSpPr/>
                  <p:nvPr/>
                </p:nvSpPr>
                <p:spPr>
                  <a:xfrm>
                    <a:off x="3024" y="3024"/>
                    <a:ext cx="240" cy="240"/>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32" name="Google Shape;732;p45"/>
                  <p:cNvSpPr/>
                  <p:nvPr/>
                </p:nvSpPr>
                <p:spPr>
                  <a:xfrm>
                    <a:off x="3120" y="3120"/>
                    <a:ext cx="48" cy="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33" name="Google Shape;733;p45"/>
                <p:cNvGrpSpPr/>
                <p:nvPr/>
              </p:nvGrpSpPr>
              <p:grpSpPr>
                <a:xfrm>
                  <a:off x="2797" y="932"/>
                  <a:ext cx="83" cy="66"/>
                  <a:chOff x="3024" y="3024"/>
                  <a:chExt cx="240" cy="240"/>
                </a:xfrm>
              </p:grpSpPr>
              <p:sp>
                <p:nvSpPr>
                  <p:cNvPr id="734" name="Google Shape;734;p45"/>
                  <p:cNvSpPr/>
                  <p:nvPr/>
                </p:nvSpPr>
                <p:spPr>
                  <a:xfrm>
                    <a:off x="3024" y="3024"/>
                    <a:ext cx="240" cy="240"/>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35" name="Google Shape;735;p45"/>
                  <p:cNvSpPr/>
                  <p:nvPr/>
                </p:nvSpPr>
                <p:spPr>
                  <a:xfrm>
                    <a:off x="3120" y="3120"/>
                    <a:ext cx="48" cy="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736" name="Google Shape;736;p45"/>
              <p:cNvGrpSpPr/>
              <p:nvPr/>
            </p:nvGrpSpPr>
            <p:grpSpPr>
              <a:xfrm>
                <a:off x="2016" y="1440"/>
                <a:ext cx="720" cy="591"/>
                <a:chOff x="2016" y="1440"/>
                <a:chExt cx="720" cy="591"/>
              </a:xfrm>
            </p:grpSpPr>
            <p:sp>
              <p:nvSpPr>
                <p:cNvPr id="737" name="Google Shape;737;p45"/>
                <p:cNvSpPr txBox="1"/>
                <p:nvPr/>
              </p:nvSpPr>
              <p:spPr>
                <a:xfrm>
                  <a:off x="2016" y="1440"/>
                  <a:ext cx="337" cy="2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lt1"/>
                      </a:solidFill>
                      <a:latin typeface="Calibri"/>
                      <a:ea typeface="Calibri"/>
                      <a:cs typeface="Calibri"/>
                      <a:sym typeface="Calibri"/>
                    </a:rPr>
                    <a:t>010</a:t>
                  </a:r>
                  <a:endParaRPr/>
                </a:p>
              </p:txBody>
            </p:sp>
            <p:grpSp>
              <p:nvGrpSpPr>
                <p:cNvPr id="738" name="Google Shape;738;p45"/>
                <p:cNvGrpSpPr/>
                <p:nvPr/>
              </p:nvGrpSpPr>
              <p:grpSpPr>
                <a:xfrm rot="929111">
                  <a:off x="2112" y="1632"/>
                  <a:ext cx="353" cy="298"/>
                  <a:chOff x="1680" y="2784"/>
                  <a:chExt cx="672" cy="528"/>
                </a:xfrm>
              </p:grpSpPr>
              <p:cxnSp>
                <p:nvCxnSpPr>
                  <p:cNvPr id="739" name="Google Shape;739;p45"/>
                  <p:cNvCxnSpPr/>
                  <p:nvPr/>
                </p:nvCxnSpPr>
                <p:spPr>
                  <a:xfrm rot="10800000">
                    <a:off x="1680" y="2784"/>
                    <a:ext cx="144" cy="528"/>
                  </a:xfrm>
                  <a:prstGeom prst="straightConnector1">
                    <a:avLst/>
                  </a:prstGeom>
                  <a:noFill/>
                  <a:ln cap="flat" cmpd="sng" w="28575">
                    <a:solidFill>
                      <a:schemeClr val="lt1"/>
                    </a:solidFill>
                    <a:prstDash val="solid"/>
                    <a:round/>
                    <a:headEnd len="med" w="med" type="none"/>
                    <a:tailEnd len="med" w="med" type="triangle"/>
                  </a:ln>
                </p:spPr>
              </p:cxnSp>
              <p:cxnSp>
                <p:nvCxnSpPr>
                  <p:cNvPr id="740" name="Google Shape;740;p45"/>
                  <p:cNvCxnSpPr/>
                  <p:nvPr/>
                </p:nvCxnSpPr>
                <p:spPr>
                  <a:xfrm rot="-5400000">
                    <a:off x="2016" y="2976"/>
                    <a:ext cx="144" cy="528"/>
                  </a:xfrm>
                  <a:prstGeom prst="straightConnector1">
                    <a:avLst/>
                  </a:prstGeom>
                  <a:noFill/>
                  <a:ln cap="flat" cmpd="sng" w="28575">
                    <a:solidFill>
                      <a:schemeClr val="lt1"/>
                    </a:solidFill>
                    <a:prstDash val="solid"/>
                    <a:round/>
                    <a:headEnd len="med" w="med" type="none"/>
                    <a:tailEnd len="med" w="med" type="triangle"/>
                  </a:ln>
                </p:spPr>
              </p:cxnSp>
            </p:grpSp>
            <p:sp>
              <p:nvSpPr>
                <p:cNvPr id="741" name="Google Shape;741;p45"/>
                <p:cNvSpPr txBox="1"/>
                <p:nvPr/>
              </p:nvSpPr>
              <p:spPr>
                <a:xfrm>
                  <a:off x="2400" y="1824"/>
                  <a:ext cx="336" cy="2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lt1"/>
                      </a:solidFill>
                      <a:latin typeface="Calibri"/>
                      <a:ea typeface="Calibri"/>
                      <a:cs typeface="Calibri"/>
                      <a:sym typeface="Calibri"/>
                    </a:rPr>
                    <a:t>100</a:t>
                  </a:r>
                  <a:endParaRPr/>
                </a:p>
              </p:txBody>
            </p:sp>
          </p:grpSp>
        </p:grpSp>
        <p:grpSp>
          <p:nvGrpSpPr>
            <p:cNvPr id="742" name="Google Shape;742;p45"/>
            <p:cNvGrpSpPr/>
            <p:nvPr/>
          </p:nvGrpSpPr>
          <p:grpSpPr>
            <a:xfrm>
              <a:off x="5016500" y="3093219"/>
              <a:ext cx="1028700" cy="366712"/>
              <a:chOff x="2832" y="2072"/>
              <a:chExt cx="648" cy="231"/>
            </a:xfrm>
          </p:grpSpPr>
          <p:sp>
            <p:nvSpPr>
              <p:cNvPr id="743" name="Google Shape;743;p45"/>
              <p:cNvSpPr/>
              <p:nvPr/>
            </p:nvSpPr>
            <p:spPr>
              <a:xfrm>
                <a:off x="2832" y="2160"/>
                <a:ext cx="78" cy="73"/>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44" name="Google Shape;744;p45"/>
              <p:cNvSpPr txBox="1"/>
              <p:nvPr/>
            </p:nvSpPr>
            <p:spPr>
              <a:xfrm>
                <a:off x="2904" y="2072"/>
                <a:ext cx="57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Ba/Sr</a:t>
                </a:r>
                <a:endParaRPr sz="1800">
                  <a:solidFill>
                    <a:schemeClr val="dk1"/>
                  </a:solidFill>
                  <a:latin typeface="Calibri"/>
                  <a:ea typeface="Calibri"/>
                  <a:cs typeface="Calibri"/>
                  <a:sym typeface="Calibri"/>
                </a:endParaRPr>
              </a:p>
            </p:txBody>
          </p:sp>
        </p:grpSp>
        <p:grpSp>
          <p:nvGrpSpPr>
            <p:cNvPr id="745" name="Google Shape;745;p45"/>
            <p:cNvGrpSpPr/>
            <p:nvPr/>
          </p:nvGrpSpPr>
          <p:grpSpPr>
            <a:xfrm>
              <a:off x="6502400" y="3093219"/>
              <a:ext cx="508000" cy="366712"/>
              <a:chOff x="3760" y="2112"/>
              <a:chExt cx="320" cy="231"/>
            </a:xfrm>
          </p:grpSpPr>
          <p:sp>
            <p:nvSpPr>
              <p:cNvPr id="746" name="Google Shape;746;p45"/>
              <p:cNvSpPr/>
              <p:nvPr/>
            </p:nvSpPr>
            <p:spPr>
              <a:xfrm>
                <a:off x="3760" y="2208"/>
                <a:ext cx="48" cy="48"/>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7" name="Google Shape;747;p45"/>
              <p:cNvSpPr txBox="1"/>
              <p:nvPr/>
            </p:nvSpPr>
            <p:spPr>
              <a:xfrm>
                <a:off x="3792" y="2112"/>
                <a:ext cx="288"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Ti</a:t>
                </a:r>
                <a:endParaRPr sz="1800">
                  <a:solidFill>
                    <a:schemeClr val="dk1"/>
                  </a:solidFill>
                  <a:latin typeface="Calibri"/>
                  <a:ea typeface="Calibri"/>
                  <a:cs typeface="Calibri"/>
                  <a:sym typeface="Calibri"/>
                </a:endParaRPr>
              </a:p>
            </p:txBody>
          </p:sp>
        </p:grpSp>
        <p:grpSp>
          <p:nvGrpSpPr>
            <p:cNvPr id="748" name="Google Shape;748;p45"/>
            <p:cNvGrpSpPr/>
            <p:nvPr/>
          </p:nvGrpSpPr>
          <p:grpSpPr>
            <a:xfrm>
              <a:off x="3733800" y="2316931"/>
              <a:ext cx="914400" cy="457200"/>
              <a:chOff x="1392" y="1824"/>
              <a:chExt cx="576" cy="288"/>
            </a:xfrm>
          </p:grpSpPr>
          <p:cxnSp>
            <p:nvCxnSpPr>
              <p:cNvPr id="749" name="Google Shape;749;p45"/>
              <p:cNvCxnSpPr/>
              <p:nvPr/>
            </p:nvCxnSpPr>
            <p:spPr>
              <a:xfrm>
                <a:off x="1488" y="2112"/>
                <a:ext cx="240" cy="0"/>
              </a:xfrm>
              <a:prstGeom prst="straightConnector1">
                <a:avLst/>
              </a:prstGeom>
              <a:noFill/>
              <a:ln cap="flat" cmpd="sng" w="38100">
                <a:solidFill>
                  <a:schemeClr val="lt1"/>
                </a:solidFill>
                <a:prstDash val="solid"/>
                <a:round/>
                <a:headEnd len="med" w="med" type="none"/>
                <a:tailEnd len="med" w="med" type="none"/>
              </a:ln>
            </p:spPr>
          </p:cxnSp>
          <p:sp>
            <p:nvSpPr>
              <p:cNvPr id="750" name="Google Shape;750;p45"/>
              <p:cNvSpPr txBox="1"/>
              <p:nvPr/>
            </p:nvSpPr>
            <p:spPr>
              <a:xfrm>
                <a:off x="1392" y="1824"/>
                <a:ext cx="57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Calibri"/>
                    <a:ea typeface="Calibri"/>
                    <a:cs typeface="Calibri"/>
                    <a:sym typeface="Calibri"/>
                  </a:rPr>
                  <a:t>2nm</a:t>
                </a:r>
                <a:endParaRPr/>
              </a:p>
            </p:txBody>
          </p:sp>
        </p:grpSp>
        <p:grpSp>
          <p:nvGrpSpPr>
            <p:cNvPr id="751" name="Google Shape;751;p45"/>
            <p:cNvGrpSpPr/>
            <p:nvPr/>
          </p:nvGrpSpPr>
          <p:grpSpPr>
            <a:xfrm>
              <a:off x="1828800" y="3415481"/>
              <a:ext cx="2667000" cy="2667000"/>
              <a:chOff x="192" y="2352"/>
              <a:chExt cx="1680" cy="1680"/>
            </a:xfrm>
          </p:grpSpPr>
          <p:pic>
            <p:nvPicPr>
              <p:cNvPr id="752" name="Google Shape;752;p45"/>
              <p:cNvPicPr preferRelativeResize="0"/>
              <p:nvPr/>
            </p:nvPicPr>
            <p:blipFill rotWithShape="1">
              <a:blip r:embed="rId5">
                <a:alphaModFix/>
              </a:blip>
              <a:srcRect b="0" l="0" r="0" t="0"/>
              <a:stretch/>
            </p:blipFill>
            <p:spPr>
              <a:xfrm>
                <a:off x="192" y="2352"/>
                <a:ext cx="1680" cy="1680"/>
              </a:xfrm>
              <a:prstGeom prst="rect">
                <a:avLst/>
              </a:prstGeom>
              <a:noFill/>
              <a:ln>
                <a:noFill/>
              </a:ln>
            </p:spPr>
          </p:pic>
          <p:sp>
            <p:nvSpPr>
              <p:cNvPr id="753" name="Google Shape;753;p45"/>
              <p:cNvSpPr/>
              <p:nvPr/>
            </p:nvSpPr>
            <p:spPr>
              <a:xfrm>
                <a:off x="705" y="2966"/>
                <a:ext cx="591" cy="351"/>
              </a:xfrm>
              <a:prstGeom prst="rect">
                <a:avLst/>
              </a:prstGeom>
              <a:noFill/>
              <a:ln cap="flat" cmpd="sng" w="28575">
                <a:solidFill>
                  <a:srgbClr val="FF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754" name="Google Shape;754;p45"/>
              <p:cNvGrpSpPr/>
              <p:nvPr/>
            </p:nvGrpSpPr>
            <p:grpSpPr>
              <a:xfrm>
                <a:off x="239" y="3493"/>
                <a:ext cx="560" cy="262"/>
                <a:chOff x="240" y="3553"/>
                <a:chExt cx="576" cy="287"/>
              </a:xfrm>
            </p:grpSpPr>
            <p:cxnSp>
              <p:nvCxnSpPr>
                <p:cNvPr id="755" name="Google Shape;755;p45"/>
                <p:cNvCxnSpPr/>
                <p:nvPr/>
              </p:nvCxnSpPr>
              <p:spPr>
                <a:xfrm>
                  <a:off x="288" y="3840"/>
                  <a:ext cx="288" cy="0"/>
                </a:xfrm>
                <a:prstGeom prst="straightConnector1">
                  <a:avLst/>
                </a:prstGeom>
                <a:noFill/>
                <a:ln cap="flat" cmpd="sng" w="38100">
                  <a:solidFill>
                    <a:schemeClr val="lt1"/>
                  </a:solidFill>
                  <a:prstDash val="solid"/>
                  <a:round/>
                  <a:headEnd len="med" w="med" type="none"/>
                  <a:tailEnd len="med" w="med" type="none"/>
                </a:ln>
              </p:spPr>
            </p:cxnSp>
            <p:sp>
              <p:nvSpPr>
                <p:cNvPr id="756" name="Google Shape;756;p45"/>
                <p:cNvSpPr txBox="1"/>
                <p:nvPr/>
              </p:nvSpPr>
              <p:spPr>
                <a:xfrm>
                  <a:off x="240" y="3553"/>
                  <a:ext cx="576" cy="25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Calibri"/>
                      <a:ea typeface="Calibri"/>
                      <a:cs typeface="Calibri"/>
                      <a:sym typeface="Calibri"/>
                    </a:rPr>
                    <a:t>2nm</a:t>
                  </a:r>
                  <a:endParaRPr/>
                </a:p>
              </p:txBody>
            </p:sp>
          </p:grpSp>
        </p:grpSp>
        <p:grpSp>
          <p:nvGrpSpPr>
            <p:cNvPr id="757" name="Google Shape;757;p45"/>
            <p:cNvGrpSpPr/>
            <p:nvPr/>
          </p:nvGrpSpPr>
          <p:grpSpPr>
            <a:xfrm>
              <a:off x="4724415" y="3637732"/>
              <a:ext cx="3124207" cy="2176462"/>
              <a:chOff x="2016" y="2331"/>
              <a:chExt cx="1968" cy="1371"/>
            </a:xfrm>
          </p:grpSpPr>
          <p:pic>
            <p:nvPicPr>
              <p:cNvPr id="758" name="Google Shape;758;p45"/>
              <p:cNvPicPr preferRelativeResize="0"/>
              <p:nvPr/>
            </p:nvPicPr>
            <p:blipFill rotWithShape="1">
              <a:blip r:embed="rId6">
                <a:alphaModFix/>
              </a:blip>
              <a:srcRect b="0" l="0" r="0" t="0"/>
              <a:stretch/>
            </p:blipFill>
            <p:spPr>
              <a:xfrm>
                <a:off x="2016" y="2331"/>
                <a:ext cx="1968" cy="1371"/>
              </a:xfrm>
              <a:prstGeom prst="rect">
                <a:avLst/>
              </a:prstGeom>
              <a:noFill/>
              <a:ln>
                <a:noFill/>
              </a:ln>
            </p:spPr>
          </p:pic>
          <p:grpSp>
            <p:nvGrpSpPr>
              <p:cNvPr id="759" name="Google Shape;759;p45"/>
              <p:cNvGrpSpPr/>
              <p:nvPr/>
            </p:nvGrpSpPr>
            <p:grpSpPr>
              <a:xfrm>
                <a:off x="2485" y="2640"/>
                <a:ext cx="1146" cy="614"/>
                <a:chOff x="2488" y="2602"/>
                <a:chExt cx="1018" cy="553"/>
              </a:xfrm>
            </p:grpSpPr>
            <p:sp>
              <p:nvSpPr>
                <p:cNvPr id="760" name="Google Shape;760;p45"/>
                <p:cNvSpPr/>
                <p:nvPr/>
              </p:nvSpPr>
              <p:spPr>
                <a:xfrm>
                  <a:off x="2872" y="2665"/>
                  <a:ext cx="71" cy="66"/>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61" name="Google Shape;761;p45"/>
                <p:cNvSpPr/>
                <p:nvPr/>
              </p:nvSpPr>
              <p:spPr>
                <a:xfrm>
                  <a:off x="2630" y="2659"/>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62" name="Google Shape;762;p45"/>
                <p:cNvSpPr/>
                <p:nvPr/>
              </p:nvSpPr>
              <p:spPr>
                <a:xfrm>
                  <a:off x="2502" y="2662"/>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63" name="Google Shape;763;p45"/>
                <p:cNvSpPr/>
                <p:nvPr/>
              </p:nvSpPr>
              <p:spPr>
                <a:xfrm>
                  <a:off x="2743" y="2666"/>
                  <a:ext cx="71" cy="66"/>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64" name="Google Shape;764;p45"/>
                <p:cNvSpPr/>
                <p:nvPr/>
              </p:nvSpPr>
              <p:spPr>
                <a:xfrm>
                  <a:off x="2869" y="2788"/>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65" name="Google Shape;765;p45"/>
                <p:cNvSpPr/>
                <p:nvPr/>
              </p:nvSpPr>
              <p:spPr>
                <a:xfrm>
                  <a:off x="2633" y="2788"/>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66" name="Google Shape;766;p45"/>
                <p:cNvSpPr/>
                <p:nvPr/>
              </p:nvSpPr>
              <p:spPr>
                <a:xfrm>
                  <a:off x="2488" y="2788"/>
                  <a:ext cx="72"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67" name="Google Shape;767;p45"/>
                <p:cNvSpPr/>
                <p:nvPr/>
              </p:nvSpPr>
              <p:spPr>
                <a:xfrm>
                  <a:off x="2740" y="2790"/>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68" name="Google Shape;768;p45"/>
                <p:cNvSpPr/>
                <p:nvPr/>
              </p:nvSpPr>
              <p:spPr>
                <a:xfrm>
                  <a:off x="2866" y="2909"/>
                  <a:ext cx="71" cy="66"/>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69" name="Google Shape;769;p45"/>
                <p:cNvSpPr/>
                <p:nvPr/>
              </p:nvSpPr>
              <p:spPr>
                <a:xfrm>
                  <a:off x="2619" y="2911"/>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70" name="Google Shape;770;p45"/>
                <p:cNvSpPr/>
                <p:nvPr/>
              </p:nvSpPr>
              <p:spPr>
                <a:xfrm>
                  <a:off x="2490" y="2914"/>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71" name="Google Shape;771;p45"/>
                <p:cNvSpPr/>
                <p:nvPr/>
              </p:nvSpPr>
              <p:spPr>
                <a:xfrm>
                  <a:off x="2737" y="2909"/>
                  <a:ext cx="72" cy="66"/>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72" name="Google Shape;772;p45"/>
                <p:cNvSpPr/>
                <p:nvPr/>
              </p:nvSpPr>
              <p:spPr>
                <a:xfrm>
                  <a:off x="2871" y="3040"/>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73" name="Google Shape;773;p45"/>
                <p:cNvSpPr/>
                <p:nvPr/>
              </p:nvSpPr>
              <p:spPr>
                <a:xfrm>
                  <a:off x="2622" y="3043"/>
                  <a:ext cx="71" cy="66"/>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74" name="Google Shape;774;p45"/>
                <p:cNvSpPr/>
                <p:nvPr/>
              </p:nvSpPr>
              <p:spPr>
                <a:xfrm>
                  <a:off x="2493" y="3045"/>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75" name="Google Shape;775;p45"/>
                <p:cNvSpPr/>
                <p:nvPr/>
              </p:nvSpPr>
              <p:spPr>
                <a:xfrm>
                  <a:off x="2742" y="3040"/>
                  <a:ext cx="72"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76" name="Google Shape;776;p45"/>
                <p:cNvSpPr/>
                <p:nvPr/>
              </p:nvSpPr>
              <p:spPr>
                <a:xfrm>
                  <a:off x="3435" y="2602"/>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77" name="Google Shape;777;p45"/>
                <p:cNvSpPr/>
                <p:nvPr/>
              </p:nvSpPr>
              <p:spPr>
                <a:xfrm>
                  <a:off x="3181" y="2605"/>
                  <a:ext cx="71" cy="66"/>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78" name="Google Shape;778;p45"/>
                <p:cNvSpPr/>
                <p:nvPr/>
              </p:nvSpPr>
              <p:spPr>
                <a:xfrm>
                  <a:off x="3052" y="2607"/>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79" name="Google Shape;779;p45"/>
                <p:cNvSpPr/>
                <p:nvPr/>
              </p:nvSpPr>
              <p:spPr>
                <a:xfrm>
                  <a:off x="3306" y="2602"/>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80" name="Google Shape;780;p45"/>
                <p:cNvSpPr/>
                <p:nvPr/>
              </p:nvSpPr>
              <p:spPr>
                <a:xfrm>
                  <a:off x="3435" y="2725"/>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81" name="Google Shape;781;p45"/>
                <p:cNvSpPr/>
                <p:nvPr/>
              </p:nvSpPr>
              <p:spPr>
                <a:xfrm>
                  <a:off x="3181" y="2728"/>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82" name="Google Shape;782;p45"/>
                <p:cNvSpPr/>
                <p:nvPr/>
              </p:nvSpPr>
              <p:spPr>
                <a:xfrm>
                  <a:off x="3052" y="2733"/>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83" name="Google Shape;783;p45"/>
                <p:cNvSpPr/>
                <p:nvPr/>
              </p:nvSpPr>
              <p:spPr>
                <a:xfrm>
                  <a:off x="3306" y="2725"/>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84" name="Google Shape;784;p45"/>
                <p:cNvSpPr/>
                <p:nvPr/>
              </p:nvSpPr>
              <p:spPr>
                <a:xfrm>
                  <a:off x="3435" y="2837"/>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85" name="Google Shape;785;p45"/>
                <p:cNvSpPr/>
                <p:nvPr/>
              </p:nvSpPr>
              <p:spPr>
                <a:xfrm>
                  <a:off x="3183" y="2842"/>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86" name="Google Shape;786;p45"/>
                <p:cNvSpPr/>
                <p:nvPr/>
              </p:nvSpPr>
              <p:spPr>
                <a:xfrm>
                  <a:off x="3055" y="2845"/>
                  <a:ext cx="71" cy="66"/>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87" name="Google Shape;787;p45"/>
                <p:cNvSpPr/>
                <p:nvPr/>
              </p:nvSpPr>
              <p:spPr>
                <a:xfrm>
                  <a:off x="3306" y="2848"/>
                  <a:ext cx="71" cy="67"/>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88" name="Google Shape;788;p45"/>
                <p:cNvSpPr/>
                <p:nvPr/>
              </p:nvSpPr>
              <p:spPr>
                <a:xfrm>
                  <a:off x="3435" y="2969"/>
                  <a:ext cx="71" cy="66"/>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89" name="Google Shape;789;p45"/>
                <p:cNvSpPr/>
                <p:nvPr/>
              </p:nvSpPr>
              <p:spPr>
                <a:xfrm>
                  <a:off x="3191" y="2969"/>
                  <a:ext cx="72" cy="66"/>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90" name="Google Shape;790;p45"/>
                <p:cNvSpPr/>
                <p:nvPr/>
              </p:nvSpPr>
              <p:spPr>
                <a:xfrm>
                  <a:off x="3057" y="2971"/>
                  <a:ext cx="72" cy="66"/>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91" name="Google Shape;791;p45"/>
                <p:cNvSpPr/>
                <p:nvPr/>
              </p:nvSpPr>
              <p:spPr>
                <a:xfrm>
                  <a:off x="3309" y="2969"/>
                  <a:ext cx="71" cy="66"/>
                </a:xfrm>
                <a:prstGeom prst="ellipse">
                  <a:avLst/>
                </a:prstGeom>
                <a:noFill/>
                <a:ln cap="flat" cmpd="sng" w="12700">
                  <a:solidFill>
                    <a:schemeClr val="accent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1"/>
                    </a:solidFill>
                    <a:latin typeface="Calibri"/>
                    <a:ea typeface="Calibri"/>
                    <a:cs typeface="Calibri"/>
                    <a:sym typeface="Calibri"/>
                  </a:endParaRPr>
                </a:p>
              </p:txBody>
            </p:sp>
            <p:sp>
              <p:nvSpPr>
                <p:cNvPr id="792" name="Google Shape;792;p45"/>
                <p:cNvSpPr/>
                <p:nvPr/>
              </p:nvSpPr>
              <p:spPr>
                <a:xfrm>
                  <a:off x="2573" y="2739"/>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3" name="Google Shape;793;p45"/>
                <p:cNvSpPr/>
                <p:nvPr/>
              </p:nvSpPr>
              <p:spPr>
                <a:xfrm>
                  <a:off x="2694" y="2739"/>
                  <a:ext cx="43"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4" name="Google Shape;794;p45"/>
                <p:cNvSpPr/>
                <p:nvPr/>
              </p:nvSpPr>
              <p:spPr>
                <a:xfrm>
                  <a:off x="2814" y="2736"/>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5" name="Google Shape;795;p45"/>
                <p:cNvSpPr/>
                <p:nvPr/>
              </p:nvSpPr>
              <p:spPr>
                <a:xfrm>
                  <a:off x="2940" y="2733"/>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6" name="Google Shape;796;p45"/>
                <p:cNvSpPr/>
                <p:nvPr/>
              </p:nvSpPr>
              <p:spPr>
                <a:xfrm>
                  <a:off x="2571" y="2867"/>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7" name="Google Shape;797;p45"/>
                <p:cNvSpPr/>
                <p:nvPr/>
              </p:nvSpPr>
              <p:spPr>
                <a:xfrm>
                  <a:off x="2691" y="2867"/>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8" name="Google Shape;798;p45"/>
                <p:cNvSpPr/>
                <p:nvPr/>
              </p:nvSpPr>
              <p:spPr>
                <a:xfrm>
                  <a:off x="2812" y="2865"/>
                  <a:ext cx="43" cy="43"/>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9" name="Google Shape;799;p45"/>
                <p:cNvSpPr/>
                <p:nvPr/>
              </p:nvSpPr>
              <p:spPr>
                <a:xfrm>
                  <a:off x="2937" y="2862"/>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0" name="Google Shape;800;p45"/>
                <p:cNvSpPr/>
                <p:nvPr/>
              </p:nvSpPr>
              <p:spPr>
                <a:xfrm>
                  <a:off x="2576" y="2988"/>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1" name="Google Shape;801;p45"/>
                <p:cNvSpPr/>
                <p:nvPr/>
              </p:nvSpPr>
              <p:spPr>
                <a:xfrm>
                  <a:off x="2696" y="2988"/>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2" name="Google Shape;802;p45"/>
                <p:cNvSpPr/>
                <p:nvPr/>
              </p:nvSpPr>
              <p:spPr>
                <a:xfrm>
                  <a:off x="2817" y="2986"/>
                  <a:ext cx="43" cy="43"/>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3" name="Google Shape;803;p45"/>
                <p:cNvSpPr/>
                <p:nvPr/>
              </p:nvSpPr>
              <p:spPr>
                <a:xfrm>
                  <a:off x="2942" y="2983"/>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4" name="Google Shape;804;p45"/>
                <p:cNvSpPr/>
                <p:nvPr/>
              </p:nvSpPr>
              <p:spPr>
                <a:xfrm>
                  <a:off x="3008" y="2796"/>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5" name="Google Shape;805;p45"/>
                <p:cNvSpPr/>
                <p:nvPr/>
              </p:nvSpPr>
              <p:spPr>
                <a:xfrm>
                  <a:off x="3128" y="2796"/>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6" name="Google Shape;806;p45"/>
                <p:cNvSpPr/>
                <p:nvPr/>
              </p:nvSpPr>
              <p:spPr>
                <a:xfrm>
                  <a:off x="3249" y="2794"/>
                  <a:ext cx="43" cy="43"/>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7" name="Google Shape;807;p45"/>
                <p:cNvSpPr/>
                <p:nvPr/>
              </p:nvSpPr>
              <p:spPr>
                <a:xfrm>
                  <a:off x="3374" y="2791"/>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8" name="Google Shape;808;p45"/>
                <p:cNvSpPr/>
                <p:nvPr/>
              </p:nvSpPr>
              <p:spPr>
                <a:xfrm>
                  <a:off x="3008" y="2919"/>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9" name="Google Shape;809;p45"/>
                <p:cNvSpPr/>
                <p:nvPr/>
              </p:nvSpPr>
              <p:spPr>
                <a:xfrm>
                  <a:off x="3128" y="2919"/>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0" name="Google Shape;810;p45"/>
                <p:cNvSpPr/>
                <p:nvPr/>
              </p:nvSpPr>
              <p:spPr>
                <a:xfrm>
                  <a:off x="3249" y="2917"/>
                  <a:ext cx="43" cy="43"/>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1" name="Google Shape;811;p45"/>
                <p:cNvSpPr/>
                <p:nvPr/>
              </p:nvSpPr>
              <p:spPr>
                <a:xfrm>
                  <a:off x="3374" y="2914"/>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2" name="Google Shape;812;p45"/>
                <p:cNvSpPr/>
                <p:nvPr/>
              </p:nvSpPr>
              <p:spPr>
                <a:xfrm>
                  <a:off x="3000" y="2695"/>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3" name="Google Shape;813;p45"/>
                <p:cNvSpPr/>
                <p:nvPr/>
              </p:nvSpPr>
              <p:spPr>
                <a:xfrm>
                  <a:off x="3120" y="2695"/>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4" name="Google Shape;814;p45"/>
                <p:cNvSpPr/>
                <p:nvPr/>
              </p:nvSpPr>
              <p:spPr>
                <a:xfrm>
                  <a:off x="3241" y="2692"/>
                  <a:ext cx="43"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5" name="Google Shape;815;p45"/>
                <p:cNvSpPr/>
                <p:nvPr/>
              </p:nvSpPr>
              <p:spPr>
                <a:xfrm>
                  <a:off x="3367" y="2690"/>
                  <a:ext cx="43" cy="43"/>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6" name="Google Shape;816;p45"/>
                <p:cNvSpPr/>
                <p:nvPr/>
              </p:nvSpPr>
              <p:spPr>
                <a:xfrm>
                  <a:off x="3014" y="3048"/>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7" name="Google Shape;817;p45"/>
                <p:cNvSpPr/>
                <p:nvPr/>
              </p:nvSpPr>
              <p:spPr>
                <a:xfrm>
                  <a:off x="3134" y="3048"/>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8" name="Google Shape;818;p45"/>
                <p:cNvSpPr/>
                <p:nvPr/>
              </p:nvSpPr>
              <p:spPr>
                <a:xfrm>
                  <a:off x="3255" y="3046"/>
                  <a:ext cx="43" cy="43"/>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9" name="Google Shape;819;p45"/>
                <p:cNvSpPr/>
                <p:nvPr/>
              </p:nvSpPr>
              <p:spPr>
                <a:xfrm>
                  <a:off x="3380" y="3043"/>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0" name="Google Shape;820;p45"/>
                <p:cNvSpPr/>
                <p:nvPr/>
              </p:nvSpPr>
              <p:spPr>
                <a:xfrm>
                  <a:off x="2573" y="3111"/>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1" name="Google Shape;821;p45"/>
                <p:cNvSpPr/>
                <p:nvPr/>
              </p:nvSpPr>
              <p:spPr>
                <a:xfrm>
                  <a:off x="2694" y="3111"/>
                  <a:ext cx="43"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2" name="Google Shape;822;p45"/>
                <p:cNvSpPr/>
                <p:nvPr/>
              </p:nvSpPr>
              <p:spPr>
                <a:xfrm>
                  <a:off x="2814" y="3109"/>
                  <a:ext cx="44" cy="43"/>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3" name="Google Shape;823;p45"/>
                <p:cNvSpPr/>
                <p:nvPr/>
              </p:nvSpPr>
              <p:spPr>
                <a:xfrm>
                  <a:off x="2940" y="3106"/>
                  <a:ext cx="44" cy="44"/>
                </a:xfrm>
                <a:prstGeom prst="ellipse">
                  <a:avLst/>
                </a:prstGeom>
                <a:noFill/>
                <a:ln cap="flat" cmpd="sng" w="9525">
                  <a:solidFill>
                    <a:srgbClr val="FF33CC"/>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4" name="Google Shape;824;p45"/>
                <p:cNvSpPr/>
                <p:nvPr/>
              </p:nvSpPr>
              <p:spPr>
                <a:xfrm>
                  <a:off x="3012" y="2711"/>
                  <a:ext cx="15" cy="11"/>
                </a:xfrm>
                <a:prstGeom prst="ellipse">
                  <a:avLst/>
                </a:prstGeom>
                <a:solidFill>
                  <a:srgbClr val="FF33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5" name="Google Shape;825;p45"/>
                <p:cNvSpPr/>
                <p:nvPr/>
              </p:nvSpPr>
              <p:spPr>
                <a:xfrm>
                  <a:off x="3022" y="2812"/>
                  <a:ext cx="15" cy="12"/>
                </a:xfrm>
                <a:prstGeom prst="ellipse">
                  <a:avLst/>
                </a:prstGeom>
                <a:solidFill>
                  <a:srgbClr val="FF33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6" name="Google Shape;826;p45"/>
                <p:cNvSpPr/>
                <p:nvPr/>
              </p:nvSpPr>
              <p:spPr>
                <a:xfrm>
                  <a:off x="2954" y="2750"/>
                  <a:ext cx="16" cy="12"/>
                </a:xfrm>
                <a:prstGeom prst="ellipse">
                  <a:avLst/>
                </a:prstGeom>
                <a:solidFill>
                  <a:srgbClr val="FF33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7" name="Google Shape;827;p45"/>
                <p:cNvSpPr/>
                <p:nvPr/>
              </p:nvSpPr>
              <p:spPr>
                <a:xfrm>
                  <a:off x="2951" y="2876"/>
                  <a:ext cx="15" cy="12"/>
                </a:xfrm>
                <a:prstGeom prst="ellipse">
                  <a:avLst/>
                </a:prstGeom>
                <a:solidFill>
                  <a:srgbClr val="FF33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8" name="Google Shape;828;p45"/>
                <p:cNvSpPr/>
                <p:nvPr/>
              </p:nvSpPr>
              <p:spPr>
                <a:xfrm>
                  <a:off x="3022" y="2934"/>
                  <a:ext cx="15" cy="12"/>
                </a:xfrm>
                <a:prstGeom prst="ellipse">
                  <a:avLst/>
                </a:prstGeom>
                <a:solidFill>
                  <a:srgbClr val="FF33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9" name="Google Shape;829;p45"/>
                <p:cNvSpPr/>
                <p:nvPr/>
              </p:nvSpPr>
              <p:spPr>
                <a:xfrm>
                  <a:off x="2956" y="2998"/>
                  <a:ext cx="16" cy="12"/>
                </a:xfrm>
                <a:prstGeom prst="ellipse">
                  <a:avLst/>
                </a:prstGeom>
                <a:solidFill>
                  <a:srgbClr val="FF33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0" name="Google Shape;830;p45"/>
                <p:cNvSpPr/>
                <p:nvPr/>
              </p:nvSpPr>
              <p:spPr>
                <a:xfrm>
                  <a:off x="3027" y="3064"/>
                  <a:ext cx="16" cy="12"/>
                </a:xfrm>
                <a:prstGeom prst="ellipse">
                  <a:avLst/>
                </a:prstGeom>
                <a:solidFill>
                  <a:srgbClr val="FF33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1" name="Google Shape;831;p45"/>
                <p:cNvSpPr/>
                <p:nvPr/>
              </p:nvSpPr>
              <p:spPr>
                <a:xfrm>
                  <a:off x="2953" y="3122"/>
                  <a:ext cx="15" cy="12"/>
                </a:xfrm>
                <a:prstGeom prst="ellipse">
                  <a:avLst/>
                </a:prstGeom>
                <a:solidFill>
                  <a:srgbClr val="FF33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832" name="Google Shape;832;p45"/>
              <p:cNvGrpSpPr/>
              <p:nvPr/>
            </p:nvGrpSpPr>
            <p:grpSpPr>
              <a:xfrm>
                <a:off x="2016" y="3120"/>
                <a:ext cx="656" cy="542"/>
                <a:chOff x="2045" y="3196"/>
                <a:chExt cx="656" cy="542"/>
              </a:xfrm>
            </p:grpSpPr>
            <p:sp>
              <p:nvSpPr>
                <p:cNvPr id="833" name="Google Shape;833;p45"/>
                <p:cNvSpPr txBox="1"/>
                <p:nvPr/>
              </p:nvSpPr>
              <p:spPr>
                <a:xfrm>
                  <a:off x="2045" y="3196"/>
                  <a:ext cx="306"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lt1"/>
                      </a:solidFill>
                      <a:latin typeface="Calibri"/>
                      <a:ea typeface="Calibri"/>
                      <a:cs typeface="Calibri"/>
                      <a:sym typeface="Calibri"/>
                    </a:rPr>
                    <a:t>010</a:t>
                  </a:r>
                  <a:endParaRPr/>
                </a:p>
              </p:txBody>
            </p:sp>
            <p:cxnSp>
              <p:nvCxnSpPr>
                <p:cNvPr id="834" name="Google Shape;834;p45"/>
                <p:cNvCxnSpPr/>
                <p:nvPr/>
              </p:nvCxnSpPr>
              <p:spPr>
                <a:xfrm rot="-9870889">
                  <a:off x="2136" y="3337"/>
                  <a:ext cx="69" cy="273"/>
                </a:xfrm>
                <a:prstGeom prst="straightConnector1">
                  <a:avLst/>
                </a:prstGeom>
                <a:noFill/>
                <a:ln cap="flat" cmpd="sng" w="28575">
                  <a:solidFill>
                    <a:schemeClr val="lt1"/>
                  </a:solidFill>
                  <a:prstDash val="solid"/>
                  <a:round/>
                  <a:headEnd len="med" w="med" type="none"/>
                  <a:tailEnd len="med" w="med" type="triangle"/>
                </a:ln>
              </p:spPr>
            </p:cxnSp>
            <p:cxnSp>
              <p:nvCxnSpPr>
                <p:cNvPr id="835" name="Google Shape;835;p45"/>
                <p:cNvCxnSpPr/>
                <p:nvPr/>
              </p:nvCxnSpPr>
              <p:spPr>
                <a:xfrm rot="-4470889">
                  <a:off x="2263" y="3485"/>
                  <a:ext cx="74" cy="253"/>
                </a:xfrm>
                <a:prstGeom prst="straightConnector1">
                  <a:avLst/>
                </a:prstGeom>
                <a:noFill/>
                <a:ln cap="flat" cmpd="sng" w="28575">
                  <a:solidFill>
                    <a:schemeClr val="lt1"/>
                  </a:solidFill>
                  <a:prstDash val="solid"/>
                  <a:round/>
                  <a:headEnd len="med" w="med" type="none"/>
                  <a:tailEnd len="med" w="med" type="triangle"/>
                </a:ln>
              </p:spPr>
            </p:cxnSp>
            <p:sp>
              <p:nvSpPr>
                <p:cNvPr id="836" name="Google Shape;836;p45"/>
                <p:cNvSpPr txBox="1"/>
                <p:nvPr/>
              </p:nvSpPr>
              <p:spPr>
                <a:xfrm>
                  <a:off x="2395" y="3546"/>
                  <a:ext cx="306"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lt1"/>
                      </a:solidFill>
                      <a:latin typeface="Calibri"/>
                      <a:ea typeface="Calibri"/>
                      <a:cs typeface="Calibri"/>
                      <a:sym typeface="Calibri"/>
                    </a:rPr>
                    <a:t>100</a:t>
                  </a:r>
                  <a:endParaRPr/>
                </a:p>
              </p:txBody>
            </p:sp>
          </p:grpSp>
        </p:grpSp>
      </p:grpSp>
      <p:sp>
        <p:nvSpPr>
          <p:cNvPr id="837" name="Google Shape;837;p45"/>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US" sz="3600"/>
              <a:t>Antiphase Domain Boundaries In Ba(Sr) TiO</a:t>
            </a:r>
            <a:r>
              <a:rPr b="1" baseline="-25000" lang="en-US" sz="3600"/>
              <a:t>3</a:t>
            </a:r>
            <a:endParaRPr/>
          </a:p>
        </p:txBody>
      </p:sp>
      <p:sp>
        <p:nvSpPr>
          <p:cNvPr id="838" name="Google Shape;838;p45"/>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39" name="Google Shape;839;p45"/>
          <p:cNvSpPr txBox="1"/>
          <p:nvPr/>
        </p:nvSpPr>
        <p:spPr>
          <a:xfrm>
            <a:off x="1557826" y="6420670"/>
            <a:ext cx="957595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Times New Roman"/>
                <a:ea typeface="Times New Roman"/>
                <a:cs typeface="Times New Roman"/>
                <a:sym typeface="Times New Roman"/>
              </a:rPr>
              <a:t>H. Zheng, L. Salamanca-Riba, R. Ramesh, and H. Li, Appl. Phys. Lett. </a:t>
            </a:r>
            <a:r>
              <a:rPr b="1" lang="en-US" sz="1400">
                <a:solidFill>
                  <a:srgbClr val="000000"/>
                </a:solidFill>
                <a:latin typeface="Times New Roman"/>
                <a:ea typeface="Times New Roman"/>
                <a:cs typeface="Times New Roman"/>
                <a:sym typeface="Times New Roman"/>
              </a:rPr>
              <a:t>85</a:t>
            </a:r>
            <a:r>
              <a:rPr lang="en-US" sz="1400">
                <a:solidFill>
                  <a:srgbClr val="000000"/>
                </a:solidFill>
                <a:latin typeface="Times New Roman"/>
                <a:ea typeface="Times New Roman"/>
                <a:cs typeface="Times New Roman"/>
                <a:sym typeface="Times New Roman"/>
              </a:rPr>
              <a:t>, 2905-7 (2004).</a:t>
            </a:r>
            <a:endParaRPr/>
          </a:p>
        </p:txBody>
      </p:sp>
      <p:pic>
        <p:nvPicPr>
          <p:cNvPr descr="BSTO" id="840" name="Google Shape;840;p45"/>
          <p:cNvPicPr preferRelativeResize="0"/>
          <p:nvPr/>
        </p:nvPicPr>
        <p:blipFill rotWithShape="1">
          <a:blip r:embed="rId7">
            <a:alphaModFix/>
          </a:blip>
          <a:srcRect b="0" l="0" r="0" t="0"/>
          <a:stretch/>
        </p:blipFill>
        <p:spPr>
          <a:xfrm>
            <a:off x="9437738" y="2067951"/>
            <a:ext cx="2685281" cy="221956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8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46"/>
          <p:cNvSpPr/>
          <p:nvPr/>
        </p:nvSpPr>
        <p:spPr>
          <a:xfrm>
            <a:off x="0" y="0"/>
            <a:ext cx="12192000" cy="6858000"/>
          </a:xfrm>
          <a:prstGeom prst="rect">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6" name="Google Shape;846;p4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47"/>
          <p:cNvSpPr txBox="1"/>
          <p:nvPr/>
        </p:nvSpPr>
        <p:spPr>
          <a:xfrm>
            <a:off x="523415" y="677929"/>
            <a:ext cx="9175531" cy="5355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Dynamic range </a:t>
            </a:r>
            <a:r>
              <a:rPr lang="en-US" sz="1800">
                <a:solidFill>
                  <a:schemeClr val="dk1"/>
                </a:solidFill>
                <a:latin typeface="Arial"/>
                <a:ea typeface="Arial"/>
                <a:cs typeface="Arial"/>
                <a:sym typeface="Arial"/>
              </a:rPr>
              <a:t>is the ratio between the maximum and minimum measurable light intensities (in photography) or signal amplitudes (in audio) a system can capture, typically measured in stops or decibels (dB). It represents the ability to retain detail in both extreme highlights and deep shadows simultaneously without clipping or noise. </a:t>
            </a:r>
            <a:r>
              <a:rPr baseline="30000" lang="en-US" sz="1800">
                <a:solidFill>
                  <a:schemeClr val="dk1"/>
                </a:solidFill>
                <a:latin typeface="Arial"/>
                <a:ea typeface="Arial"/>
                <a:cs typeface="Arial"/>
                <a:sym typeface="Arial"/>
              </a:rPr>
              <a:t>1</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A linear detector (or linear image sensor) in electron microscopy is a detector where the signal output is directly proportional to the incident electron flux.</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An annular dark field detector (ADF) is a linear detector made of an array of pixels that measure the number of electrons in each pixel to form an image. When a pixel is saturated information is lost because the pixel has reached its maximum charge capacity.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b="1" lang="en-US" sz="1800">
                <a:solidFill>
                  <a:schemeClr val="dk1"/>
                </a:solidFill>
                <a:latin typeface="Arial"/>
                <a:ea typeface="Arial"/>
                <a:cs typeface="Arial"/>
                <a:sym typeface="Arial"/>
              </a:rPr>
              <a:t>It is important to adjust the dynamical range so that no information is lost. </a:t>
            </a:r>
            <a:endParaRPr/>
          </a:p>
          <a:p>
            <a:pPr indent="0" lvl="0" marL="0" marR="0" rtl="0" algn="l">
              <a:spcBef>
                <a:spcPts val="0"/>
              </a:spcBef>
              <a:spcAft>
                <a:spcPts val="0"/>
              </a:spcAft>
              <a:buNone/>
            </a:pPr>
            <a:r>
              <a:t/>
            </a:r>
            <a:endParaRPr b="1"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Contrast is the difference between bright and dark features in an image.</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Gamma is a non-linear correction to adjust mid tones without affecting contrast. To enhance viewing of the image.</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52" name="Google Shape;852;p47"/>
          <p:cNvSpPr txBox="1"/>
          <p:nvPr>
            <p:ph type="title"/>
          </p:nvPr>
        </p:nvSpPr>
        <p:spPr>
          <a:xfrm>
            <a:off x="1245110" y="46404"/>
            <a:ext cx="10474172" cy="5334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C00000"/>
              </a:buClr>
              <a:buSzPct val="100000"/>
              <a:buFont typeface="Play"/>
              <a:buNone/>
            </a:pPr>
            <a:r>
              <a:rPr lang="en-US"/>
              <a:t>Secton 0.1.2 Histogram and Contrast in Photography</a:t>
            </a:r>
            <a:endParaRPr/>
          </a:p>
        </p:txBody>
      </p:sp>
      <p:sp>
        <p:nvSpPr>
          <p:cNvPr id="853" name="Google Shape;853;p47"/>
          <p:cNvSpPr txBox="1"/>
          <p:nvPr/>
        </p:nvSpPr>
        <p:spPr>
          <a:xfrm>
            <a:off x="244854" y="5725464"/>
            <a:ext cx="758825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 https://en.wikipedia.org/wiki/Dynamic_range</a:t>
            </a:r>
            <a:endParaRPr/>
          </a:p>
        </p:txBody>
      </p:sp>
      <p:sp>
        <p:nvSpPr>
          <p:cNvPr id="854" name="Google Shape;854;p47"/>
          <p:cNvSpPr txBox="1"/>
          <p:nvPr/>
        </p:nvSpPr>
        <p:spPr>
          <a:xfrm>
            <a:off x="11427195" y="6412020"/>
            <a:ext cx="69000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pic>
        <p:nvPicPr>
          <p:cNvPr id="855" name="Google Shape;855;p47"/>
          <p:cNvPicPr preferRelativeResize="0"/>
          <p:nvPr/>
        </p:nvPicPr>
        <p:blipFill rotWithShape="1">
          <a:blip r:embed="rId3">
            <a:alphaModFix/>
          </a:blip>
          <a:srcRect b="0" l="0" r="0" t="0"/>
          <a:stretch/>
        </p:blipFill>
        <p:spPr>
          <a:xfrm>
            <a:off x="9875980" y="1031919"/>
            <a:ext cx="2000250" cy="2952750"/>
          </a:xfrm>
          <a:prstGeom prst="rect">
            <a:avLst/>
          </a:prstGeom>
          <a:noFill/>
          <a:ln>
            <a:noFill/>
          </a:ln>
        </p:spPr>
      </p:pic>
      <p:sp>
        <p:nvSpPr>
          <p:cNvPr id="856" name="Google Shape;856;p47"/>
          <p:cNvSpPr txBox="1"/>
          <p:nvPr/>
        </p:nvSpPr>
        <p:spPr>
          <a:xfrm>
            <a:off x="9536687" y="4168403"/>
            <a:ext cx="2580515"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Histogram </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Obtained from Gatan Digital Micrograph</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48"/>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Effect of brightness</a:t>
            </a:r>
            <a:endParaRPr/>
          </a:p>
        </p:txBody>
      </p:sp>
      <p:pic>
        <p:nvPicPr>
          <p:cNvPr id="862" name="Google Shape;862;p48"/>
          <p:cNvPicPr preferRelativeResize="0"/>
          <p:nvPr/>
        </p:nvPicPr>
        <p:blipFill rotWithShape="1">
          <a:blip r:embed="rId3">
            <a:alphaModFix/>
          </a:blip>
          <a:srcRect b="0" l="0" r="0" t="0"/>
          <a:stretch/>
        </p:blipFill>
        <p:spPr>
          <a:xfrm>
            <a:off x="5869766" y="977462"/>
            <a:ext cx="5452011" cy="3634674"/>
          </a:xfrm>
          <a:prstGeom prst="rect">
            <a:avLst/>
          </a:prstGeom>
          <a:noFill/>
          <a:ln>
            <a:noFill/>
          </a:ln>
        </p:spPr>
      </p:pic>
      <p:pic>
        <p:nvPicPr>
          <p:cNvPr id="863" name="Google Shape;863;p48"/>
          <p:cNvPicPr preferRelativeResize="0"/>
          <p:nvPr/>
        </p:nvPicPr>
        <p:blipFill rotWithShape="1">
          <a:blip r:embed="rId4">
            <a:alphaModFix/>
          </a:blip>
          <a:srcRect b="0" l="0" r="0" t="0"/>
          <a:stretch/>
        </p:blipFill>
        <p:spPr>
          <a:xfrm>
            <a:off x="146883" y="977462"/>
            <a:ext cx="5528967" cy="3685978"/>
          </a:xfrm>
          <a:prstGeom prst="rect">
            <a:avLst/>
          </a:prstGeom>
          <a:noFill/>
          <a:ln>
            <a:noFill/>
          </a:ln>
        </p:spPr>
      </p:pic>
      <p:pic>
        <p:nvPicPr>
          <p:cNvPr id="864" name="Google Shape;864;p48"/>
          <p:cNvPicPr preferRelativeResize="0"/>
          <p:nvPr/>
        </p:nvPicPr>
        <p:blipFill rotWithShape="1">
          <a:blip r:embed="rId5">
            <a:alphaModFix/>
          </a:blip>
          <a:srcRect b="0" l="0" r="0" t="0"/>
          <a:stretch/>
        </p:blipFill>
        <p:spPr>
          <a:xfrm>
            <a:off x="3675600" y="3693138"/>
            <a:ext cx="2000250" cy="2952750"/>
          </a:xfrm>
          <a:prstGeom prst="rect">
            <a:avLst/>
          </a:prstGeom>
          <a:noFill/>
          <a:ln>
            <a:noFill/>
          </a:ln>
        </p:spPr>
      </p:pic>
      <p:pic>
        <p:nvPicPr>
          <p:cNvPr id="865" name="Google Shape;865;p48"/>
          <p:cNvPicPr preferRelativeResize="0"/>
          <p:nvPr/>
        </p:nvPicPr>
        <p:blipFill rotWithShape="1">
          <a:blip r:embed="rId6">
            <a:alphaModFix/>
          </a:blip>
          <a:srcRect b="0" l="0" r="0" t="0"/>
          <a:stretch/>
        </p:blipFill>
        <p:spPr>
          <a:xfrm>
            <a:off x="9204567" y="3740763"/>
            <a:ext cx="2057400" cy="29051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49"/>
          <p:cNvSpPr/>
          <p:nvPr/>
        </p:nvSpPr>
        <p:spPr>
          <a:xfrm>
            <a:off x="0" y="0"/>
            <a:ext cx="12192000" cy="6858000"/>
          </a:xfrm>
          <a:prstGeom prst="rect">
            <a:avLst/>
          </a:prstGeom>
          <a:solidFill>
            <a:schemeClr val="dk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71" name="Google Shape;871;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50"/>
          <p:cNvSpPr txBox="1"/>
          <p:nvPr/>
        </p:nvSpPr>
        <p:spPr>
          <a:xfrm>
            <a:off x="1336674" y="1688213"/>
            <a:ext cx="9836150"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There can be many sources of noise in TEM/STEM</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Shot noise- from fundamental Physics. Dominant in STEM. It arises from the statistical fluctuations in the number of incident electrons and electron scattering events.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Detector/Read noise. Variations in the electronics of the detectors in the microscope</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Room temperature variations, </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Variations in the accelerating voltage of the microscope</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Sample modifications (from beam damage or instabilities under the beam, etc)</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Scan jitter (of the e-beam)</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Sample DRIF</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7" name="Google Shape;877;p50"/>
          <p:cNvSpPr txBox="1"/>
          <p:nvPr>
            <p:ph type="title"/>
          </p:nvPr>
        </p:nvSpPr>
        <p:spPr>
          <a:xfrm>
            <a:off x="1450186" y="109537"/>
            <a:ext cx="9055955" cy="5334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C00000"/>
              </a:buClr>
              <a:buSzPct val="100000"/>
              <a:buFont typeface="Play"/>
              <a:buNone/>
            </a:pPr>
            <a:r>
              <a:rPr lang="en-US"/>
              <a:t>Section 0.1.3 Noise Correction in TEM/STEM</a:t>
            </a:r>
            <a:endParaRPr/>
          </a:p>
        </p:txBody>
      </p:sp>
      <p:sp>
        <p:nvSpPr>
          <p:cNvPr id="878" name="Google Shape;878;p50"/>
          <p:cNvSpPr txBox="1"/>
          <p:nvPr>
            <p:ph idx="4294967295" type="sldNum"/>
          </p:nvPr>
        </p:nvSpPr>
        <p:spPr>
          <a:xfrm>
            <a:off x="9347200" y="6383338"/>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79" name="Google Shape;879;p50"/>
          <p:cNvSpPr txBox="1"/>
          <p:nvPr/>
        </p:nvSpPr>
        <p:spPr>
          <a:xfrm>
            <a:off x="1336674" y="794582"/>
            <a:ext cx="5095657"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br>
              <a:rPr lang="en-US" sz="1800">
                <a:solidFill>
                  <a:schemeClr val="dk1"/>
                </a:solidFill>
                <a:latin typeface="Arial"/>
                <a:ea typeface="Arial"/>
                <a:cs typeface="Arial"/>
                <a:sym typeface="Arial"/>
              </a:rPr>
            </a:br>
            <a:r>
              <a:rPr b="1" lang="en-US" sz="2000">
                <a:solidFill>
                  <a:schemeClr val="dk1"/>
                </a:solidFill>
                <a:latin typeface="Arial"/>
                <a:ea typeface="Arial"/>
                <a:cs typeface="Arial"/>
                <a:sym typeface="Arial"/>
              </a:rPr>
              <a:t>Sources of Noise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51"/>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Noise Correction with Gaussian Filter</a:t>
            </a:r>
            <a:endParaRPr/>
          </a:p>
        </p:txBody>
      </p:sp>
      <p:sp>
        <p:nvSpPr>
          <p:cNvPr id="885" name="Google Shape;885;p51"/>
          <p:cNvSpPr txBox="1"/>
          <p:nvPr/>
        </p:nvSpPr>
        <p:spPr>
          <a:xfrm>
            <a:off x="1077310" y="1272544"/>
            <a:ext cx="10570831" cy="4312912"/>
          </a:xfrm>
          <a:prstGeom prst="rect">
            <a:avLst/>
          </a:prstGeom>
          <a:blipFill rotWithShape="1">
            <a:blip r:embed="rId3">
              <a:alphaModFix/>
            </a:blip>
            <a:stretch>
              <a:fillRect b="0" l="-519" r="-519" t="-84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886" name="Google Shape;886;p51"/>
          <p:cNvSpPr txBox="1"/>
          <p:nvPr/>
        </p:nvSpPr>
        <p:spPr>
          <a:xfrm>
            <a:off x="11410366" y="6490557"/>
            <a:ext cx="71805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52"/>
          <p:cNvSpPr/>
          <p:nvPr/>
        </p:nvSpPr>
        <p:spPr>
          <a:xfrm>
            <a:off x="0" y="0"/>
            <a:ext cx="12192000" cy="6858000"/>
          </a:xfrm>
          <a:prstGeom prst="rect">
            <a:avLst/>
          </a:prstGeom>
          <a:solidFill>
            <a:schemeClr val="dk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2" name="Google Shape;892;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53"/>
          <p:cNvSpPr txBox="1"/>
          <p:nvPr/>
        </p:nvSpPr>
        <p:spPr>
          <a:xfrm>
            <a:off x="959279" y="1453651"/>
            <a:ext cx="9834007"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In TEM an image is acquired with an exposure time of &lt; 1 sec. During this time the sample could have drifted from original position giving rise to an image which appears to be out of focus.</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In STEM an image is acquired as the beam is scanned over an area of the sample with a short dwell time (microsec- millisec) at every spot to minimize drift. This image is not optimized for contrast and brightness.</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If a series of images is acquired from the same area they can be summed up to increase intensity and contrast. Prior to combining the images it is necessary to correct for sample drift from one image to the next. </a:t>
            </a:r>
            <a:endParaRPr/>
          </a:p>
        </p:txBody>
      </p:sp>
      <p:sp>
        <p:nvSpPr>
          <p:cNvPr id="898" name="Google Shape;898;p53"/>
          <p:cNvSpPr txBox="1"/>
          <p:nvPr>
            <p:ph type="title"/>
          </p:nvPr>
        </p:nvSpPr>
        <p:spPr>
          <a:xfrm>
            <a:off x="1120181" y="125293"/>
            <a:ext cx="8401775" cy="5334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C00000"/>
              </a:buClr>
              <a:buSzPct val="100000"/>
              <a:buFont typeface="Play"/>
              <a:buNone/>
            </a:pPr>
            <a:r>
              <a:rPr lang="en-US"/>
              <a:t>Section 0.1.4 DRIFT Correction</a:t>
            </a:r>
            <a:endParaRPr/>
          </a:p>
        </p:txBody>
      </p:sp>
      <p:sp>
        <p:nvSpPr>
          <p:cNvPr id="899" name="Google Shape;899;p53"/>
          <p:cNvSpPr txBox="1"/>
          <p:nvPr/>
        </p:nvSpPr>
        <p:spPr>
          <a:xfrm>
            <a:off x="11339992" y="6473728"/>
            <a:ext cx="80781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grpSp>
        <p:nvGrpSpPr>
          <p:cNvPr id="904" name="Google Shape;904;p54"/>
          <p:cNvGrpSpPr/>
          <p:nvPr/>
        </p:nvGrpSpPr>
        <p:grpSpPr>
          <a:xfrm>
            <a:off x="925360" y="1016161"/>
            <a:ext cx="3127515" cy="3942659"/>
            <a:chOff x="900150" y="1016161"/>
            <a:chExt cx="3127515" cy="3942659"/>
          </a:xfrm>
        </p:grpSpPr>
        <p:sp>
          <p:nvSpPr>
            <p:cNvPr id="905" name="Google Shape;905;p54"/>
            <p:cNvSpPr/>
            <p:nvPr/>
          </p:nvSpPr>
          <p:spPr>
            <a:xfrm>
              <a:off x="900150" y="1794279"/>
              <a:ext cx="3127515" cy="3164541"/>
            </a:xfrm>
            <a:prstGeom prst="ellipse">
              <a:avLst/>
            </a:prstGeom>
            <a:solidFill>
              <a:srgbClr val="82D6D4">
                <a:alpha val="2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906" name="Google Shape;906;p54"/>
            <p:cNvPicPr preferRelativeResize="0"/>
            <p:nvPr/>
          </p:nvPicPr>
          <p:blipFill rotWithShape="1">
            <a:blip r:embed="rId3">
              <a:alphaModFix/>
            </a:blip>
            <a:srcRect b="0" l="0" r="0" t="0"/>
            <a:stretch/>
          </p:blipFill>
          <p:spPr>
            <a:xfrm>
              <a:off x="2263215" y="1016161"/>
              <a:ext cx="401387" cy="1792379"/>
            </a:xfrm>
            <a:prstGeom prst="rect">
              <a:avLst/>
            </a:prstGeom>
            <a:noFill/>
            <a:ln>
              <a:noFill/>
            </a:ln>
          </p:spPr>
        </p:pic>
      </p:grpSp>
      <p:sp>
        <p:nvSpPr>
          <p:cNvPr id="907" name="Google Shape;907;p54"/>
          <p:cNvSpPr/>
          <p:nvPr/>
        </p:nvSpPr>
        <p:spPr>
          <a:xfrm>
            <a:off x="1569907" y="4311229"/>
            <a:ext cx="2119316" cy="955972"/>
          </a:xfrm>
          <a:prstGeom prst="donut">
            <a:avLst>
              <a:gd fmla="val 25000" name="adj"/>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08" name="Google Shape;908;p54"/>
          <p:cNvSpPr txBox="1"/>
          <p:nvPr/>
        </p:nvSpPr>
        <p:spPr>
          <a:xfrm>
            <a:off x="4007454" y="4463838"/>
            <a:ext cx="16061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ADF detector</a:t>
            </a:r>
            <a:endParaRPr/>
          </a:p>
        </p:txBody>
      </p:sp>
      <p:sp>
        <p:nvSpPr>
          <p:cNvPr id="909" name="Google Shape;909;p54"/>
          <p:cNvSpPr/>
          <p:nvPr/>
        </p:nvSpPr>
        <p:spPr>
          <a:xfrm>
            <a:off x="1023310" y="2530475"/>
            <a:ext cx="3980406" cy="1203721"/>
          </a:xfrm>
          <a:prstGeom prst="cube">
            <a:avLst>
              <a:gd fmla="val 82564" name="adj"/>
            </a:avLst>
          </a:prstGeom>
          <a:solidFill>
            <a:srgbClr val="FFD757">
              <a:alpha val="43137"/>
            </a:srgbClr>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0" name="Google Shape;910;p54"/>
          <p:cNvSpPr/>
          <p:nvPr/>
        </p:nvSpPr>
        <p:spPr>
          <a:xfrm>
            <a:off x="6316491" y="2474183"/>
            <a:ext cx="1223142" cy="349250"/>
          </a:xfrm>
          <a:prstGeom prst="flowChartInputOutpu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1" name="Google Shape;911;p54"/>
          <p:cNvSpPr/>
          <p:nvPr/>
        </p:nvSpPr>
        <p:spPr>
          <a:xfrm>
            <a:off x="6096000" y="2961653"/>
            <a:ext cx="1223142" cy="349250"/>
          </a:xfrm>
          <a:prstGeom prst="flowChartInputOutpu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2" name="Google Shape;912;p54"/>
          <p:cNvSpPr/>
          <p:nvPr/>
        </p:nvSpPr>
        <p:spPr>
          <a:xfrm>
            <a:off x="5979941" y="3427121"/>
            <a:ext cx="1223142" cy="349250"/>
          </a:xfrm>
          <a:prstGeom prst="flowChartInputOutpu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3" name="Google Shape;913;p54"/>
          <p:cNvSpPr/>
          <p:nvPr/>
        </p:nvSpPr>
        <p:spPr>
          <a:xfrm>
            <a:off x="6093672" y="3878069"/>
            <a:ext cx="1223142" cy="349250"/>
          </a:xfrm>
          <a:prstGeom prst="flowChartInputOutpu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4" name="Google Shape;914;p54"/>
          <p:cNvSpPr/>
          <p:nvPr/>
        </p:nvSpPr>
        <p:spPr>
          <a:xfrm>
            <a:off x="6052011" y="4383817"/>
            <a:ext cx="1223142" cy="349250"/>
          </a:xfrm>
          <a:prstGeom prst="flowChartInputOutpu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5" name="Google Shape;915;p54"/>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Drift  Correction</a:t>
            </a:r>
            <a:endParaRPr/>
          </a:p>
        </p:txBody>
      </p:sp>
      <p:sp>
        <p:nvSpPr>
          <p:cNvPr id="916" name="Google Shape;916;p54"/>
          <p:cNvSpPr txBox="1"/>
          <p:nvPr/>
        </p:nvSpPr>
        <p:spPr>
          <a:xfrm>
            <a:off x="5956820" y="5267201"/>
            <a:ext cx="23449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Need to align images</a:t>
            </a:r>
            <a:endParaRPr/>
          </a:p>
        </p:txBody>
      </p:sp>
      <p:sp>
        <p:nvSpPr>
          <p:cNvPr id="917" name="Google Shape;917;p54"/>
          <p:cNvSpPr/>
          <p:nvPr/>
        </p:nvSpPr>
        <p:spPr>
          <a:xfrm>
            <a:off x="7881177" y="2198399"/>
            <a:ext cx="315541" cy="2681492"/>
          </a:xfrm>
          <a:prstGeom prst="rightBrace">
            <a:avLst>
              <a:gd fmla="val 75891" name="adj1"/>
              <a:gd fmla="val 50000" name="adj2"/>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18" name="Google Shape;918;p54"/>
          <p:cNvSpPr txBox="1"/>
          <p:nvPr/>
        </p:nvSpPr>
        <p:spPr>
          <a:xfrm>
            <a:off x="9414342" y="2747809"/>
            <a:ext cx="2390871"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Images are ready to be summed up to optimize brightness and contrast</a:t>
            </a:r>
            <a:endParaRPr/>
          </a:p>
        </p:txBody>
      </p:sp>
      <p:cxnSp>
        <p:nvCxnSpPr>
          <p:cNvPr id="919" name="Google Shape;919;p54"/>
          <p:cNvCxnSpPr/>
          <p:nvPr/>
        </p:nvCxnSpPr>
        <p:spPr>
          <a:xfrm>
            <a:off x="8683648" y="2395254"/>
            <a:ext cx="0" cy="2484637"/>
          </a:xfrm>
          <a:prstGeom prst="straightConnector1">
            <a:avLst/>
          </a:prstGeom>
          <a:noFill/>
          <a:ln cap="flat" cmpd="sng" w="9525">
            <a:solidFill>
              <a:srgbClr val="4A7DBA"/>
            </a:solidFill>
            <a:prstDash val="solid"/>
            <a:round/>
            <a:headEnd len="sm" w="sm" type="none"/>
            <a:tailEnd len="sm" w="sm" type="none"/>
          </a:ln>
        </p:spPr>
      </p:cxnSp>
      <p:cxnSp>
        <p:nvCxnSpPr>
          <p:cNvPr id="920" name="Google Shape;920;p54"/>
          <p:cNvCxnSpPr/>
          <p:nvPr/>
        </p:nvCxnSpPr>
        <p:spPr>
          <a:xfrm>
            <a:off x="7713546" y="2361975"/>
            <a:ext cx="0" cy="2484637"/>
          </a:xfrm>
          <a:prstGeom prst="straightConnector1">
            <a:avLst/>
          </a:prstGeom>
          <a:noFill/>
          <a:ln cap="flat" cmpd="sng" w="9525">
            <a:solidFill>
              <a:srgbClr val="4A7DBA"/>
            </a:solidFill>
            <a:prstDash val="solid"/>
            <a:round/>
            <a:headEnd len="sm" w="sm" type="none"/>
            <a:tailEnd len="sm" w="sm" type="none"/>
          </a:ln>
        </p:spPr>
      </p:cxnSp>
      <p:sp>
        <p:nvSpPr>
          <p:cNvPr id="921" name="Google Shape;921;p54"/>
          <p:cNvSpPr txBox="1"/>
          <p:nvPr/>
        </p:nvSpPr>
        <p:spPr>
          <a:xfrm>
            <a:off x="4617831" y="867619"/>
            <a:ext cx="6842232" cy="120032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Collection of several images from the same area of the sample.</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Each image is obtained with short dwell time to minimize drift; not optimized for brightness and contrast</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The images are then corrected for drift and summed up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55"/>
          <p:cNvSpPr/>
          <p:nvPr/>
        </p:nvSpPr>
        <p:spPr>
          <a:xfrm>
            <a:off x="0" y="0"/>
            <a:ext cx="12192000" cy="6858000"/>
          </a:xfrm>
          <a:prstGeom prst="rect">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7" name="Google Shape;927;p5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56"/>
          <p:cNvSpPr txBox="1"/>
          <p:nvPr>
            <p:ph type="title"/>
          </p:nvPr>
        </p:nvSpPr>
        <p:spPr>
          <a:xfrm>
            <a:off x="1201068" y="154969"/>
            <a:ext cx="9789863" cy="5334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C00000"/>
              </a:buClr>
              <a:buSzPct val="100000"/>
              <a:buFont typeface="Play"/>
              <a:buNone/>
            </a:pPr>
            <a:r>
              <a:rPr lang="en-US" sz="3200"/>
              <a:t>Section 0.1.5 Measurement of Distances in HRTEM Images</a:t>
            </a:r>
            <a:endParaRPr/>
          </a:p>
        </p:txBody>
      </p:sp>
      <p:sp>
        <p:nvSpPr>
          <p:cNvPr id="933" name="Google Shape;933;p56"/>
          <p:cNvSpPr txBox="1"/>
          <p:nvPr>
            <p:ph idx="4294967295" type="sldNum"/>
          </p:nvPr>
        </p:nvSpPr>
        <p:spPr>
          <a:xfrm>
            <a:off x="9347200" y="6383338"/>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34" name="Google Shape;934;p56"/>
          <p:cNvSpPr txBox="1"/>
          <p:nvPr/>
        </p:nvSpPr>
        <p:spPr>
          <a:xfrm>
            <a:off x="371013" y="1037507"/>
            <a:ext cx="5956300" cy="5078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Atomic Resolution Images to measure distances in fraction of nm (pm).</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Interplanar Distances.- </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Crystalline materials could have changes in their structure due to strain, changes in crystal structure.</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It is important to have a well calibrated microscope to accurately measure distances. The microscope is calibrated using a standard sample, such as STEM images of Si or GaN of known interatomic distances, i.e, distance between Si-Si or Ga-Ga dumbells</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Example: in the Si</a:t>
            </a:r>
            <a:r>
              <a:rPr baseline="-25000" lang="en-US" sz="1800">
                <a:solidFill>
                  <a:schemeClr val="dk1"/>
                </a:solidFill>
                <a:latin typeface="Arial"/>
                <a:ea typeface="Arial"/>
                <a:cs typeface="Arial"/>
                <a:sym typeface="Arial"/>
              </a:rPr>
              <a:t>20</a:t>
            </a:r>
            <a:r>
              <a:rPr lang="en-US" sz="1800">
                <a:solidFill>
                  <a:schemeClr val="dk1"/>
                </a:solidFill>
                <a:latin typeface="Arial"/>
                <a:ea typeface="Arial"/>
                <a:cs typeface="Arial"/>
                <a:sym typeface="Arial"/>
              </a:rPr>
              <a:t>Ge</a:t>
            </a:r>
            <a:r>
              <a:rPr baseline="-25000" lang="en-US" sz="1800">
                <a:solidFill>
                  <a:schemeClr val="dk1"/>
                </a:solidFill>
                <a:latin typeface="Arial"/>
                <a:ea typeface="Arial"/>
                <a:cs typeface="Arial"/>
                <a:sym typeface="Arial"/>
              </a:rPr>
              <a:t>80</a:t>
            </a:r>
            <a:r>
              <a:rPr lang="en-US" sz="1800">
                <a:solidFill>
                  <a:schemeClr val="dk1"/>
                </a:solidFill>
                <a:latin typeface="Arial"/>
                <a:ea typeface="Arial"/>
                <a:cs typeface="Arial"/>
                <a:sym typeface="Arial"/>
              </a:rPr>
              <a:t>/Si sample the properties of the device depend on the thickness of the Ge, and Si</a:t>
            </a:r>
            <a:r>
              <a:rPr baseline="-25000" lang="en-US" sz="1800">
                <a:solidFill>
                  <a:schemeClr val="dk1"/>
                </a:solidFill>
                <a:latin typeface="Arial"/>
                <a:ea typeface="Arial"/>
                <a:cs typeface="Arial"/>
                <a:sym typeface="Arial"/>
              </a:rPr>
              <a:t>20</a:t>
            </a:r>
            <a:r>
              <a:rPr lang="en-US" sz="1800">
                <a:solidFill>
                  <a:schemeClr val="dk1"/>
                </a:solidFill>
                <a:latin typeface="Arial"/>
                <a:ea typeface="Arial"/>
                <a:cs typeface="Arial"/>
                <a:sym typeface="Arial"/>
              </a:rPr>
              <a:t>Ge</a:t>
            </a:r>
            <a:r>
              <a:rPr baseline="-25000" lang="en-US" sz="1800">
                <a:solidFill>
                  <a:schemeClr val="dk1"/>
                </a:solidFill>
                <a:latin typeface="Arial"/>
                <a:ea typeface="Arial"/>
                <a:cs typeface="Arial"/>
                <a:sym typeface="Arial"/>
              </a:rPr>
              <a:t>80</a:t>
            </a:r>
            <a:r>
              <a:rPr lang="en-US" sz="1800">
                <a:solidFill>
                  <a:schemeClr val="dk1"/>
                </a:solidFill>
                <a:latin typeface="Arial"/>
                <a:ea typeface="Arial"/>
                <a:cs typeface="Arial"/>
                <a:sym typeface="Arial"/>
              </a:rPr>
              <a:t> layers.  Variations in the thickness of the Ge or SiGe layers affect the properties.</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935" name="Google Shape;935;p56"/>
          <p:cNvGrpSpPr/>
          <p:nvPr/>
        </p:nvGrpSpPr>
        <p:grpSpPr>
          <a:xfrm>
            <a:off x="6783216" y="704296"/>
            <a:ext cx="5127968" cy="4943097"/>
            <a:chOff x="5710875" y="970880"/>
            <a:chExt cx="5127968" cy="4943097"/>
          </a:xfrm>
        </p:grpSpPr>
        <p:pic>
          <p:nvPicPr>
            <p:cNvPr id="936" name="Google Shape;936;p56"/>
            <p:cNvPicPr preferRelativeResize="0"/>
            <p:nvPr/>
          </p:nvPicPr>
          <p:blipFill rotWithShape="1">
            <a:blip r:embed="rId3">
              <a:alphaModFix/>
            </a:blip>
            <a:srcRect b="0" l="0" r="0" t="0"/>
            <a:stretch/>
          </p:blipFill>
          <p:spPr>
            <a:xfrm>
              <a:off x="5710875" y="1359559"/>
              <a:ext cx="2812716" cy="2783917"/>
            </a:xfrm>
            <a:prstGeom prst="rect">
              <a:avLst/>
            </a:prstGeom>
            <a:noFill/>
            <a:ln>
              <a:noFill/>
            </a:ln>
          </p:spPr>
        </p:pic>
        <p:pic>
          <p:nvPicPr>
            <p:cNvPr id="937" name="Google Shape;937;p56"/>
            <p:cNvPicPr preferRelativeResize="0"/>
            <p:nvPr/>
          </p:nvPicPr>
          <p:blipFill rotWithShape="1">
            <a:blip r:embed="rId4">
              <a:alphaModFix/>
            </a:blip>
            <a:srcRect b="0" l="0" r="0" t="0"/>
            <a:stretch/>
          </p:blipFill>
          <p:spPr>
            <a:xfrm>
              <a:off x="6731824" y="2572771"/>
              <a:ext cx="980678" cy="970838"/>
            </a:xfrm>
            <a:prstGeom prst="rect">
              <a:avLst/>
            </a:prstGeom>
            <a:noFill/>
            <a:ln>
              <a:noFill/>
            </a:ln>
          </p:spPr>
        </p:pic>
        <p:pic>
          <p:nvPicPr>
            <p:cNvPr id="938" name="Google Shape;938;p56"/>
            <p:cNvPicPr preferRelativeResize="0"/>
            <p:nvPr/>
          </p:nvPicPr>
          <p:blipFill rotWithShape="1">
            <a:blip r:embed="rId5">
              <a:alphaModFix/>
            </a:blip>
            <a:srcRect b="0" l="0" r="0" t="0"/>
            <a:stretch/>
          </p:blipFill>
          <p:spPr>
            <a:xfrm>
              <a:off x="8581702" y="1598295"/>
              <a:ext cx="1982391" cy="1982391"/>
            </a:xfrm>
            <a:prstGeom prst="rect">
              <a:avLst/>
            </a:prstGeom>
            <a:noFill/>
            <a:ln>
              <a:noFill/>
            </a:ln>
          </p:spPr>
        </p:pic>
        <p:sp>
          <p:nvSpPr>
            <p:cNvPr id="939" name="Google Shape;939;p56"/>
            <p:cNvSpPr txBox="1"/>
            <p:nvPr/>
          </p:nvSpPr>
          <p:spPr>
            <a:xfrm>
              <a:off x="6078530" y="970880"/>
              <a:ext cx="207740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u="sng">
                  <a:solidFill>
                    <a:schemeClr val="dk1"/>
                  </a:solidFill>
                  <a:latin typeface="Arial"/>
                  <a:ea typeface="Arial"/>
                  <a:cs typeface="Arial"/>
                  <a:sym typeface="Arial"/>
                </a:rPr>
                <a:t>HAADF STEM Image</a:t>
              </a:r>
              <a:endParaRPr/>
            </a:p>
          </p:txBody>
        </p:sp>
        <p:sp>
          <p:nvSpPr>
            <p:cNvPr id="940" name="Google Shape;940;p56"/>
            <p:cNvSpPr txBox="1"/>
            <p:nvPr/>
          </p:nvSpPr>
          <p:spPr>
            <a:xfrm>
              <a:off x="9352068" y="4185586"/>
              <a:ext cx="1486775" cy="738664"/>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Ga-Ga dumbbells split by 63 pm</a:t>
              </a:r>
              <a:endParaRPr/>
            </a:p>
          </p:txBody>
        </p:sp>
        <p:sp>
          <p:nvSpPr>
            <p:cNvPr id="941" name="Google Shape;941;p56"/>
            <p:cNvSpPr txBox="1"/>
            <p:nvPr/>
          </p:nvSpPr>
          <p:spPr>
            <a:xfrm>
              <a:off x="8619356" y="1262766"/>
              <a:ext cx="197734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u="sng">
                  <a:solidFill>
                    <a:schemeClr val="dk1"/>
                  </a:solidFill>
                  <a:latin typeface="Arial"/>
                  <a:ea typeface="Arial"/>
                  <a:cs typeface="Arial"/>
                  <a:sym typeface="Arial"/>
                </a:rPr>
                <a:t>FFT</a:t>
              </a:r>
              <a:endParaRPr/>
            </a:p>
          </p:txBody>
        </p:sp>
        <p:sp>
          <p:nvSpPr>
            <p:cNvPr id="942" name="Google Shape;942;p56"/>
            <p:cNvSpPr/>
            <p:nvPr/>
          </p:nvSpPr>
          <p:spPr>
            <a:xfrm>
              <a:off x="6708897" y="2572771"/>
              <a:ext cx="980678" cy="970838"/>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943" name="Google Shape;943;p56"/>
            <p:cNvPicPr preferRelativeResize="0"/>
            <p:nvPr/>
          </p:nvPicPr>
          <p:blipFill rotWithShape="1">
            <a:blip r:embed="rId6">
              <a:alphaModFix/>
            </a:blip>
            <a:srcRect b="0" l="0" r="0" t="0"/>
            <a:stretch/>
          </p:blipFill>
          <p:spPr>
            <a:xfrm>
              <a:off x="7084127" y="3704259"/>
              <a:ext cx="2232115" cy="2209718"/>
            </a:xfrm>
            <a:prstGeom prst="rect">
              <a:avLst/>
            </a:prstGeom>
            <a:noFill/>
            <a:ln cap="flat" cmpd="sng" w="15875">
              <a:solidFill>
                <a:srgbClr val="FF0000"/>
              </a:solidFill>
              <a:prstDash val="solid"/>
              <a:round/>
              <a:headEnd len="sm" w="sm" type="none"/>
              <a:tailEnd len="sm" w="sm" type="none"/>
            </a:ln>
          </p:spPr>
        </p:pic>
      </p:grpSp>
      <p:sp>
        <p:nvSpPr>
          <p:cNvPr id="944" name="Google Shape;944;p56"/>
          <p:cNvSpPr txBox="1"/>
          <p:nvPr/>
        </p:nvSpPr>
        <p:spPr>
          <a:xfrm>
            <a:off x="8148867" y="5808043"/>
            <a:ext cx="276564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From JEOL</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57"/>
          <p:cNvSpPr/>
          <p:nvPr/>
        </p:nvSpPr>
        <p:spPr>
          <a:xfrm>
            <a:off x="0" y="0"/>
            <a:ext cx="12192000" cy="6858000"/>
          </a:xfrm>
          <a:prstGeom prst="rect">
            <a:avLst/>
          </a:prstGeom>
          <a:solidFill>
            <a:schemeClr val="dk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50" name="Google Shape;950;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58"/>
          <p:cNvSpPr txBox="1"/>
          <p:nvPr>
            <p:ph type="title"/>
          </p:nvPr>
        </p:nvSpPr>
        <p:spPr>
          <a:xfrm>
            <a:off x="1130300" y="86742"/>
            <a:ext cx="10442787" cy="5334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C00000"/>
              </a:buClr>
              <a:buSzPct val="100000"/>
              <a:buFont typeface="Play"/>
              <a:buNone/>
            </a:pPr>
            <a:r>
              <a:rPr lang="en-US">
                <a:solidFill>
                  <a:srgbClr val="C00000"/>
                </a:solidFill>
              </a:rPr>
              <a:t>Section 0.1.6 FFT Analysis</a:t>
            </a:r>
            <a:endParaRPr/>
          </a:p>
        </p:txBody>
      </p:sp>
      <p:sp>
        <p:nvSpPr>
          <p:cNvPr id="956" name="Google Shape;956;p58"/>
          <p:cNvSpPr txBox="1"/>
          <p:nvPr>
            <p:ph idx="4294967295" type="sldNum"/>
          </p:nvPr>
        </p:nvSpPr>
        <p:spPr>
          <a:xfrm>
            <a:off x="9347200" y="6383338"/>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A cluster of stars in a black sky&#10;&#10;AI-generated content may be incorrect." id="957" name="Google Shape;957;p58"/>
          <p:cNvPicPr preferRelativeResize="0"/>
          <p:nvPr/>
        </p:nvPicPr>
        <p:blipFill rotWithShape="1">
          <a:blip r:embed="rId3">
            <a:alphaModFix/>
          </a:blip>
          <a:srcRect b="19378" l="17540" r="19177" t="17204"/>
          <a:stretch/>
        </p:blipFill>
        <p:spPr>
          <a:xfrm>
            <a:off x="8812883" y="743976"/>
            <a:ext cx="2367808" cy="2372953"/>
          </a:xfrm>
          <a:prstGeom prst="rect">
            <a:avLst/>
          </a:prstGeom>
          <a:noFill/>
          <a:ln>
            <a:noFill/>
          </a:ln>
        </p:spPr>
      </p:pic>
      <p:pic>
        <p:nvPicPr>
          <p:cNvPr descr="A close-up of a grey fabric&#10;&#10;AI-generated content may be incorrect." id="958" name="Google Shape;958;p58"/>
          <p:cNvPicPr preferRelativeResize="0"/>
          <p:nvPr/>
        </p:nvPicPr>
        <p:blipFill rotWithShape="1">
          <a:blip r:embed="rId4">
            <a:alphaModFix/>
          </a:blip>
          <a:srcRect b="0" l="0" r="0" t="0"/>
          <a:stretch/>
        </p:blipFill>
        <p:spPr>
          <a:xfrm>
            <a:off x="1257239" y="1003375"/>
            <a:ext cx="7164555" cy="4762070"/>
          </a:xfrm>
          <a:prstGeom prst="rect">
            <a:avLst/>
          </a:prstGeom>
          <a:noFill/>
          <a:ln>
            <a:noFill/>
          </a:ln>
        </p:spPr>
      </p:pic>
      <p:pic>
        <p:nvPicPr>
          <p:cNvPr descr="A group of white dots in the sky&#10;&#10;AI-generated content may be incorrect." id="959" name="Google Shape;959;p58"/>
          <p:cNvPicPr preferRelativeResize="0"/>
          <p:nvPr/>
        </p:nvPicPr>
        <p:blipFill rotWithShape="1">
          <a:blip r:embed="rId5">
            <a:alphaModFix/>
          </a:blip>
          <a:srcRect b="17457" l="18635" r="15573" t="16610"/>
          <a:stretch/>
        </p:blipFill>
        <p:spPr>
          <a:xfrm>
            <a:off x="8812883" y="3569766"/>
            <a:ext cx="2367808" cy="2372952"/>
          </a:xfrm>
          <a:prstGeom prst="rect">
            <a:avLst/>
          </a:prstGeom>
          <a:noFill/>
          <a:ln>
            <a:noFill/>
          </a:ln>
        </p:spPr>
      </p:pic>
      <p:sp>
        <p:nvSpPr>
          <p:cNvPr id="960" name="Google Shape;960;p58"/>
          <p:cNvSpPr txBox="1"/>
          <p:nvPr/>
        </p:nvSpPr>
        <p:spPr>
          <a:xfrm>
            <a:off x="8853904" y="3141100"/>
            <a:ext cx="24963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FFT from red box</a:t>
            </a:r>
            <a:endParaRPr/>
          </a:p>
        </p:txBody>
      </p:sp>
      <p:sp>
        <p:nvSpPr>
          <p:cNvPr id="961" name="Google Shape;961;p58"/>
          <p:cNvSpPr txBox="1"/>
          <p:nvPr/>
        </p:nvSpPr>
        <p:spPr>
          <a:xfrm>
            <a:off x="9092205" y="5950831"/>
            <a:ext cx="26489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Masked FFT</a:t>
            </a:r>
            <a:endParaRPr/>
          </a:p>
        </p:txBody>
      </p:sp>
      <p:sp>
        <p:nvSpPr>
          <p:cNvPr id="962" name="Google Shape;962;p58"/>
          <p:cNvSpPr txBox="1"/>
          <p:nvPr/>
        </p:nvSpPr>
        <p:spPr>
          <a:xfrm>
            <a:off x="342900" y="1794281"/>
            <a:ext cx="787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InAs</a:t>
            </a:r>
            <a:endParaRPr sz="1800">
              <a:solidFill>
                <a:schemeClr val="dk1"/>
              </a:solidFill>
              <a:latin typeface="Arial"/>
              <a:ea typeface="Arial"/>
              <a:cs typeface="Arial"/>
              <a:sym typeface="Arial"/>
            </a:endParaRPr>
          </a:p>
        </p:txBody>
      </p:sp>
      <p:sp>
        <p:nvSpPr>
          <p:cNvPr id="963" name="Google Shape;963;p58"/>
          <p:cNvSpPr txBox="1"/>
          <p:nvPr/>
        </p:nvSpPr>
        <p:spPr>
          <a:xfrm>
            <a:off x="342900" y="3486731"/>
            <a:ext cx="787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InP</a:t>
            </a:r>
            <a:endParaRPr sz="1800">
              <a:solidFill>
                <a:schemeClr val="dk1"/>
              </a:solidFill>
              <a:latin typeface="Arial"/>
              <a:ea typeface="Arial"/>
              <a:cs typeface="Arial"/>
              <a:sym typeface="Arial"/>
            </a:endParaRPr>
          </a:p>
        </p:txBody>
      </p:sp>
      <p:pic>
        <p:nvPicPr>
          <p:cNvPr descr="A black and white image of a star&#10;&#10;AI-generated content may be incorrect." id="964" name="Google Shape;964;p58"/>
          <p:cNvPicPr preferRelativeResize="0"/>
          <p:nvPr/>
        </p:nvPicPr>
        <p:blipFill rotWithShape="1">
          <a:blip r:embed="rId6">
            <a:alphaModFix/>
          </a:blip>
          <a:srcRect b="0" l="0" r="0" t="0"/>
          <a:stretch/>
        </p:blipFill>
        <p:spPr>
          <a:xfrm>
            <a:off x="5864044" y="4202996"/>
            <a:ext cx="2536396" cy="1685868"/>
          </a:xfrm>
          <a:prstGeom prst="rect">
            <a:avLst/>
          </a:prstGeom>
          <a:noFill/>
          <a:ln>
            <a:noFill/>
          </a:ln>
        </p:spPr>
      </p:pic>
      <p:pic>
        <p:nvPicPr>
          <p:cNvPr descr="A group of stars in a black background&#10;&#10;AI-generated content may be incorrect." id="965" name="Google Shape;965;p58"/>
          <p:cNvPicPr preferRelativeResize="0"/>
          <p:nvPr/>
        </p:nvPicPr>
        <p:blipFill rotWithShape="1">
          <a:blip r:embed="rId7">
            <a:alphaModFix/>
          </a:blip>
          <a:srcRect b="0" l="0" r="0" t="0"/>
          <a:stretch/>
        </p:blipFill>
        <p:spPr>
          <a:xfrm>
            <a:off x="5842690" y="4202996"/>
            <a:ext cx="2536396" cy="168586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pic>
        <p:nvPicPr>
          <p:cNvPr descr="A close-up of a black and white striped surface&#10;&#10;AI-generated content may be incorrect." id="970" name="Google Shape;970;p59"/>
          <p:cNvPicPr preferRelativeResize="0"/>
          <p:nvPr/>
        </p:nvPicPr>
        <p:blipFill rotWithShape="1">
          <a:blip r:embed="rId3">
            <a:alphaModFix/>
          </a:blip>
          <a:srcRect b="0" l="0" r="0" t="0"/>
          <a:stretch/>
        </p:blipFill>
        <p:spPr>
          <a:xfrm>
            <a:off x="563193" y="971840"/>
            <a:ext cx="5259796" cy="5259796"/>
          </a:xfrm>
          <a:prstGeom prst="rect">
            <a:avLst/>
          </a:prstGeom>
          <a:noFill/>
          <a:ln>
            <a:noFill/>
          </a:ln>
        </p:spPr>
      </p:pic>
      <p:pic>
        <p:nvPicPr>
          <p:cNvPr descr="A close-up of a grey and white background&#10;&#10;AI-generated content may be incorrect." id="971" name="Google Shape;971;p59"/>
          <p:cNvPicPr preferRelativeResize="0"/>
          <p:nvPr/>
        </p:nvPicPr>
        <p:blipFill rotWithShape="1">
          <a:blip r:embed="rId4">
            <a:alphaModFix/>
          </a:blip>
          <a:srcRect b="0" l="0" r="0" t="0"/>
          <a:stretch/>
        </p:blipFill>
        <p:spPr>
          <a:xfrm>
            <a:off x="6205870" y="971841"/>
            <a:ext cx="5259795" cy="5259795"/>
          </a:xfrm>
          <a:prstGeom prst="rect">
            <a:avLst/>
          </a:prstGeom>
          <a:noFill/>
          <a:ln>
            <a:noFill/>
          </a:ln>
        </p:spPr>
      </p:pic>
      <p:grpSp>
        <p:nvGrpSpPr>
          <p:cNvPr id="972" name="Google Shape;972;p59"/>
          <p:cNvGrpSpPr/>
          <p:nvPr/>
        </p:nvGrpSpPr>
        <p:grpSpPr>
          <a:xfrm>
            <a:off x="1042115" y="1961009"/>
            <a:ext cx="9508390" cy="1506236"/>
            <a:chOff x="1042115" y="2263561"/>
            <a:chExt cx="9508390" cy="1506236"/>
          </a:xfrm>
        </p:grpSpPr>
        <p:sp>
          <p:nvSpPr>
            <p:cNvPr id="973" name="Google Shape;973;p59"/>
            <p:cNvSpPr/>
            <p:nvPr/>
          </p:nvSpPr>
          <p:spPr>
            <a:xfrm>
              <a:off x="1042115" y="2692712"/>
              <a:ext cx="1043426" cy="1077085"/>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4" name="Google Shape;974;p59"/>
            <p:cNvSpPr/>
            <p:nvPr/>
          </p:nvSpPr>
          <p:spPr>
            <a:xfrm>
              <a:off x="4057516" y="2351915"/>
              <a:ext cx="1043426" cy="1077085"/>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5" name="Google Shape;975;p59"/>
            <p:cNvSpPr/>
            <p:nvPr/>
          </p:nvSpPr>
          <p:spPr>
            <a:xfrm>
              <a:off x="6527332" y="2587996"/>
              <a:ext cx="1043426" cy="1077085"/>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6" name="Google Shape;976;p59"/>
            <p:cNvSpPr/>
            <p:nvPr/>
          </p:nvSpPr>
          <p:spPr>
            <a:xfrm>
              <a:off x="9507079" y="2263561"/>
              <a:ext cx="1043426" cy="1077085"/>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977" name="Google Shape;977;p59"/>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Inverse FFT  (IFFT) Ba(Sr) TiO</a:t>
            </a:r>
            <a:r>
              <a:rPr baseline="-25000" lang="en-US"/>
              <a:t>3 </a:t>
            </a:r>
            <a:r>
              <a:rPr lang="en-US"/>
              <a:t> Misfit Dislocations</a:t>
            </a:r>
            <a:endParaRPr/>
          </a:p>
        </p:txBody>
      </p:sp>
      <p:pic>
        <p:nvPicPr>
          <p:cNvPr descr="A group of white dots in the sky&#10;&#10;AI-generated content may be incorrect." id="978" name="Google Shape;978;p59"/>
          <p:cNvPicPr preferRelativeResize="0"/>
          <p:nvPr/>
        </p:nvPicPr>
        <p:blipFill rotWithShape="1">
          <a:blip r:embed="rId5">
            <a:alphaModFix/>
          </a:blip>
          <a:srcRect b="17457" l="18635" r="15573" t="16610"/>
          <a:stretch/>
        </p:blipFill>
        <p:spPr>
          <a:xfrm>
            <a:off x="180312" y="4247018"/>
            <a:ext cx="1980316" cy="1984618"/>
          </a:xfrm>
          <a:prstGeom prst="rect">
            <a:avLst/>
          </a:prstGeom>
          <a:noFill/>
          <a:ln>
            <a:noFill/>
          </a:ln>
        </p:spPr>
      </p:pic>
      <p:pic>
        <p:nvPicPr>
          <p:cNvPr descr="A group of white dots in the sky&#10;&#10;AI-generated content may be incorrect." id="979" name="Google Shape;979;p59"/>
          <p:cNvPicPr preferRelativeResize="0"/>
          <p:nvPr/>
        </p:nvPicPr>
        <p:blipFill rotWithShape="1">
          <a:blip r:embed="rId5">
            <a:alphaModFix/>
          </a:blip>
          <a:srcRect b="17457" l="18635" r="15573" t="16610"/>
          <a:stretch/>
        </p:blipFill>
        <p:spPr>
          <a:xfrm rot="5400000">
            <a:off x="9738147" y="4244867"/>
            <a:ext cx="1980316" cy="1984618"/>
          </a:xfrm>
          <a:prstGeom prst="rect">
            <a:avLst/>
          </a:prstGeom>
          <a:noFill/>
          <a:ln>
            <a:noFill/>
          </a:ln>
        </p:spPr>
      </p:pic>
      <p:sp>
        <p:nvSpPr>
          <p:cNvPr id="980" name="Google Shape;980;p59"/>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60"/>
          <p:cNvSpPr txBox="1"/>
          <p:nvPr>
            <p:ph type="title"/>
          </p:nvPr>
        </p:nvSpPr>
        <p:spPr>
          <a:xfrm>
            <a:off x="768349" y="152400"/>
            <a:ext cx="10972800" cy="533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IFFT to Enhance Contrast Filter out noise</a:t>
            </a:r>
            <a:endParaRPr/>
          </a:p>
        </p:txBody>
      </p:sp>
      <p:pic>
        <p:nvPicPr>
          <p:cNvPr descr="A black and white circle with stars&#10;&#10;AI-generated content may be incorrect." id="986" name="Google Shape;986;p60"/>
          <p:cNvPicPr preferRelativeResize="0"/>
          <p:nvPr/>
        </p:nvPicPr>
        <p:blipFill rotWithShape="1">
          <a:blip r:embed="rId3">
            <a:alphaModFix/>
          </a:blip>
          <a:srcRect b="0" l="0" r="0" t="0"/>
          <a:stretch/>
        </p:blipFill>
        <p:spPr>
          <a:xfrm>
            <a:off x="8177686" y="1543114"/>
            <a:ext cx="2635250" cy="2635250"/>
          </a:xfrm>
          <a:prstGeom prst="rect">
            <a:avLst/>
          </a:prstGeom>
          <a:noFill/>
          <a:ln>
            <a:noFill/>
          </a:ln>
        </p:spPr>
      </p:pic>
      <p:pic>
        <p:nvPicPr>
          <p:cNvPr descr="A close-up of a grey fabric&#10;&#10;AI-generated content may be incorrect." id="987" name="Google Shape;987;p60"/>
          <p:cNvPicPr preferRelativeResize="0"/>
          <p:nvPr/>
        </p:nvPicPr>
        <p:blipFill rotWithShape="1">
          <a:blip r:embed="rId4">
            <a:alphaModFix/>
          </a:blip>
          <a:srcRect b="0" l="0" r="0" t="0"/>
          <a:stretch/>
        </p:blipFill>
        <p:spPr>
          <a:xfrm>
            <a:off x="1983980" y="1010955"/>
            <a:ext cx="5441950" cy="5441950"/>
          </a:xfrm>
          <a:prstGeom prst="rect">
            <a:avLst/>
          </a:prstGeom>
          <a:noFill/>
          <a:ln>
            <a:noFill/>
          </a:ln>
        </p:spPr>
      </p:pic>
      <p:sp>
        <p:nvSpPr>
          <p:cNvPr id="988" name="Google Shape;988;p60"/>
          <p:cNvSpPr txBox="1"/>
          <p:nvPr/>
        </p:nvSpPr>
        <p:spPr>
          <a:xfrm>
            <a:off x="8803493" y="4282911"/>
            <a:ext cx="155821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Annular filter</a:t>
            </a:r>
            <a:endParaRPr/>
          </a:p>
        </p:txBody>
      </p:sp>
      <p:sp>
        <p:nvSpPr>
          <p:cNvPr id="989" name="Google Shape;989;p60"/>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61"/>
          <p:cNvSpPr txBox="1"/>
          <p:nvPr>
            <p:ph type="title"/>
          </p:nvPr>
        </p:nvSpPr>
        <p:spPr>
          <a:xfrm>
            <a:off x="768349" y="152400"/>
            <a:ext cx="10972800" cy="533400"/>
          </a:xfrm>
          <a:prstGeom prst="rect">
            <a:avLst/>
          </a:prstGeom>
          <a:noFill/>
          <a:ln>
            <a:noFill/>
          </a:ln>
        </p:spPr>
        <p:txBody>
          <a:bodyPr anchorCtr="0" anchor="ctr" bIns="0" lIns="0" spcFirstLastPara="1" rIns="0" wrap="square" tIns="11500">
            <a:spAutoFit/>
          </a:bodyPr>
          <a:lstStyle/>
          <a:p>
            <a:pPr indent="0" lvl="0" marL="23033" rtl="0" algn="ctr">
              <a:lnSpc>
                <a:spcPct val="100000"/>
              </a:lnSpc>
              <a:spcBef>
                <a:spcPts val="0"/>
              </a:spcBef>
              <a:spcAft>
                <a:spcPts val="0"/>
              </a:spcAft>
              <a:buNone/>
            </a:pPr>
            <a:r>
              <a:rPr b="1" lang="en-US" sz="3200">
                <a:solidFill>
                  <a:srgbClr val="C00000"/>
                </a:solidFill>
              </a:rPr>
              <a:t> Electron Beam-induced Crystallization Ga</a:t>
            </a:r>
            <a:r>
              <a:rPr b="1" baseline="-25000" lang="en-US" sz="3200">
                <a:solidFill>
                  <a:srgbClr val="C00000"/>
                </a:solidFill>
              </a:rPr>
              <a:t>2</a:t>
            </a:r>
            <a:r>
              <a:rPr b="1" lang="en-US" sz="3200">
                <a:solidFill>
                  <a:srgbClr val="C00000"/>
                </a:solidFill>
              </a:rPr>
              <a:t>O</a:t>
            </a:r>
            <a:r>
              <a:rPr b="1" baseline="-25000" lang="en-US" sz="3200">
                <a:solidFill>
                  <a:srgbClr val="C00000"/>
                </a:solidFill>
              </a:rPr>
              <a:t>3</a:t>
            </a:r>
            <a:r>
              <a:rPr b="1" lang="en-US" sz="3200">
                <a:solidFill>
                  <a:srgbClr val="C00000"/>
                </a:solidFill>
              </a:rPr>
              <a:t>/Al</a:t>
            </a:r>
            <a:r>
              <a:rPr b="1" baseline="-25000" lang="en-US" sz="3200">
                <a:solidFill>
                  <a:srgbClr val="C00000"/>
                </a:solidFill>
              </a:rPr>
              <a:t>2</a:t>
            </a:r>
            <a:r>
              <a:rPr b="1" lang="en-US" sz="3200">
                <a:solidFill>
                  <a:srgbClr val="C00000"/>
                </a:solidFill>
              </a:rPr>
              <a:t>O</a:t>
            </a:r>
            <a:r>
              <a:rPr b="1" baseline="-25000" lang="en-US" sz="3200">
                <a:solidFill>
                  <a:srgbClr val="C00000"/>
                </a:solidFill>
              </a:rPr>
              <a:t>3</a:t>
            </a:r>
            <a:endParaRPr b="1" sz="3200">
              <a:solidFill>
                <a:srgbClr val="C00000"/>
              </a:solidFill>
            </a:endParaRPr>
          </a:p>
        </p:txBody>
      </p:sp>
      <p:sp>
        <p:nvSpPr>
          <p:cNvPr id="995" name="Google Shape;995;p61"/>
          <p:cNvSpPr txBox="1"/>
          <p:nvPr/>
        </p:nvSpPr>
        <p:spPr>
          <a:xfrm>
            <a:off x="5884437" y="4007816"/>
            <a:ext cx="4686012" cy="1527879"/>
          </a:xfrm>
          <a:prstGeom prst="rect">
            <a:avLst/>
          </a:prstGeom>
          <a:noFill/>
          <a:ln>
            <a:noFill/>
          </a:ln>
        </p:spPr>
        <p:txBody>
          <a:bodyPr anchorCtr="0" anchor="t" bIns="0" lIns="0" spcFirstLastPara="1" rIns="0" wrap="square" tIns="79450">
            <a:spAutoFit/>
          </a:bodyPr>
          <a:lstStyle/>
          <a:p>
            <a:pPr indent="0" lvl="0" marL="34549" marR="0" rtl="0" algn="l">
              <a:spcBef>
                <a:spcPts val="0"/>
              </a:spcBef>
              <a:spcAft>
                <a:spcPts val="0"/>
              </a:spcAft>
              <a:buNone/>
            </a:pPr>
            <a:r>
              <a:rPr lang="en-US" sz="1632">
                <a:solidFill>
                  <a:schemeClr val="dk1"/>
                </a:solidFill>
                <a:latin typeface="Arial"/>
                <a:ea typeface="Arial"/>
                <a:cs typeface="Arial"/>
                <a:sym typeface="Arial"/>
              </a:rPr>
              <a:t>Al</a:t>
            </a:r>
            <a:r>
              <a:rPr baseline="-25000" lang="en-US" sz="1428">
                <a:solidFill>
                  <a:schemeClr val="dk1"/>
                </a:solidFill>
                <a:latin typeface="Arial"/>
                <a:ea typeface="Arial"/>
                <a:cs typeface="Arial"/>
                <a:sym typeface="Arial"/>
              </a:rPr>
              <a:t>2</a:t>
            </a:r>
            <a:r>
              <a:rPr lang="en-US" sz="1632">
                <a:solidFill>
                  <a:schemeClr val="dk1"/>
                </a:solidFill>
                <a:latin typeface="Arial"/>
                <a:ea typeface="Arial"/>
                <a:cs typeface="Arial"/>
                <a:sym typeface="Arial"/>
              </a:rPr>
              <a:t>O</a:t>
            </a:r>
            <a:r>
              <a:rPr baseline="-25000" lang="en-US" sz="1428">
                <a:solidFill>
                  <a:schemeClr val="dk1"/>
                </a:solidFill>
                <a:latin typeface="Arial"/>
                <a:ea typeface="Arial"/>
                <a:cs typeface="Arial"/>
                <a:sym typeface="Arial"/>
              </a:rPr>
              <a:t>3 </a:t>
            </a:r>
            <a:r>
              <a:rPr lang="en-US" sz="1632">
                <a:solidFill>
                  <a:schemeClr val="dk1"/>
                </a:solidFill>
                <a:latin typeface="Arial"/>
                <a:ea typeface="Arial"/>
                <a:cs typeface="Arial"/>
                <a:sym typeface="Arial"/>
              </a:rPr>
              <a:t>layers crystallized fully after several seconds</a:t>
            </a:r>
            <a:endParaRPr sz="1632">
              <a:solidFill>
                <a:schemeClr val="dk1"/>
              </a:solidFill>
              <a:latin typeface="Arial"/>
              <a:ea typeface="Arial"/>
              <a:cs typeface="Arial"/>
              <a:sym typeface="Arial"/>
            </a:endParaRPr>
          </a:p>
          <a:p>
            <a:pPr indent="0" lvl="0" marL="34549" marR="325337" rtl="0" algn="l">
              <a:lnSpc>
                <a:spcPct val="107000"/>
              </a:lnSpc>
              <a:spcBef>
                <a:spcPts val="394"/>
              </a:spcBef>
              <a:spcAft>
                <a:spcPts val="0"/>
              </a:spcAft>
              <a:buNone/>
            </a:pPr>
            <a:r>
              <a:rPr lang="en-US" sz="1632">
                <a:solidFill>
                  <a:schemeClr val="dk1"/>
                </a:solidFill>
                <a:latin typeface="Arial"/>
                <a:ea typeface="Arial"/>
                <a:cs typeface="Arial"/>
                <a:sym typeface="Arial"/>
              </a:rPr>
              <a:t>of TEM beam exposure, outward from interface  (not from the Al contact, or homogeneously)</a:t>
            </a:r>
            <a:endParaRPr sz="1632">
              <a:solidFill>
                <a:schemeClr val="dk1"/>
              </a:solidFill>
              <a:latin typeface="Arial"/>
              <a:ea typeface="Arial"/>
              <a:cs typeface="Arial"/>
              <a:sym typeface="Arial"/>
            </a:endParaRPr>
          </a:p>
          <a:p>
            <a:pPr indent="0" lvl="0" marL="34549" marR="244723" rtl="0" algn="l">
              <a:lnSpc>
                <a:spcPct val="106800"/>
              </a:lnSpc>
              <a:spcBef>
                <a:spcPts val="666"/>
              </a:spcBef>
              <a:spcAft>
                <a:spcPts val="0"/>
              </a:spcAft>
              <a:buNone/>
            </a:pPr>
            <a:r>
              <a:rPr lang="en-US" sz="1632">
                <a:solidFill>
                  <a:schemeClr val="dk1"/>
                </a:solidFill>
                <a:latin typeface="Arial"/>
                <a:ea typeface="Arial"/>
                <a:cs typeface="Arial"/>
                <a:sym typeface="Arial"/>
              </a:rPr>
              <a:t>Each of 3 samples showed the same qualitative  effect, including one already annealed at 500 °C</a:t>
            </a:r>
            <a:endParaRPr/>
          </a:p>
        </p:txBody>
      </p:sp>
      <p:sp>
        <p:nvSpPr>
          <p:cNvPr id="996" name="Google Shape;996;p61"/>
          <p:cNvSpPr/>
          <p:nvPr/>
        </p:nvSpPr>
        <p:spPr>
          <a:xfrm>
            <a:off x="852557" y="6230057"/>
            <a:ext cx="5291878"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C. Klingshirn, L. Salamanca-Riba et. al., Micron 140 (2021) 102954</a:t>
            </a:r>
            <a:r>
              <a:rPr lang="en-US" sz="1270">
                <a:solidFill>
                  <a:schemeClr val="dk1"/>
                </a:solidFill>
                <a:latin typeface="Calibri"/>
                <a:ea typeface="Calibri"/>
                <a:cs typeface="Calibri"/>
                <a:sym typeface="Calibri"/>
              </a:rPr>
              <a:t>.</a:t>
            </a:r>
            <a:endParaRPr/>
          </a:p>
        </p:txBody>
      </p:sp>
      <p:pic>
        <p:nvPicPr>
          <p:cNvPr id="997" name="Google Shape;997;p61"/>
          <p:cNvPicPr preferRelativeResize="0"/>
          <p:nvPr/>
        </p:nvPicPr>
        <p:blipFill rotWithShape="1">
          <a:blip r:embed="rId3">
            <a:alphaModFix/>
          </a:blip>
          <a:srcRect b="0" l="0" r="0" t="0"/>
          <a:stretch/>
        </p:blipFill>
        <p:spPr>
          <a:xfrm>
            <a:off x="1066948" y="804137"/>
            <a:ext cx="10058103" cy="5249726"/>
          </a:xfrm>
          <a:prstGeom prst="rect">
            <a:avLst/>
          </a:prstGeom>
          <a:noFill/>
          <a:ln>
            <a:noFill/>
          </a:ln>
        </p:spPr>
      </p:pic>
      <p:sp>
        <p:nvSpPr>
          <p:cNvPr id="998" name="Google Shape;998;p61"/>
          <p:cNvSpPr txBox="1"/>
          <p:nvPr>
            <p:ph idx="12" type="sldNum"/>
          </p:nvPr>
        </p:nvSpPr>
        <p:spPr>
          <a:xfrm>
            <a:off x="8896349" y="6383946"/>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62"/>
          <p:cNvSpPr/>
          <p:nvPr/>
        </p:nvSpPr>
        <p:spPr>
          <a:xfrm>
            <a:off x="0" y="0"/>
            <a:ext cx="12192000" cy="6858000"/>
          </a:xfrm>
          <a:prstGeom prst="rect">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04" name="Google Shape;1004;p6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63"/>
          <p:cNvSpPr txBox="1"/>
          <p:nvPr>
            <p:ph type="title"/>
          </p:nvPr>
        </p:nvSpPr>
        <p:spPr>
          <a:xfrm>
            <a:off x="1136338" y="2000298"/>
            <a:ext cx="9786012" cy="304466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C00000"/>
              </a:buClr>
              <a:buSzPts val="4000"/>
              <a:buFont typeface="Play"/>
              <a:buNone/>
            </a:pPr>
            <a:r>
              <a:rPr lang="en-US"/>
              <a:t>Thank you for participating in the workshop</a:t>
            </a:r>
            <a:br>
              <a:rPr lang="en-US"/>
            </a:br>
            <a:br>
              <a:rPr lang="en-US"/>
            </a:br>
            <a:br>
              <a:rPr lang="en-US"/>
            </a:br>
            <a:r>
              <a:rPr lang="en-US"/>
              <a:t>Questions?</a:t>
            </a:r>
            <a:endParaRPr/>
          </a:p>
        </p:txBody>
      </p:sp>
      <p:sp>
        <p:nvSpPr>
          <p:cNvPr id="1010" name="Google Shape;1010;p63"/>
          <p:cNvSpPr txBox="1"/>
          <p:nvPr>
            <p:ph idx="4294967295" type="sldNum"/>
          </p:nvPr>
        </p:nvSpPr>
        <p:spPr>
          <a:xfrm>
            <a:off x="9347200" y="635635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